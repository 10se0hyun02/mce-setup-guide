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54" r:id="rId2"/>
    <p:sldId id="2147471734" r:id="rId3"/>
    <p:sldId id="458" r:id="rId4"/>
    <p:sldId id="455" r:id="rId5"/>
    <p:sldId id="457" r:id="rId6"/>
    <p:sldId id="459" r:id="rId7"/>
    <p:sldId id="460" r:id="rId8"/>
    <p:sldId id="28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1" userDrawn="1">
          <p15:clr>
            <a:srgbClr val="A4A3A4"/>
          </p15:clr>
        </p15:guide>
        <p15:guide id="3" orient="horz" pos="913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463D"/>
    <a:srgbClr val="D86ECC"/>
    <a:srgbClr val="009DDD"/>
    <a:srgbClr val="0072BC"/>
    <a:srgbClr val="FFD401"/>
    <a:srgbClr val="2772BD"/>
    <a:srgbClr val="BFBFB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1" autoAdjust="0"/>
    <p:restoredTop sz="95090" autoAdjust="0"/>
  </p:normalViewPr>
  <p:slideViewPr>
    <p:cSldViewPr snapToGrid="0" showGuides="1">
      <p:cViewPr varScale="1">
        <p:scale>
          <a:sx n="93" d="100"/>
          <a:sy n="93" d="100"/>
        </p:scale>
        <p:origin x="270" y="96"/>
      </p:cViewPr>
      <p:guideLst>
        <p:guide pos="211"/>
        <p:guide orient="horz" pos="913"/>
        <p:guide pos="7469"/>
        <p:guide orient="horz" pos="397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6B753-053D-5449-9810-F50E561B6C5D}" type="datetimeFigureOut">
              <a:rPr kumimoji="1" lang="ko-KR" altLang="en-US" smtClean="0"/>
              <a:t>2026-10-15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8BCD-17F2-DB41-BDB0-79A8E18BD7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32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>
          <a:extLst>
            <a:ext uri="{FF2B5EF4-FFF2-40B4-BE49-F238E27FC236}">
              <a16:creationId xmlns:a16="http://schemas.microsoft.com/office/drawing/2014/main" id="{46760F2D-9BAE-5A64-D696-F8579774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c1dda9112e_0_23:notes">
            <a:extLst>
              <a:ext uri="{FF2B5EF4-FFF2-40B4-BE49-F238E27FC236}">
                <a16:creationId xmlns:a16="http://schemas.microsoft.com/office/drawing/2014/main" id="{1C16B438-C655-30D8-A6B7-47FEBCE52F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c1dda9112e_0_23:notes">
            <a:extLst>
              <a:ext uri="{FF2B5EF4-FFF2-40B4-BE49-F238E27FC236}">
                <a16:creationId xmlns:a16="http://schemas.microsoft.com/office/drawing/2014/main" id="{7BA9FAE9-A460-6BC6-B235-75999355D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7987" y="4415789"/>
            <a:ext cx="6194400" cy="41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0546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88BCD-17F2-DB41-BDB0-79A8E18BD7DB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3826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88BCD-17F2-DB41-BDB0-79A8E18BD7DB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158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6b420ab460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6b420ab460_0_116:notes"/>
          <p:cNvSpPr txBox="1">
            <a:spLocks noGrp="1"/>
          </p:cNvSpPr>
          <p:nvPr>
            <p:ph type="body" idx="1"/>
          </p:nvPr>
        </p:nvSpPr>
        <p:spPr>
          <a:xfrm>
            <a:off x="407987" y="4415789"/>
            <a:ext cx="6194400" cy="41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5 - Graphic Footer - 3 Column" userDrawn="1">
  <p:cSld name="B5 - Graphic Footer - 3 Column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9"/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673"/>
          <a:stretch/>
        </p:blipFill>
        <p:spPr>
          <a:xfrm>
            <a:off x="10716123" y="5634948"/>
            <a:ext cx="1476000" cy="12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9"/>
          <p:cNvSpPr txBox="1">
            <a:spLocks noGrp="1"/>
          </p:cNvSpPr>
          <p:nvPr>
            <p:ph type="body" idx="1"/>
          </p:nvPr>
        </p:nvSpPr>
        <p:spPr>
          <a:xfrm>
            <a:off x="8031233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2"/>
          </p:nvPr>
        </p:nvSpPr>
        <p:spPr>
          <a:xfrm>
            <a:off x="4258312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6" name="Google Shape;686;p69"/>
          <p:cNvSpPr txBox="1">
            <a:spLocks noGrp="1"/>
          </p:cNvSpPr>
          <p:nvPr>
            <p:ph type="body" idx="3"/>
          </p:nvPr>
        </p:nvSpPr>
        <p:spPr>
          <a:xfrm>
            <a:off x="485391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pic>
        <p:nvPicPr>
          <p:cNvPr id="687" name="Google Shape;687;p69" descr="pasted-image.pdf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6078" y="580990"/>
            <a:ext cx="525274" cy="367664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9"/>
          <p:cNvSpPr txBox="1">
            <a:spLocks noGrp="1"/>
          </p:cNvSpPr>
          <p:nvPr>
            <p:ph type="subTitle" idx="5"/>
          </p:nvPr>
        </p:nvSpPr>
        <p:spPr>
          <a:xfrm>
            <a:off x="576231" y="1089004"/>
            <a:ext cx="10399508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16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lvl="2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3pPr>
            <a:lvl4pPr lvl="3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4pPr>
            <a:lvl5pPr lvl="4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5pPr>
            <a:lvl6pPr lvl="5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6pPr>
            <a:lvl7pPr lvl="6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7pPr>
            <a:lvl8pPr lvl="7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8pPr>
            <a:lvl9pPr lvl="8" rtl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9pPr>
          </a:lstStyle>
          <a:p>
            <a:endParaRPr dirty="0"/>
          </a:p>
        </p:txBody>
      </p:sp>
      <p:pic>
        <p:nvPicPr>
          <p:cNvPr id="690" name="Google Shape;690;p6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3324" y="6246884"/>
            <a:ext cx="223446" cy="223388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9"/>
          <p:cNvSpPr txBox="1">
            <a:spLocks noGrp="1"/>
          </p:cNvSpPr>
          <p:nvPr>
            <p:ph type="title"/>
          </p:nvPr>
        </p:nvSpPr>
        <p:spPr>
          <a:xfrm>
            <a:off x="576228" y="-6730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pic>
        <p:nvPicPr>
          <p:cNvPr id="2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E91A1019-1299-4438-347B-FF8B1966D380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266947" y="580990"/>
            <a:ext cx="939823" cy="2680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13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6 - Thank You">
  <p:cSld name="N6 - Thank You">
    <p:bg>
      <p:bgPr>
        <a:solidFill>
          <a:srgbClr val="CFE9FE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7"/>
          <p:cNvSpPr txBox="1"/>
          <p:nvPr/>
        </p:nvSpPr>
        <p:spPr>
          <a:xfrm>
            <a:off x="578607" y="2312975"/>
            <a:ext cx="5884532" cy="26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Avant Garde Demi SFDC"/>
              <a:buNone/>
            </a:pPr>
            <a:r>
              <a:rPr lang="en" sz="7500">
                <a:solidFill>
                  <a:schemeClr val="accent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Avant Garde Demi SFDC"/>
                <a:sym typeface="Avant Garde Demi SFDC"/>
              </a:rPr>
              <a:t>Thank you</a:t>
            </a:r>
            <a:endParaRPr sz="7500">
              <a:solidFill>
                <a:schemeClr val="accent1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Avant Garde Demi SFDC"/>
              <a:sym typeface="Avant Garde Demi SFDC"/>
            </a:endParaRPr>
          </a:p>
        </p:txBody>
      </p:sp>
      <p:sp>
        <p:nvSpPr>
          <p:cNvPr id="565" name="Google Shape;565;p57" title="alt=&quot;&quot;"/>
          <p:cNvSpPr/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grpSp>
        <p:nvGrpSpPr>
          <p:cNvPr id="566" name="Google Shape;566;p57"/>
          <p:cNvGrpSpPr/>
          <p:nvPr/>
        </p:nvGrpSpPr>
        <p:grpSpPr>
          <a:xfrm>
            <a:off x="-114" y="501624"/>
            <a:ext cx="12185826" cy="6352464"/>
            <a:chOff x="774562" y="3721525"/>
            <a:chExt cx="3851248" cy="2008176"/>
          </a:xfrm>
        </p:grpSpPr>
        <p:pic>
          <p:nvPicPr>
            <p:cNvPr id="567" name="Google Shape;567;p57" title="alt=&quot;&quot;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4562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7" title="alt=&quot;&quot;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9887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9" name="Google Shape;569;p57" title="Group of Salesforce characters wavi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 title="Salesforce logo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46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rgbClr val="CFE9FE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" title="alt=&quot;&quot;"/>
          <p:cNvSpPr/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grpSp>
        <p:nvGrpSpPr>
          <p:cNvPr id="566" name="Google Shape;566;p57"/>
          <p:cNvGrpSpPr/>
          <p:nvPr/>
        </p:nvGrpSpPr>
        <p:grpSpPr>
          <a:xfrm>
            <a:off x="-114" y="501624"/>
            <a:ext cx="12185826" cy="6352464"/>
            <a:chOff x="774562" y="3721525"/>
            <a:chExt cx="3851248" cy="2008176"/>
          </a:xfrm>
        </p:grpSpPr>
        <p:pic>
          <p:nvPicPr>
            <p:cNvPr id="567" name="Google Shape;567;p57" title="alt=&quot;&quot;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4562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7" title="alt=&quot;&quot;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9887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9" name="Google Shape;569;p57" title="Group of Salesforce characters wavi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 title="Salesforce logo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46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D610E7-1D45-81D2-80DD-D327467B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5A0FB5-44D1-4FC8-9211-B7C92EE2F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A887E-13EC-4E06-A085-EF9FE7275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CA99D3F4-A9E9-6647-9687-B3F9E161E921}" type="datetimeFigureOut">
              <a:rPr kumimoji="1" lang="ko-KR" altLang="en-US" smtClean="0"/>
              <a:pPr/>
              <a:t>2026-10-15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68C298-1DD4-470F-F776-F5A88B321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4E1A3-80C9-4B20-FEA7-5F36E3FFF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DC2E8705-8B15-1B46-BC9F-F7E0854FBA0C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15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57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5000"/>
              </a:lnSpc>
            </a:pPr>
            <a:r>
              <a:rPr lang="ko-KR" altLang="en-US" sz="1600" b="1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Solta Medical Korea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lang="ko-KR" altLang="en-US" sz="2400" b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현업 인터뷰 결과 보고 및
프로젝트 방향성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3794760"/>
            <a:ext cx="1097279" cy="0"/>
          </a:xfrm>
          <a:prstGeom prst="line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oogle Shape;923;p1" descr="그래픽, 폰트, 그래픽 디자인, 로고이(가) 표시된 사진  자동 생성된 설명">
            <a:extLst>
              <a:ext uri="{FF2B5EF4-FFF2-40B4-BE49-F238E27FC236}">
                <a16:creationId xmlns:a16="http://schemas.microsoft.com/office/drawing/2014/main" id="{131FE561-EC1F-C720-BCF7-C727FB1F13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lang="ko-KR" altLang="en-US" sz="1400" b="0">
                <a:solidFill>
                  <a:srgbClr val="404040"/>
                </a:solidFill>
                <a:latin typeface="Noto Sans KR"/>
                <a:ea typeface="Noto Sans KR"/>
                <a:cs typeface="Noto Sans KR"/>
              </a:rPr>
              <a:t>2026.10</a:t>
            </a:r>
          </a:p>
          <a:p>
            <a:pPr algn="l">
              <a:lnSpc>
                <a:spcPct val="105000"/>
              </a:lnSpc>
            </a:pPr>
            <a:r>
              <a:rPr lang="ko-KR" altLang="en-US" sz="1200" b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MILVUS Co., Ltd.  CRM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>
          <a:extLst>
            <a:ext uri="{FF2B5EF4-FFF2-40B4-BE49-F238E27FC236}">
              <a16:creationId xmlns:a16="http://schemas.microsoft.com/office/drawing/2014/main" id="{33B77679-4F4C-940D-BB7F-5DECFB09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55962A-81A4-0F6F-B0CB-A83D94B9E38A}"/>
              </a:ext>
            </a:extLst>
          </p:cNvPr>
          <p:cNvSpPr txBox="1"/>
          <p:nvPr/>
        </p:nvSpPr>
        <p:spPr>
          <a:xfrm>
            <a:off x="2094544" y="997087"/>
            <a:ext cx="9521228" cy="345213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조선일보명조" panose="02030304000000000000" pitchFamily="18" charset="-127"/>
              </a:rPr>
              <a:t>현황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조선일보명조" panose="02030304000000000000" pitchFamily="18" charset="-127"/>
              </a:rPr>
              <a:t>·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조선일보명조" panose="02030304000000000000" pitchFamily="18" charset="-127"/>
              </a:rPr>
              <a:t>니즈 파악 및 마케팅 시나리오의 방향성 설계를 위한 관계자 인터뷰 진행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3C36AE9-CFDF-6900-FB38-2AE1168C33D1}"/>
              </a:ext>
            </a:extLst>
          </p:cNvPr>
          <p:cNvSpPr/>
          <p:nvPr/>
        </p:nvSpPr>
        <p:spPr>
          <a:xfrm>
            <a:off x="346551" y="1374222"/>
            <a:ext cx="1587904" cy="63611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4167F4-A2CF-B59D-AED8-BACDD23EFB7D}"/>
              </a:ext>
            </a:extLst>
          </p:cNvPr>
          <p:cNvSpPr/>
          <p:nvPr/>
        </p:nvSpPr>
        <p:spPr>
          <a:xfrm>
            <a:off x="2005951" y="1374222"/>
            <a:ext cx="9839497" cy="63611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관계 부서별 현황 및 니즈 청취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3F1E83-586B-DF8C-E393-192B1F00792B}"/>
              </a:ext>
            </a:extLst>
          </p:cNvPr>
          <p:cNvSpPr/>
          <p:nvPr/>
        </p:nvSpPr>
        <p:spPr>
          <a:xfrm>
            <a:off x="346551" y="2069436"/>
            <a:ext cx="1587904" cy="4599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시행일자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3C9C30-8716-1861-CEF0-C103F3024A47}"/>
              </a:ext>
            </a:extLst>
          </p:cNvPr>
          <p:cNvSpPr/>
          <p:nvPr/>
        </p:nvSpPr>
        <p:spPr>
          <a:xfrm>
            <a:off x="2005948" y="2069433"/>
            <a:ext cx="9839497" cy="24322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8D45B6-0869-FDE8-C672-33DA815478BD}"/>
              </a:ext>
            </a:extLst>
          </p:cNvPr>
          <p:cNvSpPr/>
          <p:nvPr/>
        </p:nvSpPr>
        <p:spPr>
          <a:xfrm>
            <a:off x="346551" y="2583670"/>
            <a:ext cx="1587904" cy="1917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참석 부서</a:t>
            </a:r>
            <a:r>
              <a:rPr lang="en-US" altLang="ko-KR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</a:t>
            </a:r>
            <a:r>
              <a:rPr lang="en-US" altLang="ko-KR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EDF06B-F9CC-19B3-B95B-AE910A37CC2D}"/>
              </a:ext>
            </a:extLst>
          </p:cNvPr>
          <p:cNvSpPr/>
          <p:nvPr/>
        </p:nvSpPr>
        <p:spPr>
          <a:xfrm>
            <a:off x="346551" y="4565508"/>
            <a:ext cx="1587904" cy="191799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인터뷰 진행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Bef>
                <a:spcPts val="300"/>
              </a:spcBef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프로세스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5EBEE1-E20D-C44B-CBFD-7AEA7901B086}"/>
              </a:ext>
            </a:extLst>
          </p:cNvPr>
          <p:cNvSpPr/>
          <p:nvPr/>
        </p:nvSpPr>
        <p:spPr>
          <a:xfrm>
            <a:off x="2005951" y="4565508"/>
            <a:ext cx="9839497" cy="19179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인터뷰 시간 각 </a:t>
            </a:r>
            <a:r>
              <a:rPr lang="en-US" altLang="ko-KR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30~50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여분 내외로 진행</a:t>
            </a:r>
            <a:endParaRPr lang="en-US" altLang="ko-KR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질의 응답을 통한 현황 파악</a:t>
            </a:r>
            <a:endParaRPr lang="en-US" altLang="ko-KR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 프로세스</a:t>
            </a:r>
            <a:endParaRPr lang="en-US" altLang="ko-KR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47625">
              <a:lnSpc>
                <a:spcPct val="150000"/>
              </a:lnSpc>
              <a:spcBef>
                <a:spcPts val="300"/>
              </a:spcBef>
              <a:buFont typeface="+mj-ea"/>
              <a:buAutoNum type="circleNumDbPlain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인터뷰 개요 설명</a:t>
            </a:r>
            <a:endParaRPr lang="en-US" altLang="ko-KR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47625">
              <a:lnSpc>
                <a:spcPct val="150000"/>
              </a:lnSpc>
              <a:spcBef>
                <a:spcPts val="300"/>
              </a:spcBef>
              <a:buFont typeface="+mj-ea"/>
              <a:buAutoNum type="circleNumDbPlain"/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질의 응답</a:t>
            </a:r>
            <a:endParaRPr lang="en-US" altLang="ko-KR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47625">
              <a:lnSpc>
                <a:spcPct val="150000"/>
              </a:lnSpc>
              <a:spcBef>
                <a:spcPts val="300"/>
              </a:spcBef>
              <a:buFont typeface="+mj-ea"/>
              <a:buAutoNum type="circleNumDbPlain"/>
            </a:pPr>
            <a:r>
              <a:rPr lang="en-US" altLang="ko-KR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요구사항 및 의견 청취</a:t>
            </a:r>
            <a:endParaRPr lang="en-US" altLang="ko-KR"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4C9082FE-C90E-8EA8-C5C4-EF47AA98F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05829"/>
              </p:ext>
            </p:extLst>
          </p:nvPr>
        </p:nvGraphicFramePr>
        <p:xfrm>
          <a:off x="2659438" y="2428457"/>
          <a:ext cx="8601037" cy="1718926"/>
        </p:xfrm>
        <a:graphic>
          <a:graphicData uri="http://schemas.openxmlformats.org/drawingml/2006/table">
            <a:tbl>
              <a:tblPr/>
              <a:tblGrid>
                <a:gridCol w="538028">
                  <a:extLst>
                    <a:ext uri="{9D8B030D-6E8A-4147-A177-3AD203B41FA5}">
                      <a16:colId xmlns:a16="http://schemas.microsoft.com/office/drawing/2014/main" val="2881180411"/>
                    </a:ext>
                  </a:extLst>
                </a:gridCol>
                <a:gridCol w="2181799">
                  <a:extLst>
                    <a:ext uri="{9D8B030D-6E8A-4147-A177-3AD203B41FA5}">
                      <a16:colId xmlns:a16="http://schemas.microsoft.com/office/drawing/2014/main" val="2038356079"/>
                    </a:ext>
                  </a:extLst>
                </a:gridCol>
                <a:gridCol w="4749494">
                  <a:extLst>
                    <a:ext uri="{9D8B030D-6E8A-4147-A177-3AD203B41FA5}">
                      <a16:colId xmlns:a16="http://schemas.microsoft.com/office/drawing/2014/main" val="2527096129"/>
                    </a:ext>
                  </a:extLst>
                </a:gridCol>
                <a:gridCol w="1131716">
                  <a:extLst>
                    <a:ext uri="{9D8B030D-6E8A-4147-A177-3AD203B41FA5}">
                      <a16:colId xmlns:a16="http://schemas.microsoft.com/office/drawing/2014/main" val="431244762"/>
                    </a:ext>
                  </a:extLst>
                </a:gridCol>
              </a:tblGrid>
              <a:tr h="24556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대상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날짜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078267"/>
                  </a:ext>
                </a:extLst>
              </a:tr>
              <a:tr h="2455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부서명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참석자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809406"/>
                  </a:ext>
                </a:extLst>
              </a:tr>
              <a:tr h="3069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ko-KR" sz="105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RA/QA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이주연님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10/8(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727508"/>
                  </a:ext>
                </a:extLst>
              </a:tr>
              <a:tr h="3069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en-US" altLang="ko-KR" sz="105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IT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손유경님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10/8(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969895"/>
                  </a:ext>
                </a:extLst>
              </a:tr>
              <a:tr h="3069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마케팅 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(HCP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남귀영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상무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김운조님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이나희님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10/12(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월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893017"/>
                  </a:ext>
                </a:extLst>
              </a:tr>
              <a:tr h="3069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세일즈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buNone/>
                      </a:pP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유인택님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10/12(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월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012656"/>
                  </a:ext>
                </a:extLst>
              </a:tr>
            </a:tbl>
          </a:graphicData>
        </a:graphic>
      </p:graphicFrame>
      <p:sp>
        <p:nvSpPr>
          <p:cNvPr id="10" name="Title 5">
            <a:extLst>
              <a:ext uri="{FF2B5EF4-FFF2-40B4-BE49-F238E27FC236}">
                <a16:creationId xmlns:a16="http://schemas.microsoft.com/office/drawing/2014/main" id="{E4AD8605-EE0E-8171-0B9E-06A292250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28" y="-6730"/>
            <a:ext cx="10400108" cy="1051500"/>
          </a:xfrm>
        </p:spPr>
        <p:txBody>
          <a:bodyPr/>
          <a:lstStyle/>
          <a:p>
            <a:r>
              <a:rPr lang="en-US" dirty="0">
                <a:latin typeface="Noto Sans KR"/>
              </a:rPr>
              <a:t>OVERVIEW</a:t>
            </a:r>
            <a:endParaRPr dirty="0"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69212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Noto Sans KR"/>
              </a:rPr>
              <a:t>현업 인터뷰 내용</a:t>
            </a:r>
            <a:endParaRPr dirty="0" err="1">
              <a:latin typeface="Noto Sans KR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400" b="1" dirty="0" err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마케팅</a:t>
            </a:r>
            <a:endParaRPr sz="12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83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행사·교육이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가장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반응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좋은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활동이지만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모객이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과제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  <a:sym typeface="Wingdings" panose="05000000000000000000" pitchFamily="2" charset="2"/>
              </a:rPr>
              <a:t>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등록이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행사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하루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전에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몰림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디지털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채널은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카카오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채널이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메인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데이터와는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미연계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홍보는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최소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2개월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전부터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티저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→ Save the Date →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초청장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리마인더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순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4652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400" b="1" dirty="0" err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세일즈</a:t>
            </a:r>
            <a:endParaRPr sz="12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46520" y="2286000"/>
            <a:ext cx="4983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영업</a:t>
            </a:r>
            <a:r>
              <a:rPr lang="ko-KR" altLang="en-US"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약 20명이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Salesforce에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Task·Opportunity·Contact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입력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매출·소모품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매출은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Salesforce에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없어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엑셀로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따로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보고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APAC과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org를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써서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KR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담당자·거래처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정렬이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불편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400" b="1" dirty="0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IT</a:t>
            </a:r>
            <a:endParaRPr sz="12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4983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장비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출고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→ Install Base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등록이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유일한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자동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연동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홈페이지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DB에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B2B·B2C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리드·수신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동의가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구분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적재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, Data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Cloud와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미연동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오더는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D365, Salesforce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연동은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내년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예정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39776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4652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400" b="1" dirty="0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RA/QA</a:t>
            </a:r>
            <a:endParaRPr sz="12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46520" y="4617720"/>
            <a:ext cx="4983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이메일·카카오·문자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발송물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모두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심의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대상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(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문구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포함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개인화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필드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고객명·병원명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)는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바뀌어도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재심의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불필요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행정</a:t>
            </a:r>
            <a:r>
              <a:rPr lang="ko-KR" altLang="en-US"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상 심의기간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약 12일, </a:t>
            </a:r>
            <a:r>
              <a:rPr lang="ko-KR" altLang="en-US" sz="110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실무에서는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에이전시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경유로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3~4주</a:t>
            </a:r>
            <a:r>
              <a:rPr lang="en-US"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소요 예상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Noto Sans KR"/>
              </a:rPr>
              <a:t>Summary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400" b="1" dirty="0" err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목표</a:t>
            </a:r>
            <a:endParaRPr sz="12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장비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설치는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포화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다음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동력은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소모품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(팁)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재구매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세그먼트별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메시지로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세일즈를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끌어올리는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CRM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마케팅이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최우선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과제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46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 algn="ctr">
              <a:spcBef>
                <a:spcPts val="100"/>
              </a:spcBef>
              <a:spcAft>
                <a:spcPts val="100"/>
              </a:spcAft>
              <a:buNone/>
              <a:def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2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704088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400" b="1" dirty="0" err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현황</a:t>
            </a:r>
            <a:endParaRPr sz="12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데이터가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홈페이지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DB·Salesforce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Salescloud·D365·엑셀에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흩어져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있고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Data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Cloud와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미연동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마케팅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수신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동의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HCP 약 300~400명, 팁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판매는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대리점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엑셀로만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관리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417320" y="42519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400" b="1" dirty="0" err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방향</a:t>
            </a:r>
            <a:endParaRPr sz="12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68680" y="48463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B2B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자동화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시나리오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3개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설계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프로젝트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캠페인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내용은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솔타메디칼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코리아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내부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협의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전달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46520" y="42519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040880" y="42519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400" b="1" dirty="0" err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요청</a:t>
            </a:r>
            <a:endParaRPr sz="12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92240" y="48463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시나리오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3개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우선순위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결정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(10/17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제안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  <a:p>
            <a:pPr marL="177800" indent="-177800" algn="l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콘텐츠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심의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3~4주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소요되므로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콘텐츠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Assets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우선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전달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필요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Noto Sans KR"/>
              </a:rPr>
              <a:t>HCP 고객 여정과 접점</a:t>
            </a:r>
          </a:p>
        </p:txBody>
      </p:sp>
      <p:sp>
        <p:nvSpPr>
          <p:cNvPr id="3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 dirty="0" err="1">
                <a:solidFill>
                  <a:schemeClr val="tx1"/>
                </a:solidFill>
                <a:latin typeface="Noto Sans KR"/>
              </a:rPr>
              <a:t>장비를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도입한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뒤에도</a:t>
            </a:r>
            <a:r>
              <a:rPr dirty="0">
                <a:solidFill>
                  <a:schemeClr val="tx1"/>
                </a:solidFill>
                <a:latin typeface="Noto Sans KR"/>
              </a:rPr>
              <a:t> 팁(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소모품</a:t>
            </a:r>
            <a:r>
              <a:rPr dirty="0">
                <a:solidFill>
                  <a:schemeClr val="tx1"/>
                </a:solidFill>
                <a:latin typeface="Noto Sans KR"/>
              </a:rPr>
              <a:t>)을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계속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사야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유지되는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구조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lang="en-US" dirty="0">
                <a:solidFill>
                  <a:schemeClr val="tx1"/>
                </a:solidFill>
                <a:latin typeface="Noto Sans KR"/>
                <a:sym typeface="Wingdings" panose="05000000000000000000" pitchFamily="2" charset="2"/>
              </a:rPr>
              <a:t>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반복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구매의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중심은</a:t>
            </a:r>
            <a:r>
              <a:rPr dirty="0">
                <a:solidFill>
                  <a:schemeClr val="tx1"/>
                </a:solidFill>
                <a:latin typeface="Noto Sans KR"/>
              </a:rPr>
              <a:t> 팁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인식</a:t>
            </a:r>
            <a:endParaRPr sz="105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학회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심포지엄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디지털·의료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매체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광고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브랜드</a:t>
            </a:r>
            <a:r>
              <a:rPr sz="110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캠페인</a:t>
            </a:r>
            <a:endParaRPr sz="110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1488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3317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정보 탐색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1488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2402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홈페이지(HCP 로그인 자료) · 세미나 · 담당 영업사원</a:t>
            </a:r>
            <a:endParaRPr sz="110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490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9319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평가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7490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8404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영업사원 방문 상담·데모 · 임상 자료·교육</a:t>
            </a:r>
            <a:endParaRPr sz="110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3492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5321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도입·구매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492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4406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세일즈 계약 · 설치 · 초기 제품 교육</a:t>
            </a:r>
            <a:endParaRPr sz="110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494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1323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정착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494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0408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뉴 유저 워크숍 · TTT · 학술 세미나</a:t>
            </a:r>
            <a:endParaRPr sz="110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549640" y="1783080"/>
            <a:ext cx="1508760" cy="7315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7325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반복 구매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5496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6410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팁 재구매 · 600→900샷 업셀 · 아이팁 크로스셀</a:t>
            </a:r>
            <a:endParaRPr sz="110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1498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03327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추천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1498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02412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MTL 포럼 · KOL 관리 · 서티 카드</a:t>
            </a:r>
            <a:endParaRPr sz="110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6F2F3"/>
          </a:solidFill>
          <a:ln w="12700">
            <a:solidFill>
              <a:srgbClr val="E6F2F3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77724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 dirty="0" err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이탈</a:t>
            </a:r>
            <a:r>
              <a:rPr sz="1100" b="1" dirty="0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dirty="0" err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시점</a:t>
            </a:r>
            <a:r>
              <a:rPr sz="1100" b="1" dirty="0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  </a:t>
            </a:r>
            <a:endParaRPr lang="en-US" sz="1100" b="1" dirty="0">
              <a:solidFill>
                <a:srgbClr val="156082"/>
              </a:solidFill>
              <a:latin typeface="Noto Sans KR"/>
              <a:ea typeface="Noto Sans KR"/>
              <a:cs typeface="Noto Sans KR"/>
            </a:endParaRPr>
          </a:p>
          <a:p>
            <a:pPr marL="92075" indent="-92075" algn="l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도입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전 </a:t>
            </a:r>
            <a:r>
              <a:rPr lang="en-US"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: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관심은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보였으나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상담·데모로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이어지지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않음</a:t>
            </a:r>
            <a:endParaRPr lang="en-US" sz="1050" b="0" dirty="0">
              <a:solidFill>
                <a:srgbClr val="1A1A2E"/>
              </a:solidFill>
              <a:latin typeface="Noto Sans KR"/>
              <a:ea typeface="Noto Sans KR"/>
              <a:cs typeface="Noto Sans KR"/>
            </a:endParaRPr>
          </a:p>
          <a:p>
            <a:pPr marL="92075" indent="-92075" algn="l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도입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초기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: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사용법·교육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부족으로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팁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구매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저조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 </a:t>
            </a:r>
            <a:endParaRPr lang="en-US" sz="1050" b="0" dirty="0">
              <a:solidFill>
                <a:srgbClr val="1A1A2E"/>
              </a:solidFill>
              <a:latin typeface="Noto Sans KR"/>
              <a:ea typeface="Noto Sans KR"/>
              <a:cs typeface="Noto Sans KR"/>
            </a:endParaRPr>
          </a:p>
          <a:p>
            <a:pPr marL="92075" indent="-92075" algn="l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— 3~6개월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미구매는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이탈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위험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, 6개월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이상은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휴면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(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카피캣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제품으로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이동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우려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1050" b="0" dirty="0">
              <a:solidFill>
                <a:srgbClr val="1A1A2E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Noto Sans KR"/>
              </a:rPr>
              <a:t>고객 데이터 AS-IS</a:t>
            </a:r>
          </a:p>
        </p:txBody>
      </p:sp>
      <p:sp>
        <p:nvSpPr>
          <p:cNvPr id="9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 dirty="0" err="1">
                <a:solidFill>
                  <a:schemeClr val="tx1"/>
                </a:solidFill>
                <a:latin typeface="Noto Sans KR"/>
              </a:rPr>
              <a:t>데이터가</a:t>
            </a:r>
            <a:r>
              <a:rPr dirty="0">
                <a:solidFill>
                  <a:schemeClr val="tx1"/>
                </a:solidFill>
                <a:latin typeface="Noto Sans KR"/>
              </a:rPr>
              <a:t> 4곳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이상에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흩어져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있어</a:t>
            </a:r>
            <a:r>
              <a:rPr dirty="0">
                <a:solidFill>
                  <a:schemeClr val="tx1"/>
                </a:solidFill>
                <a:latin typeface="Noto Sans KR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Noto Sans KR"/>
              </a:rPr>
              <a:t>데이터 확인 필요</a:t>
            </a:r>
            <a:endParaRPr dirty="0" err="1">
              <a:solidFill>
                <a:schemeClr val="tx1"/>
              </a:solidFill>
              <a:latin typeface="Noto Sans KR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9546"/>
              </p:ext>
            </p:extLst>
          </p:nvPr>
        </p:nvGraphicFramePr>
        <p:xfrm>
          <a:off x="548640" y="1645920"/>
          <a:ext cx="11064240" cy="332841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</a:t>
                      </a:r>
                      <a:endParaRPr sz="1100" b="0" dirty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위치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관리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마케팅 활용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HCP 리드 · 마케팅 수신 동의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 dirty="0" err="1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홈페이지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DB</a:t>
                      </a:r>
                      <a:endParaRPr sz="1100" b="0" dirty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 dirty="0" err="1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마케팅</a:t>
                      </a:r>
                      <a:endParaRPr sz="1100" b="0" dirty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 </a:t>
                      </a:r>
                      <a:r>
                        <a:rPr sz="12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연동</a:t>
                      </a:r>
                      <a:r>
                        <a:rPr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2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</a:t>
                      </a:r>
                      <a:endParaRPr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Account · Contact · Opportunity · Task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Salesforce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영업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>
                          <a:solidFill>
                            <a:srgbClr val="15608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 활용 가능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장비 출고 (시리얼 · 품목)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Salesforce Install Base (</a:t>
                      </a:r>
                      <a:r>
                        <a:rPr sz="1100" b="0" dirty="0" err="1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)</a:t>
                      </a:r>
                      <a:endParaRPr sz="1100" b="0" dirty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 dirty="0" err="1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본사</a:t>
                      </a:r>
                      <a:endParaRPr sz="1100" b="0" dirty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>
                          <a:solidFill>
                            <a:srgbClr val="15608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 활용 가능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 dirty="0" err="1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오더</a:t>
                      </a:r>
                      <a:endParaRPr sz="1100" b="0" dirty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D365</a:t>
                      </a:r>
                      <a:endParaRPr sz="1100" b="0" dirty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  <a:endParaRPr sz="1100" b="0" dirty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 </a:t>
                      </a:r>
                      <a:r>
                        <a:rPr sz="12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연동</a:t>
                      </a:r>
                      <a:r>
                        <a:rPr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2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</a:t>
                      </a:r>
                      <a:endParaRPr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 dirty="0" err="1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소모품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(팁) </a:t>
                      </a:r>
                      <a:r>
                        <a:rPr sz="1100" b="0" dirty="0" err="1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병원별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</a:t>
                      </a:r>
                      <a:endParaRPr sz="1100" b="0" dirty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대리점 일 단위 엑셀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 dirty="0" err="1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영업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· CO</a:t>
                      </a:r>
                      <a:endParaRPr sz="1100" b="0" dirty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 dirty="0">
                          <a:solidFill>
                            <a:srgbClr val="DE46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 </a:t>
                      </a:r>
                      <a:r>
                        <a:rPr sz="1200" b="1" dirty="0" err="1">
                          <a:solidFill>
                            <a:srgbClr val="DE46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</a:t>
                      </a:r>
                      <a:r>
                        <a:rPr sz="1200" b="1" dirty="0">
                          <a:solidFill>
                            <a:srgbClr val="DE46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DE46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  <a:endParaRPr sz="1100" b="0" dirty="0">
                        <a:solidFill>
                          <a:srgbClr val="DE463D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교육 이수 · 서티 · 행사 참석 · 설문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수기</a:t>
                      </a:r>
                      <a:endParaRPr sz="1100" b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 dirty="0" err="1">
                          <a:solidFill>
                            <a:srgbClr val="1A1A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마케팅</a:t>
                      </a:r>
                      <a:endParaRPr sz="1100" b="0" dirty="0">
                        <a:solidFill>
                          <a:srgbClr val="1A1A2E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 dirty="0">
                          <a:solidFill>
                            <a:srgbClr val="DE46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 </a:t>
                      </a:r>
                      <a:r>
                        <a:rPr sz="1200" b="1" dirty="0" err="1">
                          <a:solidFill>
                            <a:srgbClr val="DE46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</a:t>
                      </a:r>
                      <a:r>
                        <a:rPr sz="1200" b="1" dirty="0">
                          <a:solidFill>
                            <a:srgbClr val="DE46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DE46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  <a:endParaRPr sz="1100" b="0" dirty="0">
                        <a:solidFill>
                          <a:srgbClr val="DE463D"/>
                        </a:solidFill>
                        <a:latin typeface="Noto Sans KR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Noto Sans KR"/>
              </a:rPr>
              <a:t>To-Be 아키텍처 (개요)</a:t>
            </a:r>
          </a:p>
        </p:txBody>
      </p:sp>
      <p:sp>
        <p:nvSpPr>
          <p:cNvPr id="49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 dirty="0" err="1">
                <a:solidFill>
                  <a:schemeClr val="tx1"/>
                </a:solidFill>
                <a:latin typeface="Noto Sans KR"/>
              </a:rPr>
              <a:t>흩어진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고객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데이터를</a:t>
            </a:r>
            <a:r>
              <a:rPr dirty="0">
                <a:solidFill>
                  <a:schemeClr val="tx1"/>
                </a:solidFill>
                <a:latin typeface="Noto Sans KR"/>
              </a:rPr>
              <a:t> Data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Cloud로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모아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세그먼트를</a:t>
            </a:r>
            <a:r>
              <a:rPr dirty="0">
                <a:solidFill>
                  <a:schemeClr val="tx1"/>
                </a:solidFill>
                <a:latin typeface="Noto Sans KR"/>
              </a:rPr>
              <a:t>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만들고</a:t>
            </a:r>
            <a:r>
              <a:rPr dirty="0">
                <a:solidFill>
                  <a:schemeClr val="tx1"/>
                </a:solidFill>
                <a:latin typeface="Noto Sans KR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Noto Sans KR"/>
              </a:rPr>
              <a:t>이후 </a:t>
            </a:r>
            <a:r>
              <a:rPr dirty="0" err="1">
                <a:solidFill>
                  <a:schemeClr val="tx1"/>
                </a:solidFill>
                <a:latin typeface="Noto Sans KR"/>
              </a:rPr>
              <a:t>발송</a:t>
            </a:r>
            <a:endParaRPr dirty="0">
              <a:solidFill>
                <a:schemeClr val="tx1"/>
              </a:solidFill>
              <a:latin typeface="Noto Sans KR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82895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데이터 원천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46135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통합 · 세그먼트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706455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캠페인 · 저니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266775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채널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9436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홈페이지 DB</a:t>
            </a:r>
            <a:endParaRPr sz="1050" b="0">
              <a:solidFill>
                <a:srgbClr val="1A1A2E"/>
              </a:solidFill>
              <a:latin typeface="Noto Sans KR"/>
            </a:endParaRPr>
          </a:p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HCP 리드 · 수신 동의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94360" y="288036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Sales Cloud</a:t>
            </a:r>
            <a:endParaRPr sz="1050" b="0">
              <a:solidFill>
                <a:srgbClr val="1A1A2E"/>
              </a:solidFill>
              <a:latin typeface="Noto Sans KR"/>
            </a:endParaRPr>
          </a:p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Account · Contact · Install Base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5875">
            <a:solidFill>
              <a:srgbClr val="5B6B82"/>
            </a:solidFill>
            <a:prstDash val="dash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9436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 dirty="0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D365</a:t>
            </a:r>
            <a:endParaRPr sz="1050" b="0" dirty="0">
              <a:solidFill>
                <a:srgbClr val="1A1A2E"/>
              </a:solidFill>
              <a:latin typeface="Noto Sans KR"/>
            </a:endParaRPr>
          </a:p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(SF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연동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내년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예정</a:t>
            </a:r>
            <a:r>
              <a:rPr sz="1050" b="0" dirty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1050" b="0" dirty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5875">
            <a:solidFill>
              <a:srgbClr val="5B6B82"/>
            </a:solidFill>
            <a:prstDash val="dash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94360" y="461772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대리점 엑셀</a:t>
            </a:r>
            <a:endParaRPr sz="1050" b="0">
              <a:solidFill>
                <a:srgbClr val="1A1A2E"/>
              </a:solidFill>
              <a:latin typeface="Noto Sans KR"/>
            </a:endParaRPr>
          </a:p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팁 판매 (확보 방안 검토)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11880" y="274320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657600" y="2743200"/>
            <a:ext cx="20116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Data Cloud</a:t>
            </a:r>
            <a:endParaRPr sz="1050" b="0">
              <a:solidFill>
                <a:srgbClr val="1A1A2E"/>
              </a:solidFill>
              <a:latin typeface="Noto Sans KR"/>
            </a:endParaRPr>
          </a:p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통합 프로필 · 세그먼트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72200" y="274320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217920" y="2743200"/>
            <a:ext cx="20116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Marketing Cloud Next</a:t>
            </a:r>
            <a:endParaRPr sz="1050" b="0">
              <a:solidFill>
                <a:srgbClr val="1A1A2E"/>
              </a:solidFill>
              <a:latin typeface="Noto Sans KR"/>
            </a:endParaRPr>
          </a:p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시나리오(저니) 3개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326880" y="2134687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9372600" y="2134687"/>
            <a:ext cx="1371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카카오</a:t>
            </a:r>
            <a:endParaRPr sz="1050" b="0">
              <a:solidFill>
                <a:srgbClr val="1A1A2E"/>
              </a:solidFill>
              <a:latin typeface="Noto Sans KR"/>
            </a:endParaRPr>
          </a:p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알림톡 · 친구톡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326880" y="2957647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372600" y="2957647"/>
            <a:ext cx="1371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SMS · LMS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26880" y="3780607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372600" y="3780607"/>
            <a:ext cx="1371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이메일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926080" y="2377440"/>
            <a:ext cx="685800" cy="10058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926080" y="3246120"/>
            <a:ext cx="685800" cy="1371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0" name="Shape 28"/>
          <p:cNvSpPr/>
          <p:nvPr/>
        </p:nvSpPr>
        <p:spPr>
          <a:xfrm flipV="1">
            <a:off x="2926080" y="3383280"/>
            <a:ext cx="685800" cy="731520"/>
          </a:xfrm>
          <a:prstGeom prst="line">
            <a:avLst/>
          </a:prstGeom>
          <a:noFill/>
          <a:ln w="19050">
            <a:solidFill>
              <a:srgbClr val="5B6B82"/>
            </a:solidFill>
            <a:prstDash val="dash"/>
            <a:tailEnd type="triangle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1" name="Shape 29"/>
          <p:cNvSpPr/>
          <p:nvPr/>
        </p:nvSpPr>
        <p:spPr>
          <a:xfrm flipV="1">
            <a:off x="2926080" y="3383280"/>
            <a:ext cx="685800" cy="1600200"/>
          </a:xfrm>
          <a:prstGeom prst="line">
            <a:avLst/>
          </a:prstGeom>
          <a:noFill/>
          <a:ln w="19050">
            <a:solidFill>
              <a:srgbClr val="5B6B82"/>
            </a:solidFill>
            <a:prstDash val="dash"/>
            <a:tailEnd type="triangle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715000" y="3383280"/>
            <a:ext cx="45720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3" name="Shape 31"/>
          <p:cNvSpPr/>
          <p:nvPr/>
        </p:nvSpPr>
        <p:spPr>
          <a:xfrm flipV="1">
            <a:off x="8275320" y="2411764"/>
            <a:ext cx="1051560" cy="971516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4" name="Shape 32"/>
          <p:cNvSpPr/>
          <p:nvPr/>
        </p:nvSpPr>
        <p:spPr>
          <a:xfrm flipV="1">
            <a:off x="8275320" y="3312010"/>
            <a:ext cx="1050646" cy="71269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275320" y="3383280"/>
            <a:ext cx="1051560" cy="8229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172200" y="461772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217920" y="4617720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100" b="1">
                <a:solidFill>
                  <a:srgbClr val="156082"/>
                </a:solidFill>
                <a:latin typeface="Noto Sans KR"/>
                <a:ea typeface="Noto Sans KR"/>
                <a:cs typeface="Noto Sans KR"/>
              </a:rPr>
              <a:t>Sales Cloud Task</a:t>
            </a:r>
            <a:endParaRPr sz="1050" b="0">
              <a:solidFill>
                <a:srgbClr val="1A1A2E"/>
              </a:solidFill>
              <a:latin typeface="Noto Sans KR"/>
            </a:endParaRPr>
          </a:p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영업 담당자 팔로업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223760" y="4023360"/>
            <a:ext cx="914" cy="5943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361188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발송 · 반응 데이터 → Data Cloud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48640" y="5715000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E6F2F3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005840" y="5687568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신규 구성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651760" y="5715000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3108960" y="5687568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기존 시스템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754880" y="5715000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F3F5F8"/>
          </a:solidFill>
          <a:ln w="12700">
            <a:solidFill>
              <a:srgbClr val="5B6B82"/>
            </a:solidFill>
            <a:prstDash val="dash"/>
          </a:ln>
        </p:spPr>
        <p:txBody>
          <a:bodyPr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endParaRPr sz="1050" b="0">
              <a:solidFill>
                <a:srgbClr val="1A1A2E"/>
              </a:solidFill>
              <a:latin typeface="Noto Sans KR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5212080" y="5687568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sz="1050" b="0">
                <a:solidFill>
                  <a:srgbClr val="1A1A2E"/>
                </a:solidFill>
                <a:latin typeface="Noto Sans KR"/>
                <a:ea typeface="Noto Sans KR"/>
                <a:cs typeface="Noto Sans KR"/>
              </a:rPr>
              <a:t>범위 외 · 미확정</a:t>
            </a:r>
            <a:endParaRPr sz="1050" b="0">
              <a:solidFill>
                <a:srgbClr val="1A1A2E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131FE561-EC1F-C720-BCF7-C727FB1F13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5857</TotalTime>
  <Words>710</Words>
  <Application>Microsoft Office PowerPoint</Application>
  <PresentationFormat>와이드스크린</PresentationFormat>
  <Paragraphs>153</Paragraphs>
  <Slides>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Avant Garde Demi SFDC</vt:lpstr>
      <vt:lpstr>Noto Sans KR</vt:lpstr>
      <vt:lpstr>Salesforce Sans</vt:lpstr>
      <vt:lpstr>맑은 고딕</vt:lpstr>
      <vt:lpstr>Arial</vt:lpstr>
      <vt:lpstr>Poppins</vt:lpstr>
      <vt:lpstr>Poppins SemiBold</vt:lpstr>
      <vt:lpstr>Office 테마</vt:lpstr>
      <vt:lpstr>PowerPoint 프레젠테이션</vt:lpstr>
      <vt:lpstr>OVERVIEW</vt:lpstr>
      <vt:lpstr>현업 인터뷰 내용</vt:lpstr>
      <vt:lpstr>Summary</vt:lpstr>
      <vt:lpstr>HCP 고객 여정과 접점</vt:lpstr>
      <vt:lpstr>고객 데이터 AS-IS</vt:lpstr>
      <vt:lpstr>To-Be 아키텍처 (개요)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MILVUS MCI 관련 보유역량 및 Reference</dc:title>
  <dc:creator>KANG henry</dc:creator>
  <cp:lastModifiedBy>crm6 crm6</cp:lastModifiedBy>
  <cp:revision>244</cp:revision>
  <dcterms:created xsi:type="dcterms:W3CDTF">2024-03-13T12:32:44Z</dcterms:created>
  <dcterms:modified xsi:type="dcterms:W3CDTF">2026-10-15T07:40:43Z</dcterms:modified>
</cp:coreProperties>
</file>