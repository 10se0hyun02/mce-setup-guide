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54" r:id="rId2"/>
    <p:sldId id="455" r:id="rId3"/>
    <p:sldId id="456" r:id="rId4"/>
    <p:sldId id="457" r:id="rId5"/>
    <p:sldId id="458" r:id="rId6"/>
    <p:sldId id="459" r:id="rId7"/>
    <p:sldId id="28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1" userDrawn="1">
          <p15:clr>
            <a:srgbClr val="A4A3A4"/>
          </p15:clr>
        </p15:guide>
        <p15:guide id="3" orient="horz" pos="913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6ECC"/>
    <a:srgbClr val="009DDD"/>
    <a:srgbClr val="0072BC"/>
    <a:srgbClr val="DE463D"/>
    <a:srgbClr val="FFD401"/>
    <a:srgbClr val="2772BD"/>
    <a:srgbClr val="BFBFB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 autoAdjust="0"/>
    <p:restoredTop sz="95090" autoAdjust="0"/>
  </p:normalViewPr>
  <p:slideViewPr>
    <p:cSldViewPr snapToGrid="0" showGuides="1">
      <p:cViewPr varScale="1">
        <p:scale>
          <a:sx n="101" d="100"/>
          <a:sy n="101" d="100"/>
        </p:scale>
        <p:origin x="1038" y="114"/>
      </p:cViewPr>
      <p:guideLst>
        <p:guide pos="211"/>
        <p:guide orient="horz" pos="913"/>
        <p:guide pos="7469"/>
        <p:guide orient="horz" pos="39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6B753-053D-5449-9810-F50E561B6C5D}" type="datetimeFigureOut">
              <a:rPr kumimoji="1" lang="ko-KR" altLang="en-US" smtClean="0"/>
              <a:t>2026-10-15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8BCD-17F2-DB41-BDB0-79A8E18BD7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32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6b420ab46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6b420ab460_0_116:notes"/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9"/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673"/>
          <a:stretch/>
        </p:blipFill>
        <p:spPr>
          <a:xfrm>
            <a:off x="10716123" y="5634948"/>
            <a:ext cx="1476000" cy="12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9"/>
          <p:cNvSpPr txBox="1"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6" name="Google Shape;686;p69"/>
          <p:cNvSpPr txBox="1"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pic>
        <p:nvPicPr>
          <p:cNvPr id="687" name="Google Shape;687;p69" descr="pasted-image.pdf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6078" y="580990"/>
            <a:ext cx="525274" cy="3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9"/>
          <p:cNvSpPr txBox="1"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  <p:pic>
        <p:nvPicPr>
          <p:cNvPr id="690" name="Google Shape;690;p6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324" y="6246884"/>
            <a:ext cx="223446" cy="223388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9"/>
          <p:cNvSpPr txBox="1"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pic>
        <p:nvPicPr>
          <p:cNvPr id="2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E91A1019-1299-4438-347B-FF8B1966D38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66947" y="580990"/>
            <a:ext cx="939823" cy="268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13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/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Avant Garde Demi SFDC"/>
              <a:buNone/>
            </a:pPr>
            <a:r>
              <a:rPr lang="en" sz="75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Avant Garde Demi SFDC"/>
                <a:sym typeface="Avant Garde Demi SFDC"/>
              </a:rPr>
              <a:t>Thank you</a:t>
            </a:r>
            <a:endParaRPr sz="7500">
              <a:solidFill>
                <a:schemeClr val="accent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Avant Garde Demi SFDC"/>
              <a:sym typeface="Avant Garde Demi SFDC"/>
            </a:endParaRPr>
          </a:p>
        </p:txBody>
      </p:sp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CA99D3F4-A9E9-6647-9687-B3F9E161E921}" type="datetimeFigureOut">
              <a:rPr kumimoji="1" lang="ko-KR" altLang="en-US" smtClean="0"/>
              <a:pPr/>
              <a:t>2026-10-15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DC2E8705-8B15-1B46-BC9F-F7E0854FBA0C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15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5000"/>
              </a:lnSpc>
            </a:pPr>
            <a:r>
              <a:rPr lang="ko-KR" altLang="en-US" sz="1600" b="1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Solta Medical Korea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현업 인터뷰 기반 요건정의</a:t>
            </a:r>
          </a:p>
          <a:p>
            <a:pPr algn="l">
              <a:lnSpc>
                <a:spcPct val="105000"/>
              </a:lnSpc>
            </a:pPr>
            <a:endParaRPr lang="ko-KR" altLang="en-US" sz="2400" b="1">
              <a:solidFill>
                <a:srgbClr val="1F3864"/>
              </a:solidFill>
              <a:latin typeface="Noto Sans KR"/>
              <a:ea typeface="Noto Sans KR"/>
              <a:cs typeface="Noto Sans KR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3794760"/>
            <a:ext cx="1097279" cy="0"/>
          </a:xfrm>
          <a:prstGeom prst="line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1400" b="0">
                <a:solidFill>
                  <a:srgbClr val="404040"/>
                </a:solidFill>
                <a:latin typeface="Noto Sans KR"/>
                <a:ea typeface="Noto Sans KR"/>
                <a:cs typeface="Noto Sans KR"/>
              </a:rPr>
              <a:t>2026.10</a:t>
            </a:r>
          </a:p>
          <a:p>
            <a:pPr algn="l">
              <a:lnSpc>
                <a:spcPct val="105000"/>
              </a:lnSpc>
            </a:pPr>
            <a:r>
              <a:rPr lang="ko-KR" altLang="en-US" sz="120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MILVUS Co., Ltd.  CRM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710000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0360" y="1800000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마케팅팀 인터뷰 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0360" y="2106000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0360" y="2160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HCP·소비자 마케팅 담당자 인터뷰 주요 발견 및 니즈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360" y="2781000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0360" y="2871000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세일즈팀 인터뷰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0360" y="3176999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50360" y="3231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국내 영업 담당자 인터뷰 주요 발견 및 니즈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360" y="3851999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0360" y="3941999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프로젝트 요건 방향성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0360" y="4248000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50360" y="4302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인터뷰 기반 시나리오 선정 방향 및 우선순위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360" y="4923000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0360" y="5013000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To-Be 아키텍처 (개요)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0360" y="5318999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50360" y="5373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Data Cloud 중심 데이터 흐름 및 캠페인 채널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마케팅팀 인터뷰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073840" cy="27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86400" rIns="108000" bIns="864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현황 (AS-IS)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6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Pain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360" y="2257200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60" y="2304000"/>
            <a:ext cx="4929840" cy="100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행사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초청·리마인드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사후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설문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등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과정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수작업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</a:t>
            </a:r>
            <a:endParaRPr sz="1050" b="0" dirty="0">
              <a:solidFill>
                <a:srgbClr val="1A1A2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마케팅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발송에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대한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인게이지먼트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미연동</a:t>
            </a:r>
            <a:endParaRPr sz="1050" b="0" dirty="0">
              <a:solidFill>
                <a:srgbClr val="1A1A2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수신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동의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약 300~400명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웹사이트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DB ↔ Data Cloud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미연동</a:t>
            </a:r>
            <a:endParaRPr sz="1050" b="0" dirty="0">
              <a:solidFill>
                <a:srgbClr val="1A1A2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en-US" sz="105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B2B </a:t>
            </a:r>
            <a:r>
              <a:rPr lang="ko-KR" altLang="en-US" sz="105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마케팅 </a:t>
            </a:r>
            <a:r>
              <a:rPr lang="en-US" altLang="ko-KR" sz="105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KPI :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노쇼율</a:t>
            </a:r>
            <a:r>
              <a:rPr lang="en-US"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축소</a:t>
            </a:r>
            <a:r>
              <a:rPr lang="en-US" sz="105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행사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만족</a:t>
            </a:r>
            <a:r>
              <a:rPr lang="ko-KR" altLang="en-US"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 향상 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수기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관리중</a:t>
            </a:r>
            <a:r>
              <a:rPr sz="1050" b="0" dirty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6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보유 데이터 &amp; 심의 현황 (RAQA)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360" y="4192199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60" y="4238999"/>
            <a:ext cx="4929840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수신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동의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: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웹사이트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DB (8/29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이후부터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수집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, B2B/B2C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구분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행사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등록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: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별도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DB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관리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(SF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미연동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 dirty="0">
              <a:solidFill>
                <a:srgbClr val="1A1A2E"/>
              </a:solidFill>
              <a:latin typeface="Noto Sans KR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[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참고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]</a:t>
            </a:r>
            <a:r>
              <a:rPr sz="1050" b="1" dirty="0">
                <a:solidFill>
                  <a:srgbClr val="1A1A2E"/>
                </a:solidFill>
                <a:latin typeface="Noto Sans KR"/>
              </a:rPr>
              <a:t>▸ </a:t>
            </a:r>
            <a:r>
              <a:rPr sz="1050" b="1" dirty="0" err="1">
                <a:solidFill>
                  <a:srgbClr val="1A1A2E"/>
                </a:solidFill>
                <a:latin typeface="Noto Sans KR"/>
              </a:rPr>
              <a:t>콘텐츠</a:t>
            </a:r>
            <a:r>
              <a:rPr sz="1050" b="1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1" dirty="0" err="1">
                <a:solidFill>
                  <a:srgbClr val="1A1A2E"/>
                </a:solidFill>
                <a:latin typeface="Noto Sans KR"/>
              </a:rPr>
              <a:t>심의</a:t>
            </a:r>
            <a:endParaRPr sz="1050" b="1" dirty="0">
              <a:solidFill>
                <a:srgbClr val="1A1A2E"/>
              </a:solidFill>
              <a:latin typeface="Noto Sans KR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이메일·카카오·문자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모두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심의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대상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심의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소요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3~4주 (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행정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10일 +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에이전시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유효기간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(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추가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확인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필요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) /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개인화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필드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재심의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불필요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02200" y="1620000"/>
            <a:ext cx="5073840" cy="27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86400" rIns="108000" bIns="864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니즈 및 요건 (TO-BE)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20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주요 니즈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8200" y="2257200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7420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B2B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대상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캠페인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발송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자동화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  (예 :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행사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초청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→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리마인더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→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참석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확인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→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사후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설문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세그먼트별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발송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  (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잠재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/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신규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/Active/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업셀·크로스셀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/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이탈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오픈율·클릭률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기반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넥스트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콘텐츠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연결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 (CTA)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1A1A2E"/>
                </a:solidFill>
                <a:latin typeface="Noto Sans KR"/>
              </a:rPr>
              <a:t>•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채널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: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단문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=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카카오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, 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뉴스레터</a:t>
            </a:r>
            <a:r>
              <a:rPr sz="1050" b="0" dirty="0">
                <a:solidFill>
                  <a:srgbClr val="1A1A2E"/>
                </a:solidFill>
                <a:latin typeface="Noto Sans KR"/>
              </a:rPr>
              <a:t>=</a:t>
            </a:r>
            <a:r>
              <a:rPr sz="1050" b="0" dirty="0" err="1">
                <a:solidFill>
                  <a:srgbClr val="1A1A2E"/>
                </a:solidFill>
                <a:latin typeface="Noto Sans KR"/>
              </a:rPr>
              <a:t>이메일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3820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확인 필요 (Open Items)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8200" y="4192199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420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웹사이트 DB → Data Cloud 연동 방식 확정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 등록 DB → 세일즈포스 연동 방식 결정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시나리오 콘텐츠 심의 일정 선반영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(착수 즉시 에이전시 심의 요청 필요)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세일즈팀 인터뷰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073840" cy="27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86400" rIns="108000" bIns="864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현황 (AS-IS)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6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Pain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360" y="2257200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6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매출 데이터 SF 미연동 — 담당자·거래처별 추적 불가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소모품(팁) 매출: 총판 경유, SFDC 미입력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리드 상세 정보 엑셀 별도 관리 (SF에 숫자만)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APAC 공용 org — KR 세팅 불일치, 타국 데이터 혼재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6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보유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360" y="4192199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6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Account: 고객사 전체 입력됨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Opportunity: 장비 영업 단계 기록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(초기 → 데모 → Closed Won/Lost)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Task: 계정별 데일리 콜 기록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소모품 매출: 총판 경로, SF 미반영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D365 일부 연동 (정확도 미확인)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2200" y="1620000"/>
            <a:ext cx="5073840" cy="27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86400" rIns="108000" bIns="864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니즈 및 요건 (TO-BE)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20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주요 니즈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8200" y="2257200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7420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담당자별·거래처별 매출 대시보드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Opportunity 금액 연동 → 예상 매출 자동 집계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마케팅 메시지 선발송 후 영업 팔로업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820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확인 필요 (Open Items)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8200" y="4192199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420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소모품(팁) 매출 → SF 연동 가능 여부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(총판 경로 데이터 처리 방식 확인)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dirty="0" err="1">
                <a:latin typeface="Noto Sans KR"/>
              </a:rPr>
              <a:t>핵심</a:t>
            </a:r>
            <a:r>
              <a:rPr dirty="0">
                <a:latin typeface="Noto Sans KR"/>
              </a:rPr>
              <a:t> </a:t>
            </a:r>
            <a:r>
              <a:rPr dirty="0" err="1">
                <a:latin typeface="Noto Sans KR"/>
              </a:rPr>
              <a:t>요건</a:t>
            </a:r>
            <a:r>
              <a:rPr dirty="0">
                <a:latin typeface="Noto Sans KR"/>
              </a:rPr>
              <a:t> 및 </a:t>
            </a:r>
            <a:r>
              <a:rPr dirty="0" err="1">
                <a:latin typeface="Noto Sans KR"/>
              </a:rPr>
              <a:t>공통</a:t>
            </a:r>
            <a:r>
              <a:rPr dirty="0">
                <a:latin typeface="Noto Sans KR"/>
              </a:rPr>
              <a:t> </a:t>
            </a:r>
            <a:r>
              <a:rPr dirty="0" err="1">
                <a:latin typeface="Noto Sans KR"/>
              </a:rPr>
              <a:t>선결</a:t>
            </a:r>
            <a:r>
              <a:rPr dirty="0">
                <a:latin typeface="Noto Sans KR"/>
              </a:rPr>
              <a:t> </a:t>
            </a:r>
            <a:r>
              <a:rPr dirty="0" err="1">
                <a:latin typeface="Noto Sans KR"/>
              </a:rPr>
              <a:t>과제</a:t>
            </a:r>
            <a:endParaRPr dirty="0">
              <a:latin typeface="Noto Sans KR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Noto Sans KR"/>
              </a:rPr>
              <a:t>인터뷰</a:t>
            </a:r>
            <a:r>
              <a:rPr dirty="0">
                <a:latin typeface="Noto Sans KR"/>
              </a:rPr>
              <a:t> </a:t>
            </a:r>
            <a:r>
              <a:rPr dirty="0" err="1">
                <a:latin typeface="Noto Sans KR"/>
              </a:rPr>
              <a:t>요건정의</a:t>
            </a:r>
            <a:r>
              <a:rPr dirty="0">
                <a:latin typeface="Noto Sans KR"/>
              </a:rPr>
              <a:t>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073840" cy="27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86400" rIns="108000" bIns="864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마케팅팀 핵심 요건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6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자동화·커뮤니케이션 요건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360" y="2257200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6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행사: 초청→리마인더→참석 확인→사후 설문 발송 자동화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(KPI : 노쇼율 감소 / 참석자 만족도 향상 목표)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세그먼트별 발송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잠재 / 신규 / Active / 업셀·크로스셀 / 이탈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오픈율·클릭률 기반 넥스트 콘텐츠 연결 (CTA)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마케팅 발송 채널: 단문=카카오 알림톡, 뉴스레터=이메일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6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콘텐츠 심의 제약 (RAQA)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360" y="4192199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6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이메일·카카오·문자 전부 심의 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심의 소요 3~4주 → 시나리오 착수 즉시 준비 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개인화 필드(고객명·병원명) 재심의 불필요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→ 템플릿 1회 심의로 개인화 발송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2200" y="1620000"/>
            <a:ext cx="5073840" cy="27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86400" rIns="108000" bIns="864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세일즈팀 핵심 요건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20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대시보드·보고 요건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8200" y="2257200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7420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담당자별·거래처별 매출 확인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Opportunity 금액 연동 → 예상 매출 자동 집계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MC 메시지 선발송 → 영업 팔로업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820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공통 선결 과제 (Open Items)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8200" y="4192199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420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웹사이트 DB → Data Cloud 연동 방식 확정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 등록 DB → Salesforce 연동 방식 결정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수신 동의 모수 확보 (현 300~400명 → 목표 1,700명)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콘텐츠 심의 일정 고려한 마케팅 메시지 콘텐츠 제작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Data Cloud 중심 데이터 통합 → MC 캠페인 → 채널 발송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To-Be 아키텍처 (개요)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2518920" cy="251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57600" rIns="72000" bIns="576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데이터 소스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3280" y="1620000"/>
            <a:ext cx="251892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57600" rIns="72000" bIns="576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Data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30200" y="1620000"/>
            <a:ext cx="2518920" cy="251999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57600" rIns="72000" bIns="576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Marketing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7120" y="1620000"/>
            <a:ext cx="2518920" cy="251999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57600" rIns="72000" bIns="576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발송 채널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9279" y="313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5DD"/>
                </a:solidFill>
                <a:latin typeface="Noto Sans KR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6200" y="313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5DD"/>
                </a:solidFill>
                <a:latin typeface="Noto Sans KR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120" y="313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5DD"/>
                </a:solidFill>
                <a:latin typeface="Noto Sans KR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360" y="1998000"/>
            <a:ext cx="2518920" cy="1133999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1000" b="0">
                <a:solidFill>
                  <a:srgbClr val="1A1A2E"/>
                </a:solidFill>
                <a:latin typeface="Noto Sans KR"/>
              </a:rPr>
              <a:t>Salesforce CRM
HCP · 장비 · 기회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360" y="3203999"/>
            <a:ext cx="2518920" cy="1133999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1000" b="0">
                <a:solidFill>
                  <a:srgbClr val="1A1A2E"/>
                </a:solidFill>
                <a:latin typeface="Noto Sans KR"/>
              </a:rPr>
              <a:t>솔타 ERP
팁 구매 이력
⚠ 연동 방식 TBD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360" y="4409999"/>
            <a:ext cx="2518920" cy="1133999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1000" b="0">
                <a:solidFill>
                  <a:srgbClr val="1A1A2E"/>
                </a:solidFill>
                <a:latin typeface="Noto Sans KR"/>
              </a:rPr>
              <a:t>이벤트 DB
행사 등록 정보
⚠ 연동 방식 TBD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3280" y="1998000"/>
            <a:ext cx="2518920" cy="3545999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88199" rIns="125999" bIns="88199" rtlCol="0" anchor="ctr"/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>
                <a:solidFill>
                  <a:srgbClr val="1A1A2E"/>
                </a:solidFill>
                <a:latin typeface="Noto Sans KR"/>
              </a:rPr>
              <a:t>Data Cloud
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>
                <a:solidFill>
                  <a:srgbClr val="1A1A2E"/>
                </a:solidFill>
                <a:latin typeface="Noto Sans KR"/>
              </a:rPr>
              <a:t>세그먼트 생성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>
                <a:solidFill>
                  <a:srgbClr val="1A1A2E"/>
                </a:solidFill>
                <a:latin typeface="Noto Sans KR"/>
              </a:rPr>
              <a:t>  · HCP 마케팅 동의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>
                <a:solidFill>
                  <a:srgbClr val="1A1A2E"/>
                </a:solidFill>
                <a:latin typeface="Noto Sans KR"/>
              </a:rPr>
              <a:t>  · 장비 도입 일자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>
                <a:solidFill>
                  <a:srgbClr val="1A1A2E"/>
                </a:solidFill>
                <a:latin typeface="Noto Sans KR"/>
              </a:rPr>
              <a:t>  · 행사 등록 여부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>
                <a:solidFill>
                  <a:srgbClr val="1A1A2E"/>
                </a:solidFill>
                <a:latin typeface="Noto Sans KR"/>
              </a:rPr>
              <a:t>  · 팁 구매 주기 (TBD)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30200" y="1998000"/>
            <a:ext cx="2518920" cy="113399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900" b="0">
                <a:solidFill>
                  <a:srgbClr val="1A1A2E"/>
                </a:solidFill>
                <a:latin typeface="Noto Sans KR"/>
              </a:rPr>
              <a:t>Journey A
행사 초청·관리
초청→리마인더→설문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0200" y="3203999"/>
            <a:ext cx="2518920" cy="113399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900" b="0">
                <a:solidFill>
                  <a:srgbClr val="1A1A2E"/>
                </a:solidFill>
                <a:latin typeface="Noto Sans KR"/>
              </a:rPr>
              <a:t>Journey B
90일 온보딩
D0→D1→D14→D30→D90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30200" y="4409999"/>
            <a:ext cx="2518920" cy="113399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900" b="0">
                <a:solidFill>
                  <a:srgbClr val="1A1A2E"/>
                </a:solidFill>
                <a:latin typeface="Noto Sans KR"/>
              </a:rPr>
              <a:t>Journey C
팁 리텐션 (TBD)
구매 주기 기반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7120" y="1998000"/>
            <a:ext cx="2518920" cy="1133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이메일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7120" y="3203999"/>
            <a:ext cx="2518920" cy="1133999"/>
          </a:xfrm>
          <a:prstGeom prst="rect">
            <a:avLst/>
          </a:prstGeom>
          <a:solidFill>
            <a:srgbClr val="F9E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1100" b="1">
                <a:solidFill>
                  <a:srgbClr val="1A1A2E"/>
                </a:solidFill>
                <a:latin typeface="Noto Sans KR"/>
              </a:rPr>
              <a:t>카카오 알림톡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7120" y="4409999"/>
            <a:ext cx="2518920" cy="1133999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2000" rIns="90000" bIns="72000" rtlCol="0" anchor="ctr"/>
          <a:lstStyle/>
          <a:p>
            <a:pPr algn="ctr"/>
            <a:r>
              <a:rPr sz="1100" b="1">
                <a:solidFill>
                  <a:srgbClr val="1A1A2E"/>
                </a:solidFill>
                <a:latin typeface="Noto Sans KR"/>
              </a:rPr>
              <a:t>SMS (폴백)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360" y="5652000"/>
            <a:ext cx="10399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77"/>
                </a:solidFill>
                <a:latin typeface="Noto Sans KR"/>
              </a:rPr>
              <a:t>※ ERP·이벤트 DB 연동 방식 확정 후 아키텍처 상세 업데이트 예정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5829</TotalTime>
  <Words>827</Words>
  <Application>Microsoft Office PowerPoint</Application>
  <PresentationFormat>와이드스크린</PresentationFormat>
  <Paragraphs>118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Avant Garde Demi SFDC</vt:lpstr>
      <vt:lpstr>Noto Sans KR</vt:lpstr>
      <vt:lpstr>Salesforce Sans</vt:lpstr>
      <vt:lpstr>맑은 고딕</vt:lpstr>
      <vt:lpstr>Arial</vt:lpstr>
      <vt:lpstr>Poppins</vt:lpstr>
      <vt:lpstr>Poppins SemiBold</vt:lpstr>
      <vt:lpstr>Office 테마</vt:lpstr>
      <vt:lpstr>PowerPoint 프레젠테이션</vt:lpstr>
      <vt:lpstr>목차</vt:lpstr>
      <vt:lpstr>마케팅팀 인터뷰 결과</vt:lpstr>
      <vt:lpstr>세일즈팀 인터뷰 결과</vt:lpstr>
      <vt:lpstr>인터뷰 요건정의 Summary</vt:lpstr>
      <vt:lpstr>To-Be 아키텍처 (개요)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MILVUS MCI 관련 보유역량 및 Reference</dc:title>
  <dc:creator>KANG henry</dc:creator>
  <cp:lastModifiedBy>crm6 crm6</cp:lastModifiedBy>
  <cp:revision>243</cp:revision>
  <dcterms:created xsi:type="dcterms:W3CDTF">2024-03-13T12:32:44Z</dcterms:created>
  <dcterms:modified xsi:type="dcterms:W3CDTF">2026-10-15T06:31:21Z</dcterms:modified>
</cp:coreProperties>
</file>