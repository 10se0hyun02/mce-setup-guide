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70" r:id="rId12"/>
    <p:sldId id="269" r:id="rId13"/>
    <p:sldId id="271" r:id="rId14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Noto Sans KR"/>
        <a:ea typeface="Noto Sans KR"/>
        <a:cs typeface="Noto Sans KR"/>
      </a:defRPr>
    </a:lvl1pPr>
    <a:lvl2pPr marL="457200" algn="l" defTabSz="914400">
      <a:buNone/>
      <a:defRPr sz="1800" kern="1200">
        <a:solidFill>
          <a:schemeClr val="tx1"/>
        </a:solidFill>
        <a:latin typeface="Noto Sans KR"/>
        <a:ea typeface="Noto Sans KR"/>
        <a:cs typeface="Noto Sans KR"/>
      </a:defRPr>
    </a:lvl2pPr>
    <a:lvl3pPr marL="914400" algn="l" defTabSz="914400">
      <a:buNone/>
      <a:defRPr sz="1800" kern="1200">
        <a:solidFill>
          <a:schemeClr val="tx1"/>
        </a:solidFill>
        <a:latin typeface="Noto Sans KR"/>
        <a:ea typeface="Noto Sans KR"/>
        <a:cs typeface="Noto Sans KR"/>
      </a:defRPr>
    </a:lvl3pPr>
    <a:lvl4pPr marL="1371600" algn="l" defTabSz="914400">
      <a:buNone/>
      <a:defRPr sz="1800" kern="1200">
        <a:solidFill>
          <a:schemeClr val="tx1"/>
        </a:solidFill>
        <a:latin typeface="Noto Sans KR"/>
        <a:ea typeface="Noto Sans KR"/>
        <a:cs typeface="Noto Sans KR"/>
      </a:defRPr>
    </a:lvl4pPr>
    <a:lvl5pPr marL="1828800" algn="l" defTabSz="914400">
      <a:buNone/>
      <a:defRPr sz="1800" kern="1200">
        <a:solidFill>
          <a:schemeClr val="tx1"/>
        </a:solidFill>
        <a:latin typeface="Noto Sans KR"/>
        <a:ea typeface="Noto Sans KR"/>
        <a:cs typeface="Noto Sans KR"/>
      </a:defRPr>
    </a:lvl5pPr>
    <a:lvl6pPr marL="2286000" algn="l" defTabSz="914400">
      <a:buNone/>
      <a:defRPr sz="1800" kern="1200">
        <a:solidFill>
          <a:schemeClr val="tx1"/>
        </a:solidFill>
        <a:latin typeface="Noto Sans KR"/>
        <a:ea typeface="Noto Sans KR"/>
        <a:cs typeface="Noto Sans KR"/>
      </a:defRPr>
    </a:lvl6pPr>
    <a:lvl7pPr marL="2743200" algn="l" defTabSz="914400">
      <a:buNone/>
      <a:defRPr sz="1800" kern="1200">
        <a:solidFill>
          <a:schemeClr val="tx1"/>
        </a:solidFill>
        <a:latin typeface="Noto Sans KR"/>
        <a:ea typeface="Noto Sans KR"/>
        <a:cs typeface="Noto Sans KR"/>
      </a:defRPr>
    </a:lvl7pPr>
    <a:lvl8pPr marL="3200400" algn="l" defTabSz="914400">
      <a:buNone/>
      <a:defRPr sz="1800" kern="1200">
        <a:solidFill>
          <a:schemeClr val="tx1"/>
        </a:solidFill>
        <a:latin typeface="Noto Sans KR"/>
        <a:ea typeface="Noto Sans KR"/>
        <a:cs typeface="Noto Sans KR"/>
      </a:defRPr>
    </a:lvl8pPr>
    <a:lvl9pPr marL="3657600" algn="l" defTabSz="914400">
      <a:buNone/>
      <a:defRPr sz="1800" kern="1200">
        <a:solidFill>
          <a:schemeClr val="tx1"/>
        </a:solidFill>
        <a:latin typeface="Noto Sans KR"/>
        <a:ea typeface="Noto Sans KR"/>
        <a:cs typeface="Noto Sans K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2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출처: 제공된 마케팅·세일즈·RAQA 인터뷰 초안 MD. 과제는 도출한 검토안으로 구현 확정 사항이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마케팅 Q1~Q2-1, Q5~Q10, Q16</a:t>
            </a:r>
          </a:p>
          <a:p>
            <a:r>
              <a:t>과제는 인터뷰 기반 설계·내부 확인 검토안이며 구현 확정 사항이 아님.</a:t>
            </a:r>
          </a:p>
          <a:p>
            <a:r>
              <a:t>[고객 여정] 인지·정보 탐색·상담/데모·계약 이후, 정착·확장·반복 구매·추천으로 연결</a:t>
            </a:r>
          </a:p>
          <a:p>
            <a:r>
              <a:t>장비 설치·초기 교육은 영업이 담당하며, 마케팅은 학술 콘텐츠·교육·행사 지원</a:t>
            </a:r>
          </a:p>
          <a:p>
            <a:r>
              <a:t>팁 반복 구매가 핵심이며 600샷 → 900샷 업셀, 아이팁 크로스셀 추진</a:t>
            </a:r>
          </a:p>
          <a:p>
            <a:r>
              <a:t>[고객 구분] 잠재·신규·Active·구매 상위 Tier·교육 우수·이탈 위험·휴면 고객</a:t>
            </a:r>
          </a:p>
          <a:p>
            <a:r>
              <a:t>3~6개월 미구매는 이탈 위험, 6개월 이상은 휴면으로 구분하는 커뮤니케이션 계획</a:t>
            </a:r>
          </a:p>
          <a:p>
            <a:r>
              <a:t>상담·데모 전환부터 온보딩, 리텐션, 업셀·크로스셀, 윈백까지 맞춤 메시지 운영</a:t>
            </a:r>
          </a:p>
          <a:p>
            <a:r>
              <a:t>장비 도입일·구매·교육 이력에 따라 발송 시점과 다음 콘텐츠 차별화</a:t>
            </a:r>
          </a:p>
          <a:p>
            <a:r>
              <a:t>[설계 검토] 세그먼트별 진입·제외 조건, 메시지 목적, 발송 시점 및 영업 후속 접점 정의</a:t>
            </a:r>
          </a:p>
          <a:p>
            <a:r>
              <a:t>[솔타 확인] Active·Tier·미구매 기간 경계와 대상 기준 확정</a:t>
            </a:r>
          </a:p>
          <a:p>
            <a:r>
              <a:t>장비 도입일·팁 구매일·제품·수량·교육 이력의 보유 및 활용 가능 수준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출처</a:t>
            </a:r>
            <a:r>
              <a:rPr dirty="0"/>
              <a:t>: </a:t>
            </a:r>
            <a:r>
              <a:rPr dirty="0" err="1"/>
              <a:t>마케팅</a:t>
            </a:r>
            <a:r>
              <a:rPr dirty="0"/>
              <a:t> Q11~Q14, Q16, Q20, Q23</a:t>
            </a:r>
          </a:p>
          <a:p>
            <a:r>
              <a:rPr dirty="0" err="1"/>
              <a:t>과제는</a:t>
            </a:r>
            <a:r>
              <a:rPr dirty="0"/>
              <a:t> </a:t>
            </a:r>
            <a:r>
              <a:rPr dirty="0" err="1"/>
              <a:t>인터뷰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설계·내부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검토안이며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확정</a:t>
            </a:r>
            <a:r>
              <a:rPr dirty="0"/>
              <a:t> </a:t>
            </a:r>
            <a:r>
              <a:rPr dirty="0" err="1"/>
              <a:t>사항이</a:t>
            </a:r>
            <a:r>
              <a:rPr dirty="0"/>
              <a:t> </a:t>
            </a:r>
            <a:r>
              <a:rPr dirty="0" err="1"/>
              <a:t>아님</a:t>
            </a:r>
            <a:r>
              <a:rPr dirty="0"/>
              <a:t>.</a:t>
            </a:r>
          </a:p>
          <a:p>
            <a:r>
              <a:rPr dirty="0" err="1"/>
              <a:t>심포지엄·세미나·포럼·TTT</a:t>
            </a:r>
            <a:r>
              <a:rPr dirty="0"/>
              <a:t> </a:t>
            </a:r>
            <a:r>
              <a:rPr dirty="0" err="1"/>
              <a:t>교육</a:t>
            </a:r>
            <a:r>
              <a:rPr dirty="0"/>
              <a:t> </a:t>
            </a:r>
            <a:r>
              <a:rPr dirty="0" err="1"/>
              <a:t>운영과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초청</a:t>
            </a:r>
            <a:r>
              <a:rPr dirty="0"/>
              <a:t>, </a:t>
            </a:r>
            <a:r>
              <a:rPr dirty="0" err="1"/>
              <a:t>등록</a:t>
            </a:r>
            <a:r>
              <a:rPr dirty="0"/>
              <a:t>, </a:t>
            </a:r>
            <a:r>
              <a:rPr dirty="0" err="1"/>
              <a:t>참석</a:t>
            </a:r>
            <a:r>
              <a:rPr dirty="0"/>
              <a:t>, </a:t>
            </a:r>
            <a:r>
              <a:rPr dirty="0" err="1"/>
              <a:t>사후</a:t>
            </a:r>
            <a:r>
              <a:rPr dirty="0"/>
              <a:t> </a:t>
            </a:r>
            <a:r>
              <a:rPr dirty="0" err="1"/>
              <a:t>팔로업</a:t>
            </a:r>
            <a:r>
              <a:rPr dirty="0"/>
              <a:t> </a:t>
            </a:r>
            <a:r>
              <a:rPr dirty="0" err="1"/>
              <a:t>수행</a:t>
            </a:r>
            <a:endParaRPr dirty="0"/>
          </a:p>
          <a:p>
            <a:r>
              <a:rPr dirty="0" err="1"/>
              <a:t>행사</a:t>
            </a:r>
            <a:r>
              <a:rPr dirty="0"/>
              <a:t> </a:t>
            </a:r>
            <a:r>
              <a:rPr dirty="0" err="1"/>
              <a:t>홍보는</a:t>
            </a:r>
            <a:r>
              <a:rPr dirty="0"/>
              <a:t> </a:t>
            </a:r>
            <a:r>
              <a:rPr dirty="0" err="1"/>
              <a:t>최소</a:t>
            </a:r>
            <a:r>
              <a:rPr dirty="0"/>
              <a:t> 2개월 </a:t>
            </a:r>
            <a:r>
              <a:rPr dirty="0" err="1"/>
              <a:t>전부터</a:t>
            </a:r>
            <a:r>
              <a:rPr dirty="0"/>
              <a:t> </a:t>
            </a:r>
            <a:r>
              <a:rPr dirty="0" err="1"/>
              <a:t>티저</a:t>
            </a:r>
            <a:r>
              <a:rPr dirty="0"/>
              <a:t> → Save the Date → </a:t>
            </a:r>
            <a:r>
              <a:rPr dirty="0" err="1"/>
              <a:t>초청장</a:t>
            </a:r>
            <a:r>
              <a:rPr dirty="0"/>
              <a:t> → </a:t>
            </a:r>
            <a:r>
              <a:rPr dirty="0" err="1"/>
              <a:t>리마인더</a:t>
            </a:r>
            <a:r>
              <a:rPr dirty="0"/>
              <a:t> 순</a:t>
            </a:r>
          </a:p>
          <a:p>
            <a:r>
              <a:rPr dirty="0" err="1"/>
              <a:t>영업의</a:t>
            </a:r>
            <a:r>
              <a:rPr dirty="0"/>
              <a:t> </a:t>
            </a:r>
            <a:r>
              <a:rPr dirty="0" err="1"/>
              <a:t>인편</a:t>
            </a:r>
            <a:r>
              <a:rPr dirty="0"/>
              <a:t> </a:t>
            </a:r>
            <a:r>
              <a:rPr dirty="0" err="1"/>
              <a:t>초청과</a:t>
            </a:r>
            <a:r>
              <a:rPr dirty="0"/>
              <a:t> </a:t>
            </a:r>
            <a:r>
              <a:rPr dirty="0" err="1"/>
              <a:t>카카오·문자</a:t>
            </a:r>
            <a:r>
              <a:rPr dirty="0"/>
              <a:t> </a:t>
            </a:r>
            <a:r>
              <a:rPr dirty="0" err="1"/>
              <a:t>안내를</a:t>
            </a:r>
            <a:r>
              <a:rPr dirty="0"/>
              <a:t> </a:t>
            </a:r>
            <a:r>
              <a:rPr dirty="0" err="1"/>
              <a:t>병행하며</a:t>
            </a:r>
            <a:r>
              <a:rPr dirty="0"/>
              <a:t>, </a:t>
            </a:r>
            <a:r>
              <a:rPr dirty="0" err="1"/>
              <a:t>등록이</a:t>
            </a:r>
            <a:r>
              <a:rPr dirty="0"/>
              <a:t> </a:t>
            </a:r>
            <a:r>
              <a:rPr dirty="0" err="1"/>
              <a:t>행사</a:t>
            </a:r>
            <a:r>
              <a:rPr dirty="0"/>
              <a:t> </a:t>
            </a:r>
            <a:r>
              <a:rPr dirty="0" err="1"/>
              <a:t>하루</a:t>
            </a:r>
            <a:r>
              <a:rPr dirty="0"/>
              <a:t> </a:t>
            </a:r>
            <a:r>
              <a:rPr dirty="0" err="1"/>
              <a:t>전에</a:t>
            </a:r>
            <a:r>
              <a:rPr dirty="0"/>
              <a:t> </a:t>
            </a:r>
            <a:r>
              <a:rPr dirty="0" err="1"/>
              <a:t>집중</a:t>
            </a:r>
            <a:endParaRPr dirty="0"/>
          </a:p>
          <a:p>
            <a:r>
              <a:rPr dirty="0" err="1"/>
              <a:t>노쇼율은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약 20%, </a:t>
            </a:r>
            <a:r>
              <a:rPr dirty="0" err="1"/>
              <a:t>만족도는</a:t>
            </a:r>
            <a:r>
              <a:rPr dirty="0"/>
              <a:t> 5점 </a:t>
            </a:r>
            <a:r>
              <a:rPr dirty="0" err="1"/>
              <a:t>척도</a:t>
            </a:r>
            <a:r>
              <a:rPr dirty="0"/>
              <a:t>, </a:t>
            </a:r>
            <a:r>
              <a:rPr dirty="0" err="1"/>
              <a:t>설문</a:t>
            </a:r>
            <a:r>
              <a:rPr dirty="0"/>
              <a:t> </a:t>
            </a:r>
            <a:r>
              <a:rPr dirty="0" err="1"/>
              <a:t>회수율은</a:t>
            </a:r>
            <a:r>
              <a:rPr dirty="0"/>
              <a:t> </a:t>
            </a:r>
            <a:r>
              <a:rPr dirty="0" err="1"/>
              <a:t>참석자의</a:t>
            </a:r>
            <a:r>
              <a:rPr dirty="0"/>
              <a:t> 약 20~30%</a:t>
            </a:r>
          </a:p>
          <a:p>
            <a:r>
              <a:rPr dirty="0" err="1"/>
              <a:t>교육·수료</a:t>
            </a:r>
            <a:r>
              <a:rPr dirty="0"/>
              <a:t> </a:t>
            </a:r>
            <a:r>
              <a:rPr dirty="0" err="1"/>
              <a:t>이력은</a:t>
            </a:r>
            <a:r>
              <a:rPr dirty="0"/>
              <a:t> </a:t>
            </a:r>
            <a:r>
              <a:rPr dirty="0" err="1"/>
              <a:t>수동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. </a:t>
            </a:r>
            <a:r>
              <a:rPr dirty="0" err="1"/>
              <a:t>상담</a:t>
            </a:r>
            <a:r>
              <a:rPr dirty="0"/>
              <a:t> </a:t>
            </a:r>
            <a:r>
              <a:rPr dirty="0" err="1"/>
              <a:t>관심</a:t>
            </a:r>
            <a:r>
              <a:rPr dirty="0"/>
              <a:t> </a:t>
            </a:r>
            <a:r>
              <a:rPr dirty="0" err="1"/>
              <a:t>고객은</a:t>
            </a:r>
            <a:r>
              <a:rPr dirty="0"/>
              <a:t> 7일 </a:t>
            </a:r>
            <a:r>
              <a:rPr dirty="0" err="1"/>
              <a:t>이내</a:t>
            </a:r>
            <a:r>
              <a:rPr dirty="0"/>
              <a:t>, </a:t>
            </a:r>
            <a:r>
              <a:rPr dirty="0" err="1"/>
              <a:t>수료증은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후 </a:t>
            </a:r>
            <a:r>
              <a:rPr dirty="0" err="1"/>
              <a:t>일주일</a:t>
            </a:r>
            <a:r>
              <a:rPr dirty="0"/>
              <a:t> </a:t>
            </a:r>
            <a:r>
              <a:rPr dirty="0" err="1"/>
              <a:t>이내</a:t>
            </a:r>
            <a:r>
              <a:rPr dirty="0"/>
              <a:t> </a:t>
            </a:r>
            <a:r>
              <a:rPr dirty="0" err="1"/>
              <a:t>처리</a:t>
            </a:r>
            <a:endParaRPr dirty="0"/>
          </a:p>
          <a:p>
            <a:r>
              <a:rPr dirty="0" err="1"/>
              <a:t>미등록자</a:t>
            </a:r>
            <a:r>
              <a:rPr dirty="0"/>
              <a:t> </a:t>
            </a:r>
            <a:r>
              <a:rPr dirty="0" err="1"/>
              <a:t>리마인드와</a:t>
            </a:r>
            <a:r>
              <a:rPr dirty="0"/>
              <a:t> </a:t>
            </a:r>
            <a:r>
              <a:rPr dirty="0" err="1"/>
              <a:t>참석</a:t>
            </a:r>
            <a:r>
              <a:rPr dirty="0"/>
              <a:t> 후 </a:t>
            </a:r>
            <a:r>
              <a:rPr dirty="0" err="1"/>
              <a:t>설문·피드백</a:t>
            </a:r>
            <a:r>
              <a:rPr dirty="0"/>
              <a:t> </a:t>
            </a:r>
            <a:r>
              <a:rPr dirty="0" err="1"/>
              <a:t>취합을</a:t>
            </a:r>
            <a:r>
              <a:rPr dirty="0"/>
              <a:t> </a:t>
            </a:r>
            <a:r>
              <a:rPr dirty="0" err="1"/>
              <a:t>자동화해</a:t>
            </a:r>
            <a:r>
              <a:rPr dirty="0"/>
              <a:t> </a:t>
            </a:r>
            <a:r>
              <a:rPr dirty="0" err="1"/>
              <a:t>누락·수작업</a:t>
            </a:r>
            <a:r>
              <a:rPr dirty="0"/>
              <a:t> </a:t>
            </a:r>
            <a:r>
              <a:rPr dirty="0" err="1"/>
              <a:t>축소</a:t>
            </a:r>
            <a:endParaRPr dirty="0"/>
          </a:p>
          <a:p>
            <a:r>
              <a:rPr dirty="0" err="1"/>
              <a:t>고객별</a:t>
            </a:r>
            <a:r>
              <a:rPr dirty="0"/>
              <a:t> </a:t>
            </a:r>
            <a:r>
              <a:rPr dirty="0" err="1"/>
              <a:t>코스·수료·자격·티어·행사</a:t>
            </a:r>
            <a:r>
              <a:rPr dirty="0"/>
              <a:t> </a:t>
            </a:r>
            <a:r>
              <a:rPr dirty="0" err="1"/>
              <a:t>이력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, </a:t>
            </a:r>
            <a:r>
              <a:rPr dirty="0" err="1"/>
              <a:t>노쇼</a:t>
            </a:r>
            <a:r>
              <a:rPr dirty="0"/>
              <a:t> </a:t>
            </a:r>
            <a:r>
              <a:rPr dirty="0" err="1"/>
              <a:t>감소와</a:t>
            </a:r>
            <a:r>
              <a:rPr dirty="0"/>
              <a:t> </a:t>
            </a:r>
            <a:r>
              <a:rPr dirty="0" err="1"/>
              <a:t>설문</a:t>
            </a:r>
            <a:r>
              <a:rPr dirty="0"/>
              <a:t> </a:t>
            </a:r>
            <a:r>
              <a:rPr dirty="0" err="1"/>
              <a:t>회수율·만족도</a:t>
            </a:r>
            <a:r>
              <a:rPr dirty="0"/>
              <a:t> </a:t>
            </a:r>
            <a:r>
              <a:rPr dirty="0" err="1"/>
              <a:t>향상</a:t>
            </a:r>
            <a:endParaRPr dirty="0"/>
          </a:p>
          <a:p>
            <a:r>
              <a:rPr dirty="0"/>
              <a:t>[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검토</a:t>
            </a:r>
            <a:r>
              <a:rPr dirty="0"/>
              <a:t>] </a:t>
            </a:r>
            <a:r>
              <a:rPr dirty="0" err="1"/>
              <a:t>등록·참석·설문</a:t>
            </a:r>
            <a:r>
              <a:rPr dirty="0"/>
              <a:t> </a:t>
            </a:r>
            <a:r>
              <a:rPr dirty="0" err="1"/>
              <a:t>응답</a:t>
            </a:r>
            <a:r>
              <a:rPr dirty="0"/>
              <a:t> </a:t>
            </a:r>
            <a:r>
              <a:rPr dirty="0" err="1"/>
              <a:t>여부에</a:t>
            </a:r>
            <a:r>
              <a:rPr dirty="0"/>
              <a:t> </a:t>
            </a:r>
            <a:r>
              <a:rPr dirty="0" err="1"/>
              <a:t>따른</a:t>
            </a:r>
            <a:r>
              <a:rPr dirty="0"/>
              <a:t> </a:t>
            </a:r>
            <a:r>
              <a:rPr dirty="0" err="1"/>
              <a:t>분기</a:t>
            </a:r>
            <a:r>
              <a:rPr dirty="0"/>
              <a:t>, </a:t>
            </a:r>
            <a:r>
              <a:rPr dirty="0" err="1"/>
              <a:t>후속</a:t>
            </a:r>
            <a:r>
              <a:rPr dirty="0"/>
              <a:t> </a:t>
            </a:r>
            <a:r>
              <a:rPr dirty="0" err="1"/>
              <a:t>안내와</a:t>
            </a:r>
            <a:r>
              <a:rPr dirty="0"/>
              <a:t> KPI </a:t>
            </a:r>
            <a:r>
              <a:rPr dirty="0" err="1"/>
              <a:t>정의</a:t>
            </a:r>
            <a:endParaRPr dirty="0"/>
          </a:p>
          <a:p>
            <a:r>
              <a:rPr dirty="0"/>
              <a:t>[</a:t>
            </a:r>
            <a:r>
              <a:rPr dirty="0" err="1"/>
              <a:t>솔타·개발</a:t>
            </a:r>
            <a:r>
              <a:rPr dirty="0"/>
              <a:t> </a:t>
            </a:r>
            <a:r>
              <a:rPr dirty="0" err="1"/>
              <a:t>협의</a:t>
            </a:r>
            <a:r>
              <a:rPr dirty="0"/>
              <a:t>] </a:t>
            </a:r>
            <a:r>
              <a:rPr dirty="0" err="1"/>
              <a:t>등록·현장</a:t>
            </a:r>
            <a:r>
              <a:rPr dirty="0"/>
              <a:t> </a:t>
            </a:r>
            <a:r>
              <a:rPr dirty="0" err="1"/>
              <a:t>참석·설문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수집</a:t>
            </a:r>
            <a:r>
              <a:rPr dirty="0"/>
              <a:t> 및 Salesforce </a:t>
            </a:r>
            <a:r>
              <a:rPr dirty="0" err="1"/>
              <a:t>전달</a:t>
            </a:r>
            <a:r>
              <a:rPr dirty="0"/>
              <a:t> </a:t>
            </a:r>
            <a:r>
              <a:rPr dirty="0" err="1"/>
              <a:t>방식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  <a:p>
            <a:r>
              <a:rPr dirty="0" err="1"/>
              <a:t>교육</a:t>
            </a:r>
            <a:r>
              <a:rPr dirty="0"/>
              <a:t> </a:t>
            </a:r>
            <a:r>
              <a:rPr dirty="0" err="1"/>
              <a:t>이력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담당·기준</a:t>
            </a:r>
            <a:r>
              <a:rPr dirty="0"/>
              <a:t> </a:t>
            </a:r>
            <a:r>
              <a:rPr dirty="0" err="1"/>
              <a:t>결정</a:t>
            </a:r>
            <a:r>
              <a:rPr dirty="0"/>
              <a:t>, </a:t>
            </a:r>
            <a:r>
              <a:rPr dirty="0" err="1"/>
              <a:t>행사</a:t>
            </a:r>
            <a:r>
              <a:rPr dirty="0"/>
              <a:t> </a:t>
            </a:r>
            <a:r>
              <a:rPr dirty="0" err="1"/>
              <a:t>단계별</a:t>
            </a:r>
            <a:r>
              <a:rPr dirty="0"/>
              <a:t> </a:t>
            </a:r>
            <a:r>
              <a:rPr dirty="0" err="1"/>
              <a:t>분기의</a:t>
            </a:r>
            <a:r>
              <a:rPr dirty="0"/>
              <a:t> </a:t>
            </a:r>
            <a:r>
              <a:rPr dirty="0" err="1"/>
              <a:t>시나리오</a:t>
            </a:r>
            <a:r>
              <a:rPr dirty="0"/>
              <a:t> </a:t>
            </a:r>
            <a:r>
              <a:rPr dirty="0" err="1"/>
              <a:t>개수</a:t>
            </a:r>
            <a:r>
              <a:rPr dirty="0"/>
              <a:t> </a:t>
            </a:r>
            <a:r>
              <a:rPr dirty="0" err="1"/>
              <a:t>산정</a:t>
            </a:r>
            <a:r>
              <a:rPr dirty="0"/>
              <a:t> </a:t>
            </a:r>
            <a:r>
              <a:rPr dirty="0" err="1"/>
              <a:t>협의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마케팅 Q2-1~Q4-1, Q9~Q19</a:t>
            </a:r>
          </a:p>
          <a:p>
            <a:r>
              <a:t>과제는 인터뷰 기반 설계·내부 확인 검토안이며 구현 확정 사항이 아님.</a:t>
            </a:r>
          </a:p>
          <a:p>
            <a:r>
              <a:t>HCP 디지털 접점은 카카오 채널이 중심이며, SMS·이메일·우편·홈페이지·직접 접촉 병행</a:t>
            </a:r>
          </a:p>
          <a:p>
            <a:r>
              <a:t>B2B·B2C 카카오 계정은 분리 운영. 통합 홈페이지 내 HCP 로그인 후 학습 자료 다운로드</a:t>
            </a:r>
          </a:p>
          <a:p>
            <a:r>
              <a:t>학술 정보·교육 일정·세미나·객관적 임상 자료에 관심이 높음</a:t>
            </a:r>
          </a:p>
          <a:p>
            <a:r>
              <a:t>백서는 우편 발송, 뉴스레터는 PDF·영상·링크 활용. 홍보 자료는 영업이 요청 시 전달</a:t>
            </a:r>
          </a:p>
          <a:p>
            <a:r>
              <a:t>HCP 디자인 에셋의 주된 협의 창구는 디지털마케팅 담당자</a:t>
            </a:r>
          </a:p>
          <a:p>
            <a:r>
              <a:t>짧은 메시지는 카카오, 긴 뉴스레터 등은 이메일로 메시지 특성에 맞게 운영</a:t>
            </a:r>
          </a:p>
          <a:p>
            <a:r>
              <a:t>자료·교육 신청 CTA로 반응 수집 후 다음 콘텐츠 연결, 제품·직군·교육 이력별 차별화</a:t>
            </a:r>
          </a:p>
          <a:p>
            <a:r>
              <a:t>[설계 검토] 시나리오별 채널, 메시지, CTA, 랜딩 및 후속 분기 정의</a:t>
            </a:r>
          </a:p>
          <a:p>
            <a:r>
              <a:t>[솔타 확인] 활용 가능한 에셋·심의 완료 콘텐츠 제공과 신규 제작 범위·담당 결정</a:t>
            </a:r>
          </a:p>
          <a:p>
            <a:r>
              <a:t>수신 동의·채널별 발송 가능 조건 확인, 콘텐츠 제작 일정에 심의 기간 반영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마케팅 Q4~Q4-5, Q20~Q23</a:t>
            </a:r>
          </a:p>
          <a:p>
            <a:r>
              <a:t>과제는 인터뷰 기반 설계·내부 확인 검토안이며 구현 확정 사항이 아님.</a:t>
            </a:r>
          </a:p>
          <a:p>
            <a:r>
              <a:t>이벤트·광고·홈페이지 리드폼으로 고객 정보와 수신 동의를 수집해 웹사이트 DB에 저장</a:t>
            </a:r>
          </a:p>
          <a:p>
            <a:r>
              <a:t>웹사이트 DB 내 B2B·B2C는 구분되어 있으나 Data Cloud와는 미연동</a:t>
            </a:r>
          </a:p>
          <a:p>
            <a:r>
              <a:t>카카오 열람률 등은 확인하지만 보유 고객 데이터와 연결되지 않음</a:t>
            </a:r>
          </a:p>
          <a:p>
            <a:r>
              <a:t>수신 동의 고객은 약 300~400명. 다음 해 초 1,000명 이상 목표, 1,700명 확보 필요성 언급</a:t>
            </a:r>
          </a:p>
          <a:p>
            <a:r>
              <a:t>발송·반응, 교육·행사, 팁 구매, 업셀·크로스셀 및 리텐션 성과를 관리하고자 함</a:t>
            </a:r>
          </a:p>
          <a:p>
            <a:r>
              <a:t>웹사이트·카카오 접점과 Salesforce 거래 데이터를 연결해 세그먼트별 타겟팅</a:t>
            </a:r>
          </a:p>
          <a:p>
            <a:r>
              <a:t>고객별 자료 신청·교육·행사·설문·반응 이력 누적, 상담·방문 요청을 영업 담당자와 연결</a:t>
            </a:r>
          </a:p>
          <a:p>
            <a:r>
              <a:t>[설계 검토] 필수 데이터, 고객 식별·동의 요건, 반응 이벤트와 KPI 정의</a:t>
            </a:r>
          </a:p>
          <a:p>
            <a:r>
              <a:t>[솔타·개발 협의] 웹사이트–Salesforce 고객 매칭, 동의 전달·갱신 및 거래 데이터 확인</a:t>
            </a:r>
          </a:p>
          <a:p>
            <a:r>
              <a:t>소모품 구매 데이터 확보 경로와 고객 컬럼 샘플 확인, 데이터 입력·연동 R&amp;R 협의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마케팅 Q24~Q24-5, S1~S10</a:t>
            </a:r>
          </a:p>
          <a:p>
            <a:r>
              <a:t>과제는 인터뷰 기반 설계·내부 확인 검토안이며 구현 확정 사항이 아님.</a:t>
            </a:r>
          </a:p>
          <a:p>
            <a:r>
              <a:t>계약상 구축 시나리오는 총 3개이며, 구체적인 시나리오는 미확정</a:t>
            </a:r>
          </a:p>
          <a:p>
            <a:r>
              <a:t>마케팅은 내부적으로 약 20~30개 캠페인을 구상했으나 개수 제한은 사전에 공유받지 못함</a:t>
            </a:r>
          </a:p>
          <a:p>
            <a:r>
              <a:t>리텐션을 우선해야 한다는 의견과 행사 자동화의 운영 효율이 중요하다는 의견이 함께 제시</a:t>
            </a:r>
          </a:p>
          <a:p>
            <a:r>
              <a:t>인터뷰 당시 HCP·소비자 배분을 논의했으나 원문 후속 메모상 B2C는 제외, HCP만 해당</a:t>
            </a:r>
          </a:p>
          <a:p>
            <a:r>
              <a:t>솔타가 비즈니스 우선순위를 결정하고 밀버스가 설계 문서를 작성, Accenture가 개발</a:t>
            </a:r>
          </a:p>
          <a:p>
            <a:r>
              <a:t>수작업이 많고 자동화 효과가 큰 캠페인을 우선 적용</a:t>
            </a:r>
          </a:p>
          <a:p>
            <a:r>
              <a:t>경영진·유관 부서 협의를 통해 3개 선정, 프로젝트 이후 추가 시나리오 운영·교육 범위 확인</a:t>
            </a:r>
          </a:p>
          <a:p>
            <a:r>
              <a:t>[설계 검토] 후보별 목적·대상·데이터 준비도·콘텐츠·심의 소요·효과 비교</a:t>
            </a:r>
          </a:p>
          <a:p>
            <a:r>
              <a:t>[솔타 결정] 최종 3개 시나리오와 시작·종료·분기 범위 확정</a:t>
            </a:r>
          </a:p>
          <a:p>
            <a:r>
              <a:t>추가 시나리오 자체 운영·별도 프로젝트 여부, 교육·라이선스 및 전체 일정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세일즈 Q2~Q9-1, Q11, Q15~Q16</a:t>
            </a:r>
          </a:p>
          <a:p>
            <a:r>
              <a:t>과제는 인터뷰 기반 설계·내부 확인 검토안이며 구현 확정 사항이 아님.</a:t>
            </a:r>
          </a:p>
          <a:p>
            <a:r>
              <a:t>영업팀 약 20명이 Sales Cloud 사용. Account는 모두 등록, 담당자가 계정·활동 직접 입력</a:t>
            </a:r>
          </a:p>
          <a:p>
            <a:r>
              <a:t>주요 기능은 Opportunity·Task·Contact이며, 주간 보고와 데모·교육·콜 수 KPI 관리</a:t>
            </a:r>
          </a:p>
          <a:p>
            <a:r>
              <a:t>장비 판매는 초기·데모·클로징 단계를 기록. 주문 이전부터 Opportunity 생성</a:t>
            </a:r>
          </a:p>
          <a:p>
            <a:r>
              <a:t>Closed Won은 계약 완료·주문, Closed Lost는 실패로 관리. 일별 활동은 Account별 Task 입력</a:t>
            </a:r>
          </a:p>
          <a:p>
            <a:r>
              <a:t>리드 상세는 엑셀로 별도 관리하며 영업팀·CO팀의 고객 엑셀도 아직 정리되지 않음</a:t>
            </a:r>
          </a:p>
          <a:p>
            <a:r>
              <a:t>엑셀로 분산 관리하는 고객·영업 정보를 Salesforce로 통합</a:t>
            </a:r>
          </a:p>
          <a:p>
            <a:r>
              <a:t>영업 진행 사항과 고객 정보를 일관되게 확인하고 마케팅 요청을 후속 영업으로 연결</a:t>
            </a:r>
          </a:p>
          <a:p>
            <a:r>
              <a:t>[설계 검토] 마케팅 리드와 Account·Contact·Opportunity 연결 흐름 확인</a:t>
            </a:r>
          </a:p>
          <a:p>
            <a:r>
              <a:t>상담·데모 요청의 전달 정보와 영업 팔로업 조건 정의</a:t>
            </a:r>
          </a:p>
          <a:p>
            <a:r>
              <a:t>[솔타 확인] 고객 파일 매칭·입력 기준 정리, 업무상 리드와 Lead 오브젝트 사용 여부 구분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세일즈 Q5, Q7, Q10, Q12~Q13, Q17</a:t>
            </a:r>
          </a:p>
          <a:p>
            <a:r>
              <a:t>과제는 인터뷰 기반 설계·내부 확인 검토안이며 구현 확정 사항이 아님.</a:t>
            </a:r>
          </a:p>
          <a:p>
            <a:r>
              <a:t>제품군은 일부 구분되어 있으나 매출·금액은 엑셀로 별도 관리</a:t>
            </a:r>
          </a:p>
          <a:p>
            <a:r>
              <a:t>계정에 매출이 연결되지 않아 Salesforce는 주로 활동 추적에 활용</a:t>
            </a:r>
          </a:p>
          <a:p>
            <a:r>
              <a:t>소모품 매출은 총판을 통해 받으며 Salesforce에는 없음</a:t>
            </a:r>
          </a:p>
          <a:p>
            <a:r>
              <a:t>APAC 공용 org의 계정·담당자 구성이 KR과 맞지 않아 지역·담당자별 정렬이 불편</a:t>
            </a:r>
          </a:p>
          <a:p>
            <a:r>
              <a:t>SFDC–D365는 일부 연동된 것으로 알지만 정확한 범위는 모름. 영업팀은 D365 권한 없음</a:t>
            </a:r>
          </a:p>
          <a:p>
            <a:r>
              <a:t>담당자별·거래처별 매출 확인이 최우선이며 리드·Opportunity의 예상 매출 확인 희망</a:t>
            </a:r>
          </a:p>
          <a:p>
            <a:r>
              <a:t>별도 엑셀 보고를 줄이고 KR 지역·담당자 기준으로 거래처를 편리하게 조회</a:t>
            </a:r>
          </a:p>
          <a:p>
            <a:r>
              <a:t>[설계 검토] 재구매·업셀·윈백에 필요한 거래 항목과 데이터 선행 조건 정리</a:t>
            </a:r>
          </a:p>
          <a:p>
            <a:r>
              <a:t>[솔타·CO·개발 협의] 총판 데이터 제공 수준, 원천 시스템 및 SFDC–D365 연동 범위 확인</a:t>
            </a:r>
          </a:p>
          <a:p>
            <a:r>
              <a:t>KR 거래처·담당자·지역 매핑 검토. 매출 대시보드는 별도 구현 범위·담당 협의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RA/QA Q2~Q5. 해당 제품에 관한 인터뷰 답변이며 일반 법률 기준으로 확장하지 않음.</a:t>
            </a:r>
          </a:p>
          <a:p>
            <a:r>
              <a:t>과제는 인터뷰 기반 설계·내부 확인 검토안이며 구현 확정 사항이 아님.</a:t>
            </a:r>
          </a:p>
          <a:p>
            <a:r>
              <a:t>이메일·카카오톡·문자 발송물은 심의 대상이며 문안·이미지·디자인을 함께 검토</a:t>
            </a:r>
          </a:p>
          <a:p>
            <a:r>
              <a:t>인터뷰상 사용 목적은 콜라겐 재생에 따른 안면·눈가 주름 개선</a:t>
            </a:r>
          </a:p>
          <a:p>
            <a:r>
              <a:t>사용 불가 표현 예시로 바디 관련 표현과 주름 개선이 아닌 “탄력” 등을 제시</a:t>
            </a:r>
          </a:p>
          <a:p>
            <a:r>
              <a:t>개인 정보는 심의에서 보지 않으며 가림 처리하기도 함. 고객명 변경마다 재심의 불필요</a:t>
            </a:r>
          </a:p>
          <a:p>
            <a:r>
              <a:t>심의 번호 표기 위치는 정해져 있지 않다고 답변</a:t>
            </a:r>
          </a:p>
          <a:p>
            <a:r>
              <a:t>[반영 요건] 해당 제품 허가 범위와 표현 가이드에 맞는 콘텐츠 작성</a:t>
            </a:r>
          </a:p>
          <a:p>
            <a:r>
              <a:t>고객명 등 개인화 정보와 광고 문구·제품·디자인 변경을 구분하여 검토</a:t>
            </a:r>
          </a:p>
          <a:p>
            <a:r>
              <a:t>[설계 검토] 채널별 메시지에 허가 범위·표현 제한 반영, 개인화·고정 문안 구분</a:t>
            </a:r>
          </a:p>
          <a:p>
            <a:r>
              <a:t>[솔타 확인] 제공된 사용 목적·주의 문구 원문을 기준으로 실제 문안 검토</a:t>
            </a:r>
          </a:p>
          <a:p>
            <a:r>
              <a:t>제품·혜택·표현·디자인 변경 시 재검토 기준 및 심의 번호 표기 방식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제공된 세 인터뷰 초안 및 통합 Markdown 결과 보고 초안의 SUMMARY. 과제는 검토안이며 총 3개 시나리오와 동일한 개수의 항목이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마케팅 Q20~Q24, S1~S10 / 세일즈 Q7,Q10,Q12~Q14,Q17 / RAQA Q6~Q7. 일정은 인터뷰 설명과 프로젝트 문서가 달라 확정 날짜를 제시하지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5 - Graphic Footer - 3 Column" userDrawn="1">
  <p:cSld name="B5 - Graphic Footer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p69">
            <a:extLst>
              <a:ext uri="{FF2B5EF4-FFF2-40B4-BE49-F238E27FC236}">
                <a16:creationId xmlns:a16="http://schemas.microsoft.com/office/drawing/2014/main" id="{C0CAAB26-05D7-4156-B55E-95F789C3DC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-9673"/>
          <a:stretch/>
        </p:blipFill>
        <p:spPr>
          <a:xfrm>
            <a:off x="10716123" y="5634948"/>
            <a:ext cx="1476000" cy="1223050"/>
          </a:xfrm>
          <a:prstGeom prst="rect">
            <a:avLst/>
          </a:prstGeom>
          <a:ln>
            <a:noFill/>
          </a:ln>
        </p:spPr>
      </p:pic>
      <p:sp>
        <p:nvSpPr>
          <p:cNvPr id="684" name="Google Shape;684;p69">
            <a:extLst>
              <a:ext uri="{FF2B5EF4-FFF2-40B4-BE49-F238E27FC236}">
                <a16:creationId xmlns:a16="http://schemas.microsoft.com/office/drawing/2014/main" id="{E7600827-5D4E-4EC5-9C3A-BBB7CFDF5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31233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marR="0" indent="-35560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KR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1pPr>
            <a:lvl2pPr marL="914400" marR="0" indent="-342900" algn="l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KR"/>
              <a:buChar char="○"/>
              <a:defRPr sz="18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2pPr>
            <a:lvl3pPr marL="1371600" marR="0" indent="-330200" algn="l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KR"/>
              <a:buChar char="■"/>
              <a:defRPr sz="16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3pPr>
            <a:lvl4pPr marL="1828800" marR="0" indent="-317500" algn="l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KR"/>
              <a:buChar char="●"/>
              <a:defRPr sz="14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4pPr>
            <a:lvl5pPr marL="2286000" marR="0" indent="-317500" algn="l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5pPr>
            <a:lvl6pPr marL="2743200" marR="0" indent="-355600" algn="l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6pPr>
            <a:lvl7pPr marL="3200400" marR="0" indent="-355600" algn="l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7pPr>
            <a:lvl8pPr marL="3657600" marR="0" indent="-355600" algn="l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8pPr>
            <a:lvl9pPr marL="4114800" marR="0" indent="-355600" algn="l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endParaRPr/>
          </a:p>
        </p:txBody>
      </p:sp>
      <p:sp>
        <p:nvSpPr>
          <p:cNvPr id="685" name="Google Shape;685;p69">
            <a:extLst>
              <a:ext uri="{FF2B5EF4-FFF2-40B4-BE49-F238E27FC236}">
                <a16:creationId xmlns:a16="http://schemas.microsoft.com/office/drawing/2014/main" id="{9291E85D-EE78-474A-915D-91B9DDCDC06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258312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marR="0" indent="-35560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KR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1pPr>
            <a:lvl2pPr marL="914400" marR="0" indent="-342900" algn="l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KR"/>
              <a:buChar char="○"/>
              <a:defRPr sz="18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2pPr>
            <a:lvl3pPr marL="1371600" marR="0" indent="-330200" algn="l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KR"/>
              <a:buChar char="■"/>
              <a:defRPr sz="16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3pPr>
            <a:lvl4pPr marL="1828800" marR="0" indent="-317500" algn="l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KR"/>
              <a:buChar char="●"/>
              <a:defRPr sz="14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4pPr>
            <a:lvl5pPr marL="2286000" marR="0" indent="-317500" algn="l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5pPr>
            <a:lvl6pPr marL="2743200" marR="0" indent="-355600" algn="l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6pPr>
            <a:lvl7pPr marL="3200400" marR="0" indent="-355600" algn="l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7pPr>
            <a:lvl8pPr marL="3657600" marR="0" indent="-355600" algn="l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8pPr>
            <a:lvl9pPr marL="4114800" marR="0" indent="-355600" algn="l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endParaRPr/>
          </a:p>
        </p:txBody>
      </p:sp>
      <p:sp>
        <p:nvSpPr>
          <p:cNvPr id="686" name="Google Shape;686;p69">
            <a:extLst>
              <a:ext uri="{FF2B5EF4-FFF2-40B4-BE49-F238E27FC236}">
                <a16:creationId xmlns:a16="http://schemas.microsoft.com/office/drawing/2014/main" id="{25F13029-541F-4084-BD8B-1F061DDCA35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85391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marR="0" indent="-35560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KR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1pPr>
            <a:lvl2pPr marL="914400" marR="0" indent="-342900" algn="l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KR"/>
              <a:buChar char="○"/>
              <a:defRPr sz="18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2pPr>
            <a:lvl3pPr marL="1371600" marR="0" indent="-330200" algn="l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KR"/>
              <a:buChar char="■"/>
              <a:defRPr sz="16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3pPr>
            <a:lvl4pPr marL="1828800" marR="0" indent="-317500" algn="l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KR"/>
              <a:buChar char="●"/>
              <a:defRPr sz="1400" b="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4pPr>
            <a:lvl5pPr marL="2286000" marR="0" indent="-317500" algn="l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5pPr>
            <a:lvl6pPr marL="2743200" marR="0" indent="-355600" algn="l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6pPr>
            <a:lvl7pPr marL="3200400" marR="0" indent="-355600" algn="l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7pPr>
            <a:lvl8pPr marL="3657600" marR="0" indent="-355600" algn="l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8pPr>
            <a:lvl9pPr marL="4114800" marR="0" indent="-355600" algn="l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Noto Sans KR"/>
                <a:ea typeface="Noto Sans KR"/>
                <a:cs typeface="Noto Sans KR"/>
              </a:defRPr>
            </a:lvl9pPr>
          </a:lstStyle>
          <a:p>
            <a:endParaRPr/>
          </a:p>
        </p:txBody>
      </p:sp>
      <p:pic>
        <p:nvPicPr>
          <p:cNvPr id="687" name="Google Shape;687;p69">
            <a:extLst>
              <a:ext uri="{FF2B5EF4-FFF2-40B4-BE49-F238E27FC236}">
                <a16:creationId xmlns:a16="http://schemas.microsoft.com/office/drawing/2014/main" id="{629875F8-CA88-4A91-A79C-8737D5B15E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26078" y="580990"/>
            <a:ext cx="525274" cy="367664"/>
          </a:xfrm>
          <a:prstGeom prst="rect">
            <a:avLst/>
          </a:prstGeom>
          <a:ln>
            <a:noFill/>
          </a:ln>
        </p:spPr>
      </p:pic>
      <p:sp>
        <p:nvSpPr>
          <p:cNvPr id="689" name="Google Shape;689;p69">
            <a:extLst>
              <a:ext uri="{FF2B5EF4-FFF2-40B4-BE49-F238E27FC236}">
                <a16:creationId xmlns:a16="http://schemas.microsoft.com/office/drawing/2014/main" id="{9B8598FA-41E6-408E-BA97-70DA7D63E38F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576231" y="1089004"/>
            <a:ext cx="10399508" cy="5760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1600">
                <a:solidFill>
                  <a:srgbClr val="0072BC"/>
                </a:solidFill>
                <a:latin typeface="Noto Sans KR"/>
                <a:ea typeface="Noto Sans KR"/>
                <a:cs typeface="Noto Sans KR"/>
              </a:defRPr>
            </a:lvl1pPr>
            <a:lvl2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2pPr>
            <a:lvl3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3pPr>
            <a:lvl4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4pPr>
            <a:lvl5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5pPr>
            <a:lvl6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6pPr>
            <a:lvl7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7pPr>
            <a:lvl8pPr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8pPr>
            <a:lvl9pPr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pic>
        <p:nvPicPr>
          <p:cNvPr id="690" name="Google Shape;690;p69">
            <a:extLst>
              <a:ext uri="{FF2B5EF4-FFF2-40B4-BE49-F238E27FC236}">
                <a16:creationId xmlns:a16="http://schemas.microsoft.com/office/drawing/2014/main" id="{D22F5FB1-2C64-4EED-AC4B-2CEBA80067C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83324" y="6246884"/>
            <a:ext cx="223446" cy="223388"/>
          </a:xfrm>
          <a:prstGeom prst="rect">
            <a:avLst/>
          </a:prstGeom>
          <a:ln>
            <a:noFill/>
          </a:ln>
        </p:spPr>
      </p:pic>
      <p:sp>
        <p:nvSpPr>
          <p:cNvPr id="691" name="Google Shape;691;p69">
            <a:extLst>
              <a:ext uri="{FF2B5EF4-FFF2-40B4-BE49-F238E27FC236}">
                <a16:creationId xmlns:a16="http://schemas.microsoft.com/office/drawing/2014/main" id="{A9369C24-1363-41F1-B97F-498C921A8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28" y="-6730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KR"/>
              <a:buNone/>
              <a:defRPr sz="3200" b="1" i="0">
                <a:solidFill>
                  <a:srgbClr val="0072B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KR"/>
              <a:buNone/>
              <a:defRPr b="1">
                <a:latin typeface="Noto Sans KR"/>
                <a:ea typeface="Noto Sans KR"/>
                <a:cs typeface="Noto Sans KR"/>
              </a:defRPr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KR"/>
              <a:buNone/>
              <a:defRPr b="1">
                <a:latin typeface="Noto Sans KR"/>
                <a:ea typeface="Noto Sans KR"/>
                <a:cs typeface="Noto Sans KR"/>
              </a:defRPr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KR"/>
              <a:buNone/>
              <a:defRPr b="1">
                <a:latin typeface="Noto Sans KR"/>
                <a:ea typeface="Noto Sans KR"/>
                <a:cs typeface="Noto Sans KR"/>
              </a:defRPr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KR"/>
              <a:buNone/>
              <a:defRPr b="1">
                <a:latin typeface="Noto Sans KR"/>
                <a:ea typeface="Noto Sans KR"/>
                <a:cs typeface="Noto Sans KR"/>
              </a:defRPr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KR"/>
              <a:buNone/>
              <a:defRPr b="1">
                <a:latin typeface="Noto Sans KR"/>
                <a:ea typeface="Noto Sans KR"/>
                <a:cs typeface="Noto Sans KR"/>
              </a:defRPr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KR"/>
              <a:buNone/>
              <a:defRPr b="1">
                <a:latin typeface="Noto Sans KR"/>
                <a:ea typeface="Noto Sans KR"/>
                <a:cs typeface="Noto Sans KR"/>
              </a:defRPr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KR"/>
              <a:buNone/>
              <a:defRPr b="1">
                <a:latin typeface="Noto Sans KR"/>
                <a:ea typeface="Noto Sans KR"/>
                <a:cs typeface="Noto Sans KR"/>
              </a:defRPr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KR"/>
              <a:buNone/>
              <a:defRPr b="1">
                <a:latin typeface="Noto Sans KR"/>
                <a:ea typeface="Noto Sans KR"/>
                <a:cs typeface="Noto Sans KR"/>
              </a:defRPr>
            </a:lvl9pPr>
          </a:lstStyle>
          <a:p>
            <a:endParaRPr/>
          </a:p>
        </p:txBody>
      </p:sp>
      <p:pic>
        <p:nvPicPr>
          <p:cNvPr id="2" name="Google Shape;923;p1">
            <a:extLst>
              <a:ext uri="{FF2B5EF4-FFF2-40B4-BE49-F238E27FC236}">
                <a16:creationId xmlns:a16="http://schemas.microsoft.com/office/drawing/2014/main" id="{6DFCD468-E3DC-406D-8850-882BA95BFFC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66947" y="580990"/>
            <a:ext cx="939823" cy="26806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6 - Thank You">
  <p:cSld name="N6 - Thank You">
    <p:bg>
      <p:bgPr>
        <a:solidFill>
          <a:srgbClr val="CF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7">
            <a:extLst>
              <a:ext uri="{FF2B5EF4-FFF2-40B4-BE49-F238E27FC236}">
                <a16:creationId xmlns:a16="http://schemas.microsoft.com/office/drawing/2014/main" id="{36D3D116-114A-43AD-9900-C0C12C6D4368}"/>
              </a:ext>
            </a:extLst>
          </p:cNvPr>
          <p:cNvSpPr>
            <a:spLocks noGrp="1"/>
          </p:cNvSpPr>
          <p:nvPr/>
        </p:nvSpPr>
        <p:spPr>
          <a:xfrm>
            <a:off x="578607" y="2312975"/>
            <a:ext cx="5884532" cy="26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l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Font typeface="Noto Sans KR"/>
              <a:buNone/>
            </a:pPr>
            <a:r>
              <a:rPr sz="7500">
                <a:solidFill>
                  <a:schemeClr val="accent1"/>
                </a:solidFill>
                <a:latin typeface="Noto Sans KR"/>
                <a:ea typeface="Noto Sans KR"/>
                <a:cs typeface="Noto Sans KR"/>
              </a:rPr>
              <a:t>Thank you</a:t>
            </a:r>
          </a:p>
        </p:txBody>
      </p:sp>
      <p:sp>
        <p:nvSpPr>
          <p:cNvPr id="565" name="Google Shape;565;p57">
            <a:extLst>
              <a:ext uri="{FF2B5EF4-FFF2-40B4-BE49-F238E27FC236}">
                <a16:creationId xmlns:a16="http://schemas.microsoft.com/office/drawing/2014/main" id="{A7CFE277-15A4-4F56-8C95-5C8D6066004E}"/>
              </a:ext>
            </a:extLst>
          </p:cNvPr>
          <p:cNvSpPr>
            <a:spLocks noGrp="1"/>
          </p:cNvSpPr>
          <p:nvPr/>
        </p:nvSpPr>
        <p:spPr>
          <a:xfrm>
            <a:off x="5922178" y="4229412"/>
            <a:ext cx="414708" cy="2628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oto Sans KR"/>
              <a:ea typeface="Noto Sans KR"/>
              <a:cs typeface="Noto Sans KR"/>
            </a:endParaRPr>
          </a:p>
        </p:txBody>
      </p:sp>
      <p:pic>
        <p:nvPicPr>
          <p:cNvPr id="567" name="Google Shape;567;p57">
            <a:extLst>
              <a:ext uri="{FF2B5EF4-FFF2-40B4-BE49-F238E27FC236}">
                <a16:creationId xmlns:a16="http://schemas.microsoft.com/office/drawing/2014/main" id="{8C6A43BF-B276-4E6C-A089-A9C9154721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4" y="501624"/>
            <a:ext cx="6093859" cy="6352464"/>
          </a:xfrm>
          <a:prstGeom prst="rect">
            <a:avLst/>
          </a:prstGeom>
          <a:ln>
            <a:noFill/>
          </a:ln>
        </p:spPr>
      </p:pic>
      <p:pic>
        <p:nvPicPr>
          <p:cNvPr id="568" name="Google Shape;568;p57">
            <a:extLst>
              <a:ext uri="{FF2B5EF4-FFF2-40B4-BE49-F238E27FC236}">
                <a16:creationId xmlns:a16="http://schemas.microsoft.com/office/drawing/2014/main" id="{11CF7067-247A-4624-BF9C-5938B2B0A7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1853" y="501624"/>
            <a:ext cx="6093859" cy="6352464"/>
          </a:xfrm>
          <a:prstGeom prst="rect">
            <a:avLst/>
          </a:prstGeom>
          <a:ln>
            <a:noFill/>
          </a:ln>
        </p:spPr>
      </p:pic>
      <p:pic>
        <p:nvPicPr>
          <p:cNvPr id="569" name="Google Shape;569;p57">
            <a:extLst>
              <a:ext uri="{FF2B5EF4-FFF2-40B4-BE49-F238E27FC236}">
                <a16:creationId xmlns:a16="http://schemas.microsoft.com/office/drawing/2014/main" id="{0D40805C-D484-48C2-BB63-6FA29493D8B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2282" y="1734000"/>
            <a:ext cx="6140602" cy="4490352"/>
          </a:xfrm>
          <a:prstGeom prst="rect">
            <a:avLst/>
          </a:prstGeom>
          <a:ln>
            <a:noFill/>
          </a:ln>
        </p:spPr>
      </p:pic>
      <p:pic>
        <p:nvPicPr>
          <p:cNvPr id="570" name="Google Shape;570;p57">
            <a:extLst>
              <a:ext uri="{FF2B5EF4-FFF2-40B4-BE49-F238E27FC236}">
                <a16:creationId xmlns:a16="http://schemas.microsoft.com/office/drawing/2014/main" id="{28157F8F-B090-45DD-BDA3-0D92FA8C7E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0477" y="1275800"/>
            <a:ext cx="982440" cy="68770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bg>
      <p:bgPr>
        <a:solidFill>
          <a:srgbClr val="CF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7">
            <a:extLst>
              <a:ext uri="{FF2B5EF4-FFF2-40B4-BE49-F238E27FC236}">
                <a16:creationId xmlns:a16="http://schemas.microsoft.com/office/drawing/2014/main" id="{6A8F61A1-A7B9-4FE0-8522-B97D370BFC05}"/>
              </a:ext>
            </a:extLst>
          </p:cNvPr>
          <p:cNvSpPr>
            <a:spLocks noGrp="1"/>
          </p:cNvSpPr>
          <p:nvPr/>
        </p:nvSpPr>
        <p:spPr>
          <a:xfrm>
            <a:off x="5922178" y="4229412"/>
            <a:ext cx="414708" cy="2628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oto Sans KR"/>
              <a:ea typeface="Noto Sans KR"/>
              <a:cs typeface="Noto Sans KR"/>
            </a:endParaRPr>
          </a:p>
        </p:txBody>
      </p:sp>
      <p:pic>
        <p:nvPicPr>
          <p:cNvPr id="567" name="Google Shape;567;p57">
            <a:extLst>
              <a:ext uri="{FF2B5EF4-FFF2-40B4-BE49-F238E27FC236}">
                <a16:creationId xmlns:a16="http://schemas.microsoft.com/office/drawing/2014/main" id="{36D57829-0CA9-4F5E-B257-0E86B8F41D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4" y="501624"/>
            <a:ext cx="6093859" cy="6352464"/>
          </a:xfrm>
          <a:prstGeom prst="rect">
            <a:avLst/>
          </a:prstGeom>
          <a:ln>
            <a:noFill/>
          </a:ln>
        </p:spPr>
      </p:pic>
      <p:pic>
        <p:nvPicPr>
          <p:cNvPr id="568" name="Google Shape;568;p57">
            <a:extLst>
              <a:ext uri="{FF2B5EF4-FFF2-40B4-BE49-F238E27FC236}">
                <a16:creationId xmlns:a16="http://schemas.microsoft.com/office/drawing/2014/main" id="{D3FD96EC-4BB3-4DF6-AED3-72BF270BED4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1853" y="501624"/>
            <a:ext cx="6093859" cy="6352464"/>
          </a:xfrm>
          <a:prstGeom prst="rect">
            <a:avLst/>
          </a:prstGeom>
          <a:ln>
            <a:noFill/>
          </a:ln>
        </p:spPr>
      </p:pic>
      <p:pic>
        <p:nvPicPr>
          <p:cNvPr id="569" name="Google Shape;569;p57">
            <a:extLst>
              <a:ext uri="{FF2B5EF4-FFF2-40B4-BE49-F238E27FC236}">
                <a16:creationId xmlns:a16="http://schemas.microsoft.com/office/drawing/2014/main" id="{BDE0B495-8783-4926-8012-EADECEDCCBE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2282" y="1734000"/>
            <a:ext cx="6140602" cy="4490352"/>
          </a:xfrm>
          <a:prstGeom prst="rect">
            <a:avLst/>
          </a:prstGeom>
          <a:ln>
            <a:noFill/>
          </a:ln>
        </p:spPr>
      </p:pic>
      <p:pic>
        <p:nvPicPr>
          <p:cNvPr id="570" name="Google Shape;570;p57">
            <a:extLst>
              <a:ext uri="{FF2B5EF4-FFF2-40B4-BE49-F238E27FC236}">
                <a16:creationId xmlns:a16="http://schemas.microsoft.com/office/drawing/2014/main" id="{C1680782-13DE-4414-A8E8-BA9A79F83FE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0477" y="1275800"/>
            <a:ext cx="982440" cy="68770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D610E7-1D45-81D2-80DD-D327467B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5A0FB5-44D1-4FC8-9211-B7C92EE2F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9A887E-13EC-4E06-A085-EF9FE727550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fld id="{CA99D3F4-A9E9-6647-9687-B3F9E161E921}" type="datetimeFigureOut">
              <a:t>2026-10-15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68C298-1DD4-470F-F776-F5A88B3212A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4E1A3-80C9-4B20-FEA7-5F36E3FFFB7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fld id="{DC2E8705-8B15-1B46-BC9F-F7E0854FBA0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/>
          <a:ea typeface="Noto Sans KR"/>
          <a:cs typeface="Noto Sans KR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Noto Sans KR"/>
        <a:buChar char="•"/>
        <a:defRPr sz="2800" kern="1200">
          <a:solidFill>
            <a:schemeClr val="tx1"/>
          </a:solidFill>
          <a:latin typeface="Noto Sans KR"/>
          <a:ea typeface="Noto Sans KR"/>
          <a:cs typeface="Noto Sans KR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Noto Sans KR"/>
        <a:buChar char="•"/>
        <a:defRPr sz="2400" kern="1200">
          <a:solidFill>
            <a:schemeClr val="tx1"/>
          </a:solidFill>
          <a:latin typeface="Noto Sans KR"/>
          <a:ea typeface="Noto Sans KR"/>
          <a:cs typeface="Noto Sans KR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Noto Sans KR"/>
        <a:buChar char="•"/>
        <a:defRPr sz="2000" kern="1200">
          <a:solidFill>
            <a:schemeClr val="tx1"/>
          </a:solidFill>
          <a:latin typeface="Noto Sans KR"/>
          <a:ea typeface="Noto Sans KR"/>
          <a:cs typeface="Noto Sans KR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Noto Sans KR"/>
        <a:buChar char="•"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Noto Sans KR"/>
        <a:buChar char="•"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Noto Sans KR"/>
        <a:buChar char="•"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Noto Sans KR"/>
        <a:buChar char="•"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Noto Sans KR"/>
        <a:buChar char="•"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Noto Sans KR"/>
        <a:buChar char="•"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1pPr>
      <a:lvl2pPr marL="457200" algn="l" defTabSz="914400">
        <a:buNone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2pPr>
      <a:lvl3pPr marL="914400" algn="l" defTabSz="914400">
        <a:buNone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3pPr>
      <a:lvl4pPr marL="1371600" algn="l" defTabSz="914400">
        <a:buNone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4pPr>
      <a:lvl5pPr marL="1828800" algn="l" defTabSz="914400">
        <a:buNone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5pPr>
      <a:lvl6pPr marL="2286000" algn="l" defTabSz="914400">
        <a:buNone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6pPr>
      <a:lvl7pPr marL="2743200" algn="l" defTabSz="914400">
        <a:buNone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7pPr>
      <a:lvl8pPr marL="3200400" algn="l" defTabSz="914400">
        <a:buNone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8pPr>
      <a:lvl9pPr marL="3657600" algn="l" defTabSz="914400">
        <a:buNone/>
        <a:defRPr sz="1800" kern="1200">
          <a:solidFill>
            <a:schemeClr val="tx1"/>
          </a:solidFill>
          <a:latin typeface="Noto Sans KR"/>
          <a:ea typeface="Noto Sans KR"/>
          <a:cs typeface="Noto Sans K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6BE685-EACB-491F-93CB-A1E464D2506C}"/>
              </a:ext>
            </a:extLst>
          </p:cNvPr>
          <p:cNvSpPr>
            <a:spLocks noGrp="1"/>
          </p:cNvSpPr>
          <p:nvPr/>
        </p:nvSpPr>
        <p:spPr>
          <a:xfrm>
            <a:off x="548640" y="2057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5000"/>
              </a:lnSpc>
              <a:buNone/>
            </a:pPr>
            <a:r>
              <a:rPr sz="1600" b="1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Solta Medical Korea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5E3BE3-D214-4E73-B272-76F9774061AF}"/>
              </a:ext>
            </a:extLst>
          </p:cNvPr>
          <p:cNvSpPr>
            <a:spLocks noGrp="1"/>
          </p:cNvSpPr>
          <p:nvPr/>
        </p:nvSpPr>
        <p:spPr>
          <a:xfrm>
            <a:off x="548640" y="2423160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2400" b="1">
                <a:solidFill>
                  <a:srgbClr val="1F3864"/>
                </a:solidFill>
                <a:latin typeface="Noto Sans KR"/>
                <a:ea typeface="Noto Sans KR"/>
                <a:cs typeface="Noto Sans KR"/>
              </a:rPr>
              <a:t>현업 인터뷰 결과 보고 및</a:t>
            </a:r>
            <a:br>
              <a:rPr sz="2400" b="1">
                <a:solidFill>
                  <a:srgbClr val="1F3864"/>
                </a:solidFill>
                <a:latin typeface="Noto Sans KR"/>
                <a:ea typeface="Noto Sans KR"/>
                <a:cs typeface="Noto Sans KR"/>
              </a:rPr>
            </a:br>
            <a:r>
              <a:rPr sz="2400" b="1">
                <a:solidFill>
                  <a:srgbClr val="1F3864"/>
                </a:solidFill>
                <a:latin typeface="Noto Sans KR"/>
                <a:ea typeface="Noto Sans KR"/>
                <a:cs typeface="Noto Sans KR"/>
              </a:rPr>
              <a:t>프로젝트 방향성</a:t>
            </a:r>
          </a:p>
        </p:txBody>
      </p:sp>
      <p:sp>
        <p:nvSpPr>
          <p:cNvPr id="4" name="Connector 3">
            <a:extLst>
              <a:ext uri="{FF2B5EF4-FFF2-40B4-BE49-F238E27FC236}">
                <a16:creationId xmlns:a16="http://schemas.microsoft.com/office/drawing/2014/main" id="{6DA784F7-21C5-41C1-BD04-C82BEA8C85D6}"/>
              </a:ext>
            </a:extLst>
          </p:cNvPr>
          <p:cNvSpPr>
            <a:spLocks noGrp="1"/>
          </p:cNvSpPr>
          <p:nvPr/>
        </p:nvSpPr>
        <p:spPr>
          <a:xfrm>
            <a:off x="566928" y="3794760"/>
            <a:ext cx="1097279" cy="0"/>
          </a:xfrm>
          <a:prstGeom prst="line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6" name="Google Shape;923;p1">
            <a:extLst>
              <a:ext uri="{FF2B5EF4-FFF2-40B4-BE49-F238E27FC236}">
                <a16:creationId xmlns:a16="http://schemas.microsoft.com/office/drawing/2014/main" id="{975AAC05-E745-41E8-8D53-426946A75D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2336" y="1383927"/>
            <a:ext cx="1447206" cy="412787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5C716E-6308-4EC9-A3CF-1B022B3E7D7A}"/>
              </a:ext>
            </a:extLst>
          </p:cNvPr>
          <p:cNvSpPr>
            <a:spLocks noGrp="1"/>
          </p:cNvSpPr>
          <p:nvPr/>
        </p:nvSpPr>
        <p:spPr>
          <a:xfrm>
            <a:off x="548640" y="39319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1400" b="0">
                <a:solidFill>
                  <a:srgbClr val="404040"/>
                </a:solidFill>
                <a:latin typeface="Noto Sans KR"/>
                <a:ea typeface="Noto Sans KR"/>
                <a:cs typeface="Noto Sans KR"/>
              </a:rPr>
              <a:t>2026.10</a:t>
            </a:r>
          </a:p>
          <a:p>
            <a:pPr algn="l">
              <a:lnSpc>
                <a:spcPct val="105000"/>
              </a:lnSpc>
              <a:buNone/>
            </a:pPr>
            <a:r>
              <a:rPr sz="1200" b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MILVUS Co., Ltd.  CRM Division</a:t>
            </a:r>
          </a:p>
        </p:txBody>
      </p:sp>
    </p:spTree>
    <p:extLst>
      <p:ext uri="{BB962C8B-B14F-4D97-AF65-F5344CB8AC3E}">
        <p14:creationId xmlns:p14="http://schemas.microsoft.com/office/powerpoint/2010/main" val="143158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C201D381-B00B-4708-B7E8-AC397F98E152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sz="3000" b="1">
                <a:solidFill>
                  <a:srgbClr val="0072BC"/>
                </a:solidFill>
              </a:rPr>
              <a:t>OVERVIEW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3B6CE93-A900-4D61-A137-70F312670BB7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0763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>
                <a:solidFill>
                  <a:srgbClr val="156082"/>
                </a:solidFill>
              </a:rPr>
              <a:t>현황·니즈 파악 및 HCP 마케팅 시나리오 설계를 위한 관계 부서 인터뷰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66DC3BC-3FEE-40BB-8C03-CA22239DEA8F}"/>
              </a:ext>
            </a:extLst>
          </p:cNvPr>
          <p:cNvGraphicFramePr/>
          <p:nvPr/>
        </p:nvGraphicFramePr>
        <p:xfrm>
          <a:off x="571500" y="1704975"/>
          <a:ext cx="11049000" cy="2276476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8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911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부서</a:t>
                      </a:r>
                    </a:p>
                  </a:txBody>
                  <a:tcPr>
                    <a:lnL w="7620">
                      <a:solidFill>
                        <a:srgbClr val="C9D8E5"/>
                      </a:solidFill>
                      <a:prstDash val="solid"/>
                    </a:lnL>
                    <a:lnR w="7620">
                      <a:solidFill>
                        <a:srgbClr val="C9D8E5"/>
                      </a:solidFill>
                      <a:prstDash val="solid"/>
                    </a:lnR>
                    <a:lnT w="7620">
                      <a:solidFill>
                        <a:srgbClr val="C9D8E5"/>
                      </a:solidFill>
                      <a:prstDash val="solid"/>
                    </a:lnT>
                    <a:lnB w="7620">
                      <a:solidFill>
                        <a:srgbClr val="C9D8E5"/>
                      </a:solidFill>
                      <a:prstDash val="solid"/>
                    </a:lnB>
                    <a:solidFill>
                      <a:srgbClr val="10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인터뷰 일시</a:t>
                      </a:r>
                    </a:p>
                  </a:txBody>
                  <a:tcPr>
                    <a:lnL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9D8E5"/>
                      </a:solidFill>
                      <a:prstDash val="solid"/>
                    </a:lnR>
                    <a:lnT w="7620">
                      <a:solidFill>
                        <a:srgbClr val="C9D8E5"/>
                      </a:solidFill>
                      <a:prstDash val="solid"/>
                    </a:lnT>
                    <a:lnB w="7620">
                      <a:solidFill>
                        <a:srgbClr val="C9D8E5"/>
                      </a:solidFill>
                      <a:prstDash val="solid"/>
                    </a:lnB>
                    <a:solidFill>
                      <a:srgbClr val="10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방식</a:t>
                      </a:r>
                    </a:p>
                  </a:txBody>
                  <a:tcPr>
                    <a:lnL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9D8E5"/>
                      </a:solidFill>
                      <a:prstDash val="solid"/>
                    </a:lnR>
                    <a:lnT w="7620">
                      <a:solidFill>
                        <a:srgbClr val="C9D8E5"/>
                      </a:solidFill>
                      <a:prstDash val="solid"/>
                    </a:lnT>
                    <a:lnB w="7620">
                      <a:solidFill>
                        <a:srgbClr val="C9D8E5"/>
                      </a:solidFill>
                      <a:prstDash val="solid"/>
                    </a:lnB>
                    <a:solidFill>
                      <a:srgbClr val="10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주요 확인 내용</a:t>
                      </a:r>
                    </a:p>
                  </a:txBody>
                  <a:tcPr>
                    <a:lnL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9D8E5"/>
                      </a:solidFill>
                      <a:prstDash val="solid"/>
                    </a:lnR>
                    <a:lnT w="7620">
                      <a:solidFill>
                        <a:srgbClr val="C9D8E5"/>
                      </a:solidFill>
                      <a:prstDash val="solid"/>
                    </a:lnT>
                    <a:lnB w="7620">
                      <a:solidFill>
                        <a:srgbClr val="C9D8E5"/>
                      </a:solidFill>
                      <a:prstDash val="solid"/>
                    </a:lnB>
                    <a:solidFill>
                      <a:srgbClr val="102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A1A2E"/>
                          </a:solidFill>
                        </a:rPr>
                        <a:t>마케팅 (HCP)</a:t>
                      </a:r>
                    </a:p>
                  </a:txBody>
                  <a:tcPr>
                    <a:lnL w="7620">
                      <a:solidFill>
                        <a:srgbClr val="C9D8E5"/>
                      </a:solidFill>
                      <a:prstDash val="solid"/>
                    </a:lnL>
                    <a:lnR w="7620">
                      <a:solidFill>
                        <a:srgbClr val="C9D8E5"/>
                      </a:solidFill>
                      <a:prstDash val="solid"/>
                    </a:lnR>
                    <a:lnT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9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A1A2E"/>
                          </a:solidFill>
                        </a:rPr>
                        <a:t>2026.10.12 10:00</a:t>
                      </a:r>
                    </a:p>
                  </a:txBody>
                  <a:tcPr>
                    <a:lnL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9D8E5"/>
                      </a:solidFill>
                      <a:prstDash val="solid"/>
                    </a:lnR>
                    <a:lnT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9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A1A2E"/>
                          </a:solidFill>
                        </a:rPr>
                        <a:t>방문</a:t>
                      </a:r>
                    </a:p>
                  </a:txBody>
                  <a:tcPr>
                    <a:lnL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9D8E5"/>
                      </a:solidFill>
                      <a:prstDash val="solid"/>
                    </a:lnR>
                    <a:lnT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9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A1A2E"/>
                          </a:solidFill>
                        </a:rPr>
                        <a:t>고객 여정·세그먼트·행사·채널·데이터</a:t>
                      </a:r>
                    </a:p>
                  </a:txBody>
                  <a:tcPr>
                    <a:lnL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9D8E5"/>
                      </a:solidFill>
                      <a:prstDash val="solid"/>
                    </a:lnR>
                    <a:lnT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9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A1A2E"/>
                          </a:solidFill>
                        </a:rPr>
                        <a:t>세일즈</a:t>
                      </a:r>
                    </a:p>
                  </a:txBody>
                  <a:tcPr>
                    <a:lnL w="7620">
                      <a:solidFill>
                        <a:srgbClr val="C9D8E5"/>
                      </a:solidFill>
                      <a:prstDash val="solid"/>
                    </a:lnL>
                    <a:lnR w="7620">
                      <a:solidFill>
                        <a:srgbClr val="C9D8E5"/>
                      </a:solidFill>
                      <a:prstDash val="solid"/>
                    </a:lnR>
                    <a:lnT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9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A1A2E"/>
                          </a:solidFill>
                        </a:rPr>
                        <a:t>2026.10.12 13:57</a:t>
                      </a:r>
                    </a:p>
                  </a:txBody>
                  <a:tcPr>
                    <a:lnL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9D8E5"/>
                      </a:solidFill>
                      <a:prstDash val="solid"/>
                    </a:lnR>
                    <a:lnT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9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A1A2E"/>
                          </a:solidFill>
                        </a:rPr>
                        <a:t>온라인</a:t>
                      </a:r>
                    </a:p>
                  </a:txBody>
                  <a:tcPr>
                    <a:lnL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9D8E5"/>
                      </a:solidFill>
                      <a:prstDash val="solid"/>
                    </a:lnR>
                    <a:lnT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9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A1A2E"/>
                          </a:solidFill>
                        </a:rPr>
                        <a:t>Sales Cloud·영업 단계·매출·보고</a:t>
                      </a:r>
                    </a:p>
                  </a:txBody>
                  <a:tcPr>
                    <a:lnL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9D8E5"/>
                      </a:solidFill>
                      <a:prstDash val="solid"/>
                    </a:lnR>
                    <a:lnT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9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119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A1A2E"/>
                          </a:solidFill>
                        </a:rPr>
                        <a:t>RA/QA</a:t>
                      </a:r>
                    </a:p>
                  </a:txBody>
                  <a:tcPr>
                    <a:lnL w="7620">
                      <a:solidFill>
                        <a:srgbClr val="C9D8E5"/>
                      </a:solidFill>
                      <a:prstDash val="solid"/>
                    </a:lnL>
                    <a:lnR w="7620">
                      <a:solidFill>
                        <a:srgbClr val="C9D8E5"/>
                      </a:solidFill>
                      <a:prstDash val="solid"/>
                    </a:lnR>
                    <a:lnT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9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A1A2E"/>
                          </a:solidFill>
                        </a:rPr>
                        <a:t>2026.10.08 오후</a:t>
                      </a:r>
                    </a:p>
                  </a:txBody>
                  <a:tcPr>
                    <a:lnL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9D8E5"/>
                      </a:solidFill>
                      <a:prstDash val="solid"/>
                    </a:lnR>
                    <a:lnT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9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A1A2E"/>
                          </a:solidFill>
                        </a:rPr>
                        <a:t>온라인</a:t>
                      </a:r>
                    </a:p>
                  </a:txBody>
                  <a:tcPr>
                    <a:lnL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9D8E5"/>
                      </a:solidFill>
                      <a:prstDash val="solid"/>
                    </a:lnR>
                    <a:lnT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9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A1A2E"/>
                          </a:solidFill>
                        </a:rPr>
                        <a:t>심의 절차·표현·유효기간·소요 기간</a:t>
                      </a:r>
                    </a:p>
                  </a:txBody>
                  <a:tcPr>
                    <a:lnL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C9D8E5"/>
                      </a:solidFill>
                      <a:prstDash val="solid"/>
                    </a:lnR>
                    <a:lnT w="7620" cap="flat" cmpd="sng" algn="ctr">
                      <a:solidFill>
                        <a:srgbClr val="C9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C9D8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ubhead-purpose">
            <a:extLst>
              <a:ext uri="{FF2B5EF4-FFF2-40B4-BE49-F238E27FC236}">
                <a16:creationId xmlns:a16="http://schemas.microsoft.com/office/drawing/2014/main" id="{7BBFA575-C21A-4A98-ADAA-D57298C5BA9D}"/>
              </a:ext>
            </a:extLst>
          </p:cNvPr>
          <p:cNvSpPr>
            <a:spLocks noGrp="1"/>
          </p:cNvSpPr>
          <p:nvPr/>
        </p:nvSpPr>
        <p:spPr>
          <a:xfrm>
            <a:off x="571500" y="429577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정리 범위</a:t>
            </a:r>
          </a:p>
        </p:txBody>
      </p:sp>
      <p:sp>
        <p:nvSpPr>
          <p:cNvPr id="5" name="scope">
            <a:extLst>
              <a:ext uri="{FF2B5EF4-FFF2-40B4-BE49-F238E27FC236}">
                <a16:creationId xmlns:a16="http://schemas.microsoft.com/office/drawing/2014/main" id="{A6FB9438-3F1E-4A92-A9AF-A66E77CCFF9A}"/>
              </a:ext>
            </a:extLst>
          </p:cNvPr>
          <p:cNvSpPr>
            <a:spLocks noGrp="1"/>
          </p:cNvSpPr>
          <p:nvPr/>
        </p:nvSpPr>
        <p:spPr>
          <a:xfrm>
            <a:off x="571500" y="4667250"/>
            <a:ext cx="10572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500" b="0">
                <a:solidFill>
                  <a:srgbClr val="1A1A2E"/>
                </a:solidFill>
              </a:defRPr>
            </a:pPr>
            <a:r>
              <a:rPr sz="1500" b="0" dirty="0" err="1">
                <a:solidFill>
                  <a:srgbClr val="1A1A2E"/>
                </a:solidFill>
              </a:rPr>
              <a:t>마케팅</a:t>
            </a:r>
            <a:r>
              <a:rPr sz="1500" b="0" dirty="0">
                <a:solidFill>
                  <a:srgbClr val="1A1A2E"/>
                </a:solidFill>
              </a:rPr>
              <a:t>(HCP)·</a:t>
            </a:r>
            <a:r>
              <a:rPr sz="1500" b="0" dirty="0" err="1">
                <a:solidFill>
                  <a:srgbClr val="1A1A2E"/>
                </a:solidFill>
              </a:rPr>
              <a:t>세일즈·RA</a:t>
            </a:r>
            <a:r>
              <a:rPr sz="1500" b="0" dirty="0">
                <a:solidFill>
                  <a:srgbClr val="1A1A2E"/>
                </a:solidFill>
              </a:rPr>
              <a:t>/</a:t>
            </a:r>
            <a:r>
              <a:rPr sz="1500" b="0" dirty="0" err="1">
                <a:solidFill>
                  <a:srgbClr val="1A1A2E"/>
                </a:solidFill>
              </a:rPr>
              <a:t>QA의</a:t>
            </a:r>
            <a:r>
              <a:rPr sz="1500" b="0" dirty="0">
                <a:solidFill>
                  <a:srgbClr val="1A1A2E"/>
                </a:solidFill>
              </a:rPr>
              <a:t> </a:t>
            </a:r>
            <a:r>
              <a:rPr lang="ko-KR" altLang="en-US" sz="1500" b="0" dirty="0">
                <a:solidFill>
                  <a:srgbClr val="1A1A2E"/>
                </a:solidFill>
              </a:rPr>
              <a:t>비즈니스 </a:t>
            </a:r>
            <a:r>
              <a:rPr sz="1500" b="0" dirty="0" err="1">
                <a:solidFill>
                  <a:srgbClr val="1A1A2E"/>
                </a:solidFill>
              </a:rPr>
              <a:t>현황</a:t>
            </a:r>
            <a:r>
              <a:rPr sz="1500" b="0" dirty="0">
                <a:solidFill>
                  <a:srgbClr val="1A1A2E"/>
                </a:solidFill>
              </a:rPr>
              <a:t>, </a:t>
            </a:r>
            <a:r>
              <a:rPr sz="1500" b="0" dirty="0" err="1">
                <a:solidFill>
                  <a:srgbClr val="1A1A2E"/>
                </a:solidFill>
              </a:rPr>
              <a:t>니즈와</a:t>
            </a:r>
            <a:r>
              <a:rPr sz="1500" b="0" dirty="0">
                <a:solidFill>
                  <a:srgbClr val="1A1A2E"/>
                </a:solidFill>
              </a:rPr>
              <a:t> </a:t>
            </a:r>
            <a:r>
              <a:rPr sz="1500" b="0" dirty="0" err="1">
                <a:solidFill>
                  <a:srgbClr val="1A1A2E"/>
                </a:solidFill>
              </a:rPr>
              <a:t>과제</a:t>
            </a:r>
            <a:r>
              <a:rPr sz="1500" b="0" dirty="0">
                <a:solidFill>
                  <a:srgbClr val="1A1A2E"/>
                </a:solidFill>
              </a:rPr>
              <a:t> </a:t>
            </a:r>
            <a:r>
              <a:rPr sz="1500" b="0" dirty="0" err="1">
                <a:solidFill>
                  <a:srgbClr val="1A1A2E"/>
                </a:solidFill>
              </a:rPr>
              <a:t>검토안</a:t>
            </a:r>
            <a:endParaRPr sz="1500" b="0" dirty="0">
              <a:solidFill>
                <a:srgbClr val="1A1A2E"/>
              </a:solidFill>
            </a:endParaRPr>
          </a:p>
          <a:p>
            <a:pPr algn="l">
              <a:buNone/>
              <a:defRPr sz="1500" b="0">
                <a:solidFill>
                  <a:srgbClr val="1A1A2E"/>
                </a:solidFill>
              </a:defRPr>
            </a:pPr>
            <a:r>
              <a:rPr sz="1500" b="0" dirty="0" err="1">
                <a:solidFill>
                  <a:srgbClr val="1A1A2E"/>
                </a:solidFill>
              </a:rPr>
              <a:t>최종</a:t>
            </a:r>
            <a:r>
              <a:rPr sz="1500" b="0" dirty="0">
                <a:solidFill>
                  <a:srgbClr val="1A1A2E"/>
                </a:solidFill>
              </a:rPr>
              <a:t> </a:t>
            </a:r>
            <a:r>
              <a:rPr sz="1500" b="0" dirty="0" err="1">
                <a:solidFill>
                  <a:srgbClr val="1A1A2E"/>
                </a:solidFill>
              </a:rPr>
              <a:t>시나리오</a:t>
            </a:r>
            <a:r>
              <a:rPr sz="1500" b="0" dirty="0">
                <a:solidFill>
                  <a:srgbClr val="1A1A2E"/>
                </a:solidFill>
              </a:rPr>
              <a:t> 3개는 </a:t>
            </a:r>
            <a:r>
              <a:rPr sz="1500" b="0" dirty="0" err="1">
                <a:solidFill>
                  <a:srgbClr val="1A1A2E"/>
                </a:solidFill>
              </a:rPr>
              <a:t>미확정이며</a:t>
            </a:r>
            <a:r>
              <a:rPr sz="1500" b="0" dirty="0">
                <a:solidFill>
                  <a:srgbClr val="1A1A2E"/>
                </a:solidFill>
              </a:rPr>
              <a:t>, 각 </a:t>
            </a:r>
            <a:r>
              <a:rPr sz="1500" b="0" dirty="0" err="1">
                <a:solidFill>
                  <a:srgbClr val="1A1A2E"/>
                </a:solidFill>
              </a:rPr>
              <a:t>과제의</a:t>
            </a:r>
            <a:r>
              <a:rPr sz="1500" b="0" dirty="0">
                <a:solidFill>
                  <a:srgbClr val="1A1A2E"/>
                </a:solidFill>
              </a:rPr>
              <a:t> </a:t>
            </a:r>
            <a:r>
              <a:rPr sz="1500" b="0" dirty="0" err="1">
                <a:solidFill>
                  <a:srgbClr val="1A1A2E"/>
                </a:solidFill>
              </a:rPr>
              <a:t>구현</a:t>
            </a:r>
            <a:r>
              <a:rPr sz="1500" b="0" dirty="0">
                <a:solidFill>
                  <a:srgbClr val="1A1A2E"/>
                </a:solidFill>
              </a:rPr>
              <a:t> </a:t>
            </a:r>
            <a:r>
              <a:rPr sz="1500" b="0" dirty="0" err="1">
                <a:solidFill>
                  <a:srgbClr val="1A1A2E"/>
                </a:solidFill>
              </a:rPr>
              <a:t>범위는</a:t>
            </a:r>
            <a:r>
              <a:rPr sz="1500" b="0" dirty="0">
                <a:solidFill>
                  <a:srgbClr val="1A1A2E"/>
                </a:solidFill>
              </a:rPr>
              <a:t> </a:t>
            </a:r>
            <a:r>
              <a:rPr sz="1500" b="0" dirty="0" err="1">
                <a:solidFill>
                  <a:srgbClr val="1A1A2E"/>
                </a:solidFill>
              </a:rPr>
              <a:t>별도</a:t>
            </a:r>
            <a:r>
              <a:rPr sz="1500" b="0" dirty="0">
                <a:solidFill>
                  <a:srgbClr val="1A1A2E"/>
                </a:solidFill>
              </a:rPr>
              <a:t> </a:t>
            </a:r>
            <a:r>
              <a:rPr sz="1500" b="0" dirty="0" err="1">
                <a:solidFill>
                  <a:srgbClr val="1A1A2E"/>
                </a:solidFill>
              </a:rPr>
              <a:t>협의</a:t>
            </a:r>
            <a:endParaRPr sz="1500" b="0" dirty="0">
              <a:solidFill>
                <a:srgbClr val="1A1A2E"/>
              </a:solidFill>
            </a:endParaRPr>
          </a:p>
        </p:txBody>
      </p:sp>
      <p:sp>
        <p:nvSpPr>
          <p:cNvPr id="8" name="page-number">
            <a:extLst>
              <a:ext uri="{FF2B5EF4-FFF2-40B4-BE49-F238E27FC236}">
                <a16:creationId xmlns:a16="http://schemas.microsoft.com/office/drawing/2014/main" id="{41E9C39E-1EE5-42D2-BE89-3B343F04B91E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9922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941C010E-041A-4E61-9F6E-1ABB38429274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sz="3000" b="1">
                <a:solidFill>
                  <a:srgbClr val="0072BC"/>
                </a:solidFill>
              </a:rPr>
              <a:t>인터뷰 결과 : 마케팅 ① 고객 여정·세그먼트</a:t>
            </a:r>
          </a:p>
        </p:txBody>
      </p:sp>
      <p:sp>
        <p:nvSpPr>
          <p:cNvPr id="2" name="topic">
            <a:extLst>
              <a:ext uri="{FF2B5EF4-FFF2-40B4-BE49-F238E27FC236}">
                <a16:creationId xmlns:a16="http://schemas.microsoft.com/office/drawing/2014/main" id="{7492D680-E027-4A03-9791-5445738CD2A1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0858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>
                <a:solidFill>
                  <a:srgbClr val="156082"/>
                </a:solidFill>
              </a:rPr>
              <a:t>고객 단계별 커뮤니케이션과 팁 재구매</a:t>
            </a:r>
          </a:p>
        </p:txBody>
      </p:sp>
      <p:sp>
        <p:nvSpPr>
          <p:cNvPr id="3" name="department-0">
            <a:extLst>
              <a:ext uri="{FF2B5EF4-FFF2-40B4-BE49-F238E27FC236}">
                <a16:creationId xmlns:a16="http://schemas.microsoft.com/office/drawing/2014/main" id="{00E86E4F-74B5-4478-A869-F144F63ACCFF}"/>
              </a:ext>
            </a:extLst>
          </p:cNvPr>
          <p:cNvSpPr>
            <a:spLocks noGrp="1"/>
          </p:cNvSpPr>
          <p:nvPr/>
        </p:nvSpPr>
        <p:spPr>
          <a:xfrm>
            <a:off x="571500" y="1647825"/>
            <a:ext cx="1114425" cy="619125"/>
          </a:xfrm>
          <a:prstGeom prst="rect">
            <a:avLst/>
          </a:prstGeom>
          <a:solidFill>
            <a:srgbClr val="156082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epartment-text-0">
            <a:extLst>
              <a:ext uri="{FF2B5EF4-FFF2-40B4-BE49-F238E27FC236}">
                <a16:creationId xmlns:a16="http://schemas.microsoft.com/office/drawing/2014/main" id="{C50535A5-383A-4773-B121-5638596124FA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마케팅</a:t>
            </a:r>
          </a:p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(HCP)</a:t>
            </a:r>
          </a:p>
        </p:txBody>
      </p:sp>
      <p:sp>
        <p:nvSpPr>
          <p:cNvPr id="5" name="department-1">
            <a:extLst>
              <a:ext uri="{FF2B5EF4-FFF2-40B4-BE49-F238E27FC236}">
                <a16:creationId xmlns:a16="http://schemas.microsoft.com/office/drawing/2014/main" id="{C0B03E94-0A9E-43F0-AFC5-B7B41ABE59B4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partment-text-1">
            <a:extLst>
              <a:ext uri="{FF2B5EF4-FFF2-40B4-BE49-F238E27FC236}">
                <a16:creationId xmlns:a16="http://schemas.microsoft.com/office/drawing/2014/main" id="{F766B9C7-91FF-452E-8EA1-A7A032BF2038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세일즈</a:t>
            </a:r>
          </a:p>
        </p:txBody>
      </p:sp>
      <p:sp>
        <p:nvSpPr>
          <p:cNvPr id="7" name="department-2">
            <a:extLst>
              <a:ext uri="{FF2B5EF4-FFF2-40B4-BE49-F238E27FC236}">
                <a16:creationId xmlns:a16="http://schemas.microsoft.com/office/drawing/2014/main" id="{8919D090-C05C-478A-996D-18A9213CB508}"/>
              </a:ext>
            </a:extLst>
          </p:cNvPr>
          <p:cNvSpPr>
            <a:spLocks noGrp="1"/>
          </p:cNvSpPr>
          <p:nvPr/>
        </p:nvSpPr>
        <p:spPr>
          <a:xfrm>
            <a:off x="571500" y="31337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epartment-text-2">
            <a:extLst>
              <a:ext uri="{FF2B5EF4-FFF2-40B4-BE49-F238E27FC236}">
                <a16:creationId xmlns:a16="http://schemas.microsoft.com/office/drawing/2014/main" id="{84DAA7D8-7C40-41CB-9A5A-4FE31355BF78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RA/QA</a:t>
            </a:r>
          </a:p>
        </p:txBody>
      </p:sp>
      <p:sp>
        <p:nvSpPr>
          <p:cNvPr id="9" name="현황-background">
            <a:extLst>
              <a:ext uri="{FF2B5EF4-FFF2-40B4-BE49-F238E27FC236}">
                <a16:creationId xmlns:a16="http://schemas.microsoft.com/office/drawing/2014/main" id="{42849063-BFA8-4D41-B292-F506B0785DF6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9782175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현황-label">
            <a:extLst>
              <a:ext uri="{FF2B5EF4-FFF2-40B4-BE49-F238E27FC236}">
                <a16:creationId xmlns:a16="http://schemas.microsoft.com/office/drawing/2014/main" id="{8323DE34-14F2-472C-A7F3-338ADB7A9C2D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733425" cy="1943100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현황-text">
            <a:extLst>
              <a:ext uri="{FF2B5EF4-FFF2-40B4-BE49-F238E27FC236}">
                <a16:creationId xmlns:a16="http://schemas.microsoft.com/office/drawing/2014/main" id="{F3314C88-72A6-42CA-83A7-83C5CC65D6E8}"/>
              </a:ext>
            </a:extLst>
          </p:cNvPr>
          <p:cNvSpPr>
            <a:spLocks noGrp="1"/>
          </p:cNvSpPr>
          <p:nvPr/>
        </p:nvSpPr>
        <p:spPr>
          <a:xfrm>
            <a:off x="1895475" y="248602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현황</a:t>
            </a:r>
          </a:p>
        </p:txBody>
      </p:sp>
      <p:sp>
        <p:nvSpPr>
          <p:cNvPr id="12" name="현황-0">
            <a:extLst>
              <a:ext uri="{FF2B5EF4-FFF2-40B4-BE49-F238E27FC236}">
                <a16:creationId xmlns:a16="http://schemas.microsoft.com/office/drawing/2014/main" id="{9C4E9C54-9D3E-4B98-BFEA-096C6E5AFE2C}"/>
              </a:ext>
            </a:extLst>
          </p:cNvPr>
          <p:cNvSpPr>
            <a:spLocks noGrp="1"/>
          </p:cNvSpPr>
          <p:nvPr/>
        </p:nvSpPr>
        <p:spPr>
          <a:xfrm>
            <a:off x="2733675" y="17621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1) [고객 여정] 인지·정보 탐색·상담/데모·계약 이후, 정착·확장·반복 구매·추천으로 연결</a:t>
            </a:r>
          </a:p>
        </p:txBody>
      </p:sp>
      <p:sp>
        <p:nvSpPr>
          <p:cNvPr id="13" name="현황-1">
            <a:extLst>
              <a:ext uri="{FF2B5EF4-FFF2-40B4-BE49-F238E27FC236}">
                <a16:creationId xmlns:a16="http://schemas.microsoft.com/office/drawing/2014/main" id="{366C9CAB-8C9B-4036-88E4-1DAF917EF544}"/>
              </a:ext>
            </a:extLst>
          </p:cNvPr>
          <p:cNvSpPr>
            <a:spLocks noGrp="1"/>
          </p:cNvSpPr>
          <p:nvPr/>
        </p:nvSpPr>
        <p:spPr>
          <a:xfrm>
            <a:off x="2733675" y="209550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2) 장비 설치·초기 교육은 영업이 담당하며, 마케팅은 학술 콘텐츠·교육·행사 지원</a:t>
            </a:r>
          </a:p>
        </p:txBody>
      </p:sp>
      <p:sp>
        <p:nvSpPr>
          <p:cNvPr id="14" name="현황-2">
            <a:extLst>
              <a:ext uri="{FF2B5EF4-FFF2-40B4-BE49-F238E27FC236}">
                <a16:creationId xmlns:a16="http://schemas.microsoft.com/office/drawing/2014/main" id="{432FA215-698E-4282-BA27-C6D38075B6D6}"/>
              </a:ext>
            </a:extLst>
          </p:cNvPr>
          <p:cNvSpPr>
            <a:spLocks noGrp="1"/>
          </p:cNvSpPr>
          <p:nvPr/>
        </p:nvSpPr>
        <p:spPr>
          <a:xfrm>
            <a:off x="2733675" y="242887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3) 팁 반복 구매가 핵심이며 600샷 → 900샷 업셀, 아이팁 크로스셀 추진</a:t>
            </a:r>
          </a:p>
        </p:txBody>
      </p:sp>
      <p:sp>
        <p:nvSpPr>
          <p:cNvPr id="15" name="현황-3">
            <a:extLst>
              <a:ext uri="{FF2B5EF4-FFF2-40B4-BE49-F238E27FC236}">
                <a16:creationId xmlns:a16="http://schemas.microsoft.com/office/drawing/2014/main" id="{5D7DB6E7-B564-4FD8-8E03-D1F5171AC3C1}"/>
              </a:ext>
            </a:extLst>
          </p:cNvPr>
          <p:cNvSpPr>
            <a:spLocks noGrp="1"/>
          </p:cNvSpPr>
          <p:nvPr/>
        </p:nvSpPr>
        <p:spPr>
          <a:xfrm>
            <a:off x="2733675" y="276225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4) [고객 구분] 잠재·신규·Active·구매 상위 Tier·교육 우수·이탈 위험·휴면 고객</a:t>
            </a:r>
          </a:p>
        </p:txBody>
      </p:sp>
      <p:sp>
        <p:nvSpPr>
          <p:cNvPr id="16" name="현황-4">
            <a:extLst>
              <a:ext uri="{FF2B5EF4-FFF2-40B4-BE49-F238E27FC236}">
                <a16:creationId xmlns:a16="http://schemas.microsoft.com/office/drawing/2014/main" id="{3241F7CA-B6FC-47DA-9249-459CFF4A87C3}"/>
              </a:ext>
            </a:extLst>
          </p:cNvPr>
          <p:cNvSpPr>
            <a:spLocks noGrp="1"/>
          </p:cNvSpPr>
          <p:nvPr/>
        </p:nvSpPr>
        <p:spPr>
          <a:xfrm>
            <a:off x="2733675" y="30956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5) 3~6개월 미구매는 이탈 위험, 6개월 이상은 휴면으로 구분하는 커뮤니케이션 계획</a:t>
            </a:r>
          </a:p>
        </p:txBody>
      </p:sp>
      <p:sp>
        <p:nvSpPr>
          <p:cNvPr id="17" name="니즈-background">
            <a:extLst>
              <a:ext uri="{FF2B5EF4-FFF2-40B4-BE49-F238E27FC236}">
                <a16:creationId xmlns:a16="http://schemas.microsoft.com/office/drawing/2014/main" id="{8DDADC2E-78E2-4707-B4F3-D9CEDF3B5456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9782175" cy="981075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니즈-label">
            <a:extLst>
              <a:ext uri="{FF2B5EF4-FFF2-40B4-BE49-F238E27FC236}">
                <a16:creationId xmlns:a16="http://schemas.microsoft.com/office/drawing/2014/main" id="{36BCF03C-7AF0-44D1-87FE-58D0B9E30368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733425" cy="981075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니즈-text">
            <a:extLst>
              <a:ext uri="{FF2B5EF4-FFF2-40B4-BE49-F238E27FC236}">
                <a16:creationId xmlns:a16="http://schemas.microsoft.com/office/drawing/2014/main" id="{7964E405-52D7-4E31-A828-C9276E2EFD6B}"/>
              </a:ext>
            </a:extLst>
          </p:cNvPr>
          <p:cNvSpPr>
            <a:spLocks noGrp="1"/>
          </p:cNvSpPr>
          <p:nvPr/>
        </p:nvSpPr>
        <p:spPr>
          <a:xfrm>
            <a:off x="1895475" y="4024313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니즈</a:t>
            </a:r>
          </a:p>
        </p:txBody>
      </p:sp>
      <p:sp>
        <p:nvSpPr>
          <p:cNvPr id="20" name="니즈-0">
            <a:extLst>
              <a:ext uri="{FF2B5EF4-FFF2-40B4-BE49-F238E27FC236}">
                <a16:creationId xmlns:a16="http://schemas.microsoft.com/office/drawing/2014/main" id="{464C4FA2-E1A4-434C-9ABD-49B17A67135F}"/>
              </a:ext>
            </a:extLst>
          </p:cNvPr>
          <p:cNvSpPr>
            <a:spLocks noGrp="1"/>
          </p:cNvSpPr>
          <p:nvPr/>
        </p:nvSpPr>
        <p:spPr>
          <a:xfrm>
            <a:off x="2733675" y="37814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1) 상담·데모 전환부터 온보딩, 리텐션, 업셀·크로스셀, 윈백까지 맞춤 메시지 운영</a:t>
            </a:r>
          </a:p>
        </p:txBody>
      </p:sp>
      <p:sp>
        <p:nvSpPr>
          <p:cNvPr id="21" name="니즈-1">
            <a:extLst>
              <a:ext uri="{FF2B5EF4-FFF2-40B4-BE49-F238E27FC236}">
                <a16:creationId xmlns:a16="http://schemas.microsoft.com/office/drawing/2014/main" id="{351DDD6C-F314-4560-962A-406934816004}"/>
              </a:ext>
            </a:extLst>
          </p:cNvPr>
          <p:cNvSpPr>
            <a:spLocks noGrp="1"/>
          </p:cNvSpPr>
          <p:nvPr/>
        </p:nvSpPr>
        <p:spPr>
          <a:xfrm>
            <a:off x="2733675" y="41243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2) 장비 도입일·구매·교육 이력에 따라 발송 시점과 다음 콘텐츠 차별화</a:t>
            </a:r>
          </a:p>
        </p:txBody>
      </p:sp>
      <p:sp>
        <p:nvSpPr>
          <p:cNvPr id="22" name="과제-background">
            <a:extLst>
              <a:ext uri="{FF2B5EF4-FFF2-40B4-BE49-F238E27FC236}">
                <a16:creationId xmlns:a16="http://schemas.microsoft.com/office/drawing/2014/main" id="{3C477E66-66F5-4054-8513-389F7D316DE4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9782175" cy="1466850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과제-label">
            <a:extLst>
              <a:ext uri="{FF2B5EF4-FFF2-40B4-BE49-F238E27FC236}">
                <a16:creationId xmlns:a16="http://schemas.microsoft.com/office/drawing/2014/main" id="{BC30BF08-BCA8-4067-82C4-6E314EB0E6E4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733425" cy="1466850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과제-text">
            <a:extLst>
              <a:ext uri="{FF2B5EF4-FFF2-40B4-BE49-F238E27FC236}">
                <a16:creationId xmlns:a16="http://schemas.microsoft.com/office/drawing/2014/main" id="{A24530BC-BB9C-400E-A573-A8DFD17FEA91}"/>
              </a:ext>
            </a:extLst>
          </p:cNvPr>
          <p:cNvSpPr>
            <a:spLocks noGrp="1"/>
          </p:cNvSpPr>
          <p:nvPr/>
        </p:nvSpPr>
        <p:spPr>
          <a:xfrm>
            <a:off x="1895475" y="532447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과제</a:t>
            </a:r>
          </a:p>
        </p:txBody>
      </p:sp>
      <p:sp>
        <p:nvSpPr>
          <p:cNvPr id="25" name="과제-0">
            <a:extLst>
              <a:ext uri="{FF2B5EF4-FFF2-40B4-BE49-F238E27FC236}">
                <a16:creationId xmlns:a16="http://schemas.microsoft.com/office/drawing/2014/main" id="{CD85537B-ED2F-4FE2-B9B8-92EB0F52B544}"/>
              </a:ext>
            </a:extLst>
          </p:cNvPr>
          <p:cNvSpPr>
            <a:spLocks noGrp="1"/>
          </p:cNvSpPr>
          <p:nvPr/>
        </p:nvSpPr>
        <p:spPr>
          <a:xfrm>
            <a:off x="2733675" y="483870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1) [설계 검토] 세그먼트별 진입·제외 조건, 메시지 목적, 발송 시점 및 영업 후속 접점 정의</a:t>
            </a:r>
          </a:p>
        </p:txBody>
      </p:sp>
      <p:sp>
        <p:nvSpPr>
          <p:cNvPr id="26" name="과제-1">
            <a:extLst>
              <a:ext uri="{FF2B5EF4-FFF2-40B4-BE49-F238E27FC236}">
                <a16:creationId xmlns:a16="http://schemas.microsoft.com/office/drawing/2014/main" id="{35749E29-454F-4171-880C-CC637ADBCEE5}"/>
              </a:ext>
            </a:extLst>
          </p:cNvPr>
          <p:cNvSpPr>
            <a:spLocks noGrp="1"/>
          </p:cNvSpPr>
          <p:nvPr/>
        </p:nvSpPr>
        <p:spPr>
          <a:xfrm>
            <a:off x="2733675" y="5210175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2) [솔타 확인] Active·Tier·미구매 기간 경계와 대상 기준 확정</a:t>
            </a:r>
          </a:p>
        </p:txBody>
      </p:sp>
      <p:sp>
        <p:nvSpPr>
          <p:cNvPr id="27" name="과제-2">
            <a:extLst>
              <a:ext uri="{FF2B5EF4-FFF2-40B4-BE49-F238E27FC236}">
                <a16:creationId xmlns:a16="http://schemas.microsoft.com/office/drawing/2014/main" id="{42FD3C4A-34FD-48B6-B3B9-F42A6175D07E}"/>
              </a:ext>
            </a:extLst>
          </p:cNvPr>
          <p:cNvSpPr>
            <a:spLocks noGrp="1"/>
          </p:cNvSpPr>
          <p:nvPr/>
        </p:nvSpPr>
        <p:spPr>
          <a:xfrm>
            <a:off x="2733675" y="558165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3) 장비 도입일·팁 구매일·제품·수량·교육 이력의 보유 및 활용 가능 수준 확인</a:t>
            </a:r>
          </a:p>
        </p:txBody>
      </p:sp>
      <p:sp>
        <p:nvSpPr>
          <p:cNvPr id="29" name="page-number">
            <a:extLst>
              <a:ext uri="{FF2B5EF4-FFF2-40B4-BE49-F238E27FC236}">
                <a16:creationId xmlns:a16="http://schemas.microsoft.com/office/drawing/2014/main" id="{3920C245-0D29-4A61-AE94-00D93D45F293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9922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A67E92BB-B8C9-4299-AC74-1CEFD315BF88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sz="3000" b="1">
                <a:solidFill>
                  <a:srgbClr val="0072BC"/>
                </a:solidFill>
              </a:rPr>
              <a:t>인터뷰 결과 : 마케팅 ② 행사·교육 운영</a:t>
            </a:r>
          </a:p>
        </p:txBody>
      </p:sp>
      <p:sp>
        <p:nvSpPr>
          <p:cNvPr id="2" name="topic">
            <a:extLst>
              <a:ext uri="{FF2B5EF4-FFF2-40B4-BE49-F238E27FC236}">
                <a16:creationId xmlns:a16="http://schemas.microsoft.com/office/drawing/2014/main" id="{761A3DFC-C00B-42E4-8104-98F203BD5E75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0858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>
                <a:solidFill>
                  <a:srgbClr val="156082"/>
                </a:solidFill>
              </a:rPr>
              <a:t>초청부터 참석·설문·후속 교육까지 운영 자동화</a:t>
            </a:r>
          </a:p>
        </p:txBody>
      </p:sp>
      <p:sp>
        <p:nvSpPr>
          <p:cNvPr id="3" name="department-0">
            <a:extLst>
              <a:ext uri="{FF2B5EF4-FFF2-40B4-BE49-F238E27FC236}">
                <a16:creationId xmlns:a16="http://schemas.microsoft.com/office/drawing/2014/main" id="{40D8980F-C45C-430F-B0A4-D9E3DAF9CD46}"/>
              </a:ext>
            </a:extLst>
          </p:cNvPr>
          <p:cNvSpPr>
            <a:spLocks noGrp="1"/>
          </p:cNvSpPr>
          <p:nvPr/>
        </p:nvSpPr>
        <p:spPr>
          <a:xfrm>
            <a:off x="571500" y="1647825"/>
            <a:ext cx="1114425" cy="619125"/>
          </a:xfrm>
          <a:prstGeom prst="rect">
            <a:avLst/>
          </a:prstGeom>
          <a:solidFill>
            <a:srgbClr val="156082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epartment-text-0">
            <a:extLst>
              <a:ext uri="{FF2B5EF4-FFF2-40B4-BE49-F238E27FC236}">
                <a16:creationId xmlns:a16="http://schemas.microsoft.com/office/drawing/2014/main" id="{DD14D0FB-72F5-4044-A52B-0D6B8FC0D2AA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마케팅</a:t>
            </a:r>
          </a:p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(HCP)</a:t>
            </a:r>
          </a:p>
        </p:txBody>
      </p:sp>
      <p:sp>
        <p:nvSpPr>
          <p:cNvPr id="5" name="department-1">
            <a:extLst>
              <a:ext uri="{FF2B5EF4-FFF2-40B4-BE49-F238E27FC236}">
                <a16:creationId xmlns:a16="http://schemas.microsoft.com/office/drawing/2014/main" id="{CB20C76B-1EA0-4A37-B436-49F1F771EDD7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partment-text-1">
            <a:extLst>
              <a:ext uri="{FF2B5EF4-FFF2-40B4-BE49-F238E27FC236}">
                <a16:creationId xmlns:a16="http://schemas.microsoft.com/office/drawing/2014/main" id="{E402BBB9-EEAE-499D-A2B6-ACD583E31C60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세일즈</a:t>
            </a:r>
          </a:p>
        </p:txBody>
      </p:sp>
      <p:sp>
        <p:nvSpPr>
          <p:cNvPr id="7" name="department-2">
            <a:extLst>
              <a:ext uri="{FF2B5EF4-FFF2-40B4-BE49-F238E27FC236}">
                <a16:creationId xmlns:a16="http://schemas.microsoft.com/office/drawing/2014/main" id="{1A3153B3-50DE-4F64-89C2-7B4390F7DC07}"/>
              </a:ext>
            </a:extLst>
          </p:cNvPr>
          <p:cNvSpPr>
            <a:spLocks noGrp="1"/>
          </p:cNvSpPr>
          <p:nvPr/>
        </p:nvSpPr>
        <p:spPr>
          <a:xfrm>
            <a:off x="571500" y="31337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epartment-text-2">
            <a:extLst>
              <a:ext uri="{FF2B5EF4-FFF2-40B4-BE49-F238E27FC236}">
                <a16:creationId xmlns:a16="http://schemas.microsoft.com/office/drawing/2014/main" id="{BD5FB120-AC1C-4BFD-8E84-487B36B4507C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RA/QA</a:t>
            </a:r>
          </a:p>
        </p:txBody>
      </p:sp>
      <p:sp>
        <p:nvSpPr>
          <p:cNvPr id="9" name="현황-background">
            <a:extLst>
              <a:ext uri="{FF2B5EF4-FFF2-40B4-BE49-F238E27FC236}">
                <a16:creationId xmlns:a16="http://schemas.microsoft.com/office/drawing/2014/main" id="{14B5D95C-9824-4A50-9CD3-7AD691ECAC1C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9782175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현황-label">
            <a:extLst>
              <a:ext uri="{FF2B5EF4-FFF2-40B4-BE49-F238E27FC236}">
                <a16:creationId xmlns:a16="http://schemas.microsoft.com/office/drawing/2014/main" id="{203D4C4C-6BF0-4B5D-B8A4-B9F78A316321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733425" cy="1943100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현황-text">
            <a:extLst>
              <a:ext uri="{FF2B5EF4-FFF2-40B4-BE49-F238E27FC236}">
                <a16:creationId xmlns:a16="http://schemas.microsoft.com/office/drawing/2014/main" id="{03F79339-8189-47B5-80C1-7DD15A3BF2F8}"/>
              </a:ext>
            </a:extLst>
          </p:cNvPr>
          <p:cNvSpPr>
            <a:spLocks noGrp="1"/>
          </p:cNvSpPr>
          <p:nvPr/>
        </p:nvSpPr>
        <p:spPr>
          <a:xfrm>
            <a:off x="1895475" y="248602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현황</a:t>
            </a:r>
          </a:p>
        </p:txBody>
      </p:sp>
      <p:sp>
        <p:nvSpPr>
          <p:cNvPr id="12" name="현황-0">
            <a:extLst>
              <a:ext uri="{FF2B5EF4-FFF2-40B4-BE49-F238E27FC236}">
                <a16:creationId xmlns:a16="http://schemas.microsoft.com/office/drawing/2014/main" id="{4CAD3ADA-578E-48D1-B078-D242B461C3AC}"/>
              </a:ext>
            </a:extLst>
          </p:cNvPr>
          <p:cNvSpPr>
            <a:spLocks noGrp="1"/>
          </p:cNvSpPr>
          <p:nvPr/>
        </p:nvSpPr>
        <p:spPr>
          <a:xfrm>
            <a:off x="2733675" y="17621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1) 심포지엄·세미나·포럼·TTT 교육 운영과 함께 초청, 등록, 참석, 사후 팔로업 수행</a:t>
            </a:r>
          </a:p>
        </p:txBody>
      </p:sp>
      <p:sp>
        <p:nvSpPr>
          <p:cNvPr id="13" name="현황-1">
            <a:extLst>
              <a:ext uri="{FF2B5EF4-FFF2-40B4-BE49-F238E27FC236}">
                <a16:creationId xmlns:a16="http://schemas.microsoft.com/office/drawing/2014/main" id="{60BBD116-1B38-4586-8CA3-2A2F189BFFCA}"/>
              </a:ext>
            </a:extLst>
          </p:cNvPr>
          <p:cNvSpPr>
            <a:spLocks noGrp="1"/>
          </p:cNvSpPr>
          <p:nvPr/>
        </p:nvSpPr>
        <p:spPr>
          <a:xfrm>
            <a:off x="2733675" y="209550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2) 행사 홍보는 최소 2개월 전부터 티저 → Save the Date → 초청장 → 리마인더 순</a:t>
            </a:r>
          </a:p>
        </p:txBody>
      </p:sp>
      <p:sp>
        <p:nvSpPr>
          <p:cNvPr id="14" name="현황-2">
            <a:extLst>
              <a:ext uri="{FF2B5EF4-FFF2-40B4-BE49-F238E27FC236}">
                <a16:creationId xmlns:a16="http://schemas.microsoft.com/office/drawing/2014/main" id="{5FB4ED11-7448-4BD2-92C7-E99758CFD360}"/>
              </a:ext>
            </a:extLst>
          </p:cNvPr>
          <p:cNvSpPr>
            <a:spLocks noGrp="1"/>
          </p:cNvSpPr>
          <p:nvPr/>
        </p:nvSpPr>
        <p:spPr>
          <a:xfrm>
            <a:off x="2733675" y="242887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3) 영업의 인편 초청과 카카오·문자 안내를 병행하며, 등록이 행사 하루 전에 집중</a:t>
            </a:r>
          </a:p>
        </p:txBody>
      </p:sp>
      <p:sp>
        <p:nvSpPr>
          <p:cNvPr id="15" name="현황-3">
            <a:extLst>
              <a:ext uri="{FF2B5EF4-FFF2-40B4-BE49-F238E27FC236}">
                <a16:creationId xmlns:a16="http://schemas.microsoft.com/office/drawing/2014/main" id="{2478F7B2-FD46-4BBA-985C-D83D3C212DCC}"/>
              </a:ext>
            </a:extLst>
          </p:cNvPr>
          <p:cNvSpPr>
            <a:spLocks noGrp="1"/>
          </p:cNvSpPr>
          <p:nvPr/>
        </p:nvSpPr>
        <p:spPr>
          <a:xfrm>
            <a:off x="2733675" y="276225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4) 노쇼율은 평균 약 20%, 만족도는 5점 척도, 설문 회수율은 참석자의 약 20~30%</a:t>
            </a:r>
          </a:p>
        </p:txBody>
      </p:sp>
      <p:sp>
        <p:nvSpPr>
          <p:cNvPr id="16" name="현황-4">
            <a:extLst>
              <a:ext uri="{FF2B5EF4-FFF2-40B4-BE49-F238E27FC236}">
                <a16:creationId xmlns:a16="http://schemas.microsoft.com/office/drawing/2014/main" id="{788F3A50-DE87-49AE-BA74-74DCB7052795}"/>
              </a:ext>
            </a:extLst>
          </p:cNvPr>
          <p:cNvSpPr>
            <a:spLocks noGrp="1"/>
          </p:cNvSpPr>
          <p:nvPr/>
        </p:nvSpPr>
        <p:spPr>
          <a:xfrm>
            <a:off x="2733675" y="30956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5) 교육·수료 이력은 수동 관리. 상담 관심 고객은 7일 이내, 수료증은 확인 후 일주일 이내 처리</a:t>
            </a:r>
          </a:p>
        </p:txBody>
      </p:sp>
      <p:sp>
        <p:nvSpPr>
          <p:cNvPr id="17" name="니즈-background">
            <a:extLst>
              <a:ext uri="{FF2B5EF4-FFF2-40B4-BE49-F238E27FC236}">
                <a16:creationId xmlns:a16="http://schemas.microsoft.com/office/drawing/2014/main" id="{78BE2522-2731-4790-8E72-F82F3131A07C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9782175" cy="981075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니즈-label">
            <a:extLst>
              <a:ext uri="{FF2B5EF4-FFF2-40B4-BE49-F238E27FC236}">
                <a16:creationId xmlns:a16="http://schemas.microsoft.com/office/drawing/2014/main" id="{E09056CB-9256-4C11-9552-4F919DA1929F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733425" cy="981075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니즈-text">
            <a:extLst>
              <a:ext uri="{FF2B5EF4-FFF2-40B4-BE49-F238E27FC236}">
                <a16:creationId xmlns:a16="http://schemas.microsoft.com/office/drawing/2014/main" id="{CB8516F0-DA4A-4ACB-BC9F-D05B03E439B6}"/>
              </a:ext>
            </a:extLst>
          </p:cNvPr>
          <p:cNvSpPr>
            <a:spLocks noGrp="1"/>
          </p:cNvSpPr>
          <p:nvPr/>
        </p:nvSpPr>
        <p:spPr>
          <a:xfrm>
            <a:off x="1895475" y="4024313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니즈</a:t>
            </a:r>
          </a:p>
        </p:txBody>
      </p:sp>
      <p:sp>
        <p:nvSpPr>
          <p:cNvPr id="20" name="니즈-0">
            <a:extLst>
              <a:ext uri="{FF2B5EF4-FFF2-40B4-BE49-F238E27FC236}">
                <a16:creationId xmlns:a16="http://schemas.microsoft.com/office/drawing/2014/main" id="{1FD5579F-0599-475F-A3F8-7C1B5D0E2305}"/>
              </a:ext>
            </a:extLst>
          </p:cNvPr>
          <p:cNvSpPr>
            <a:spLocks noGrp="1"/>
          </p:cNvSpPr>
          <p:nvPr/>
        </p:nvSpPr>
        <p:spPr>
          <a:xfrm>
            <a:off x="2733675" y="37814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1) 미등록자 리마인드와 참석 후 설문·피드백 취합을 자동화해 누락·수작업 축소</a:t>
            </a:r>
          </a:p>
        </p:txBody>
      </p:sp>
      <p:sp>
        <p:nvSpPr>
          <p:cNvPr id="21" name="니즈-1">
            <a:extLst>
              <a:ext uri="{FF2B5EF4-FFF2-40B4-BE49-F238E27FC236}">
                <a16:creationId xmlns:a16="http://schemas.microsoft.com/office/drawing/2014/main" id="{5B61142D-CE68-4833-8831-5FC0C3FBC4FF}"/>
              </a:ext>
            </a:extLst>
          </p:cNvPr>
          <p:cNvSpPr>
            <a:spLocks noGrp="1"/>
          </p:cNvSpPr>
          <p:nvPr/>
        </p:nvSpPr>
        <p:spPr>
          <a:xfrm>
            <a:off x="2733675" y="41243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2) 고객별 코스·수료·자격·티어·행사 이력 확인, 노쇼 감소와 설문 회수율·만족도 향상</a:t>
            </a:r>
          </a:p>
        </p:txBody>
      </p:sp>
      <p:sp>
        <p:nvSpPr>
          <p:cNvPr id="22" name="과제-background">
            <a:extLst>
              <a:ext uri="{FF2B5EF4-FFF2-40B4-BE49-F238E27FC236}">
                <a16:creationId xmlns:a16="http://schemas.microsoft.com/office/drawing/2014/main" id="{EA5DD092-C974-493F-8D2B-8CF3AD0778D3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9782175" cy="1466850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과제-label">
            <a:extLst>
              <a:ext uri="{FF2B5EF4-FFF2-40B4-BE49-F238E27FC236}">
                <a16:creationId xmlns:a16="http://schemas.microsoft.com/office/drawing/2014/main" id="{9FE0BEB3-825D-4B43-9B04-94CF3CC59FB0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733425" cy="1466850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과제-text">
            <a:extLst>
              <a:ext uri="{FF2B5EF4-FFF2-40B4-BE49-F238E27FC236}">
                <a16:creationId xmlns:a16="http://schemas.microsoft.com/office/drawing/2014/main" id="{65FD2C48-F261-448C-AC38-99EC750CF036}"/>
              </a:ext>
            </a:extLst>
          </p:cNvPr>
          <p:cNvSpPr>
            <a:spLocks noGrp="1"/>
          </p:cNvSpPr>
          <p:nvPr/>
        </p:nvSpPr>
        <p:spPr>
          <a:xfrm>
            <a:off x="1895475" y="532447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과제</a:t>
            </a:r>
          </a:p>
        </p:txBody>
      </p:sp>
      <p:sp>
        <p:nvSpPr>
          <p:cNvPr id="25" name="과제-0">
            <a:extLst>
              <a:ext uri="{FF2B5EF4-FFF2-40B4-BE49-F238E27FC236}">
                <a16:creationId xmlns:a16="http://schemas.microsoft.com/office/drawing/2014/main" id="{D9B29C03-7F6F-4E44-850C-40D9A951404C}"/>
              </a:ext>
            </a:extLst>
          </p:cNvPr>
          <p:cNvSpPr>
            <a:spLocks noGrp="1"/>
          </p:cNvSpPr>
          <p:nvPr/>
        </p:nvSpPr>
        <p:spPr>
          <a:xfrm>
            <a:off x="2733675" y="483870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 dirty="0">
                <a:solidFill>
                  <a:srgbClr val="1A1A2E"/>
                </a:solidFill>
              </a:rPr>
              <a:t>1) [</a:t>
            </a:r>
            <a:r>
              <a:rPr sz="1298" b="0" dirty="0" err="1">
                <a:solidFill>
                  <a:srgbClr val="1A1A2E"/>
                </a:solidFill>
              </a:rPr>
              <a:t>설계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검토</a:t>
            </a:r>
            <a:r>
              <a:rPr sz="1298" b="0" dirty="0">
                <a:solidFill>
                  <a:srgbClr val="1A1A2E"/>
                </a:solidFill>
              </a:rPr>
              <a:t>] </a:t>
            </a:r>
            <a:r>
              <a:rPr sz="1298" b="0" dirty="0" err="1">
                <a:solidFill>
                  <a:srgbClr val="1A1A2E"/>
                </a:solidFill>
              </a:rPr>
              <a:t>등록·참석·설문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응답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여부에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따른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분기</a:t>
            </a:r>
            <a:r>
              <a:rPr sz="1298" b="0" dirty="0">
                <a:solidFill>
                  <a:srgbClr val="1A1A2E"/>
                </a:solidFill>
              </a:rPr>
              <a:t>, </a:t>
            </a:r>
            <a:r>
              <a:rPr sz="1298" b="0" dirty="0" err="1">
                <a:solidFill>
                  <a:srgbClr val="1A1A2E"/>
                </a:solidFill>
              </a:rPr>
              <a:t>후속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안내</a:t>
            </a:r>
            <a:endParaRPr sz="1298" b="0" dirty="0">
              <a:solidFill>
                <a:srgbClr val="1A1A2E"/>
              </a:solidFill>
            </a:endParaRPr>
          </a:p>
        </p:txBody>
      </p:sp>
      <p:sp>
        <p:nvSpPr>
          <p:cNvPr id="26" name="과제-1">
            <a:extLst>
              <a:ext uri="{FF2B5EF4-FFF2-40B4-BE49-F238E27FC236}">
                <a16:creationId xmlns:a16="http://schemas.microsoft.com/office/drawing/2014/main" id="{4E40CC1C-9C73-4C67-AAE3-B9EA37DF5612}"/>
              </a:ext>
            </a:extLst>
          </p:cNvPr>
          <p:cNvSpPr>
            <a:spLocks noGrp="1"/>
          </p:cNvSpPr>
          <p:nvPr/>
        </p:nvSpPr>
        <p:spPr>
          <a:xfrm>
            <a:off x="2733675" y="5210175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 dirty="0">
                <a:solidFill>
                  <a:srgbClr val="1A1A2E"/>
                </a:solidFill>
              </a:rPr>
              <a:t>2) </a:t>
            </a:r>
            <a:r>
              <a:rPr sz="1298" b="0" dirty="0" err="1">
                <a:solidFill>
                  <a:srgbClr val="1A1A2E"/>
                </a:solidFill>
              </a:rPr>
              <a:t>등록·현장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참석·설문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데이터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수집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방식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확인</a:t>
            </a:r>
            <a:endParaRPr sz="1298" b="0" dirty="0">
              <a:solidFill>
                <a:srgbClr val="1A1A2E"/>
              </a:solidFill>
            </a:endParaRPr>
          </a:p>
        </p:txBody>
      </p:sp>
      <p:sp>
        <p:nvSpPr>
          <p:cNvPr id="27" name="과제-2">
            <a:extLst>
              <a:ext uri="{FF2B5EF4-FFF2-40B4-BE49-F238E27FC236}">
                <a16:creationId xmlns:a16="http://schemas.microsoft.com/office/drawing/2014/main" id="{9F22F358-D9F8-4AAA-9482-65ABED57506D}"/>
              </a:ext>
            </a:extLst>
          </p:cNvPr>
          <p:cNvSpPr>
            <a:spLocks noGrp="1"/>
          </p:cNvSpPr>
          <p:nvPr/>
        </p:nvSpPr>
        <p:spPr>
          <a:xfrm>
            <a:off x="2733675" y="558165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 dirty="0">
                <a:solidFill>
                  <a:srgbClr val="1A1A2E"/>
                </a:solidFill>
              </a:rPr>
              <a:t>3) </a:t>
            </a:r>
            <a:r>
              <a:rPr sz="1298" b="0" dirty="0" err="1">
                <a:solidFill>
                  <a:srgbClr val="1A1A2E"/>
                </a:solidFill>
              </a:rPr>
              <a:t>행사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단계별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분기</a:t>
            </a:r>
            <a:r>
              <a:rPr lang="en-US" sz="1298" dirty="0">
                <a:solidFill>
                  <a:srgbClr val="1A1A2E"/>
                </a:solidFill>
              </a:rPr>
              <a:t> </a:t>
            </a:r>
            <a:r>
              <a:rPr lang="ko-KR" altLang="en-US" sz="1298" dirty="0">
                <a:solidFill>
                  <a:srgbClr val="1A1A2E"/>
                </a:solidFill>
              </a:rPr>
              <a:t>기준 </a:t>
            </a:r>
            <a:r>
              <a:rPr sz="1298" b="0" dirty="0" err="1">
                <a:solidFill>
                  <a:srgbClr val="1A1A2E"/>
                </a:solidFill>
              </a:rPr>
              <a:t>협의</a:t>
            </a:r>
            <a:r>
              <a:rPr lang="en-US" sz="1298" b="0" dirty="0">
                <a:solidFill>
                  <a:srgbClr val="1A1A2E"/>
                </a:solidFill>
              </a:rPr>
              <a:t> (</a:t>
            </a:r>
            <a:r>
              <a:rPr lang="ko-KR" altLang="en-US" sz="1298" b="0" dirty="0">
                <a:solidFill>
                  <a:srgbClr val="1A1A2E"/>
                </a:solidFill>
              </a:rPr>
              <a:t>데이터 확인</a:t>
            </a:r>
            <a:r>
              <a:rPr lang="en-US" altLang="ko-KR" sz="1298" b="0" dirty="0">
                <a:solidFill>
                  <a:srgbClr val="1A1A2E"/>
                </a:solidFill>
              </a:rPr>
              <a:t>)</a:t>
            </a:r>
            <a:endParaRPr sz="1298" b="0" dirty="0">
              <a:solidFill>
                <a:srgbClr val="1A1A2E"/>
              </a:solidFill>
            </a:endParaRPr>
          </a:p>
        </p:txBody>
      </p:sp>
      <p:sp>
        <p:nvSpPr>
          <p:cNvPr id="29" name="page-number">
            <a:extLst>
              <a:ext uri="{FF2B5EF4-FFF2-40B4-BE49-F238E27FC236}">
                <a16:creationId xmlns:a16="http://schemas.microsoft.com/office/drawing/2014/main" id="{0F04C4EE-D3BA-4CA4-BF41-CA06A6E7D519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19922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AAD7ADED-43CA-4CD9-B946-E9940F5313DA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sz="3000" b="1">
                <a:solidFill>
                  <a:srgbClr val="0072BC"/>
                </a:solidFill>
              </a:rPr>
              <a:t>인터뷰 결과 : 마케팅 ③ 채널·콘텐츠</a:t>
            </a:r>
          </a:p>
        </p:txBody>
      </p:sp>
      <p:sp>
        <p:nvSpPr>
          <p:cNvPr id="2" name="topic">
            <a:extLst>
              <a:ext uri="{FF2B5EF4-FFF2-40B4-BE49-F238E27FC236}">
                <a16:creationId xmlns:a16="http://schemas.microsoft.com/office/drawing/2014/main" id="{6E83D242-54A7-45F9-9590-B1EDC8D37239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0858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>
                <a:solidFill>
                  <a:srgbClr val="156082"/>
                </a:solidFill>
              </a:rPr>
              <a:t>메시지 목적과 고객 특성에 맞는 채널·콘텐츠 운영</a:t>
            </a:r>
          </a:p>
        </p:txBody>
      </p:sp>
      <p:sp>
        <p:nvSpPr>
          <p:cNvPr id="3" name="department-0">
            <a:extLst>
              <a:ext uri="{FF2B5EF4-FFF2-40B4-BE49-F238E27FC236}">
                <a16:creationId xmlns:a16="http://schemas.microsoft.com/office/drawing/2014/main" id="{9A2E8833-8A5C-4BDF-BFE5-6B8B68B5D8F7}"/>
              </a:ext>
            </a:extLst>
          </p:cNvPr>
          <p:cNvSpPr>
            <a:spLocks noGrp="1"/>
          </p:cNvSpPr>
          <p:nvPr/>
        </p:nvSpPr>
        <p:spPr>
          <a:xfrm>
            <a:off x="571500" y="1647825"/>
            <a:ext cx="1114425" cy="619125"/>
          </a:xfrm>
          <a:prstGeom prst="rect">
            <a:avLst/>
          </a:prstGeom>
          <a:solidFill>
            <a:srgbClr val="156082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epartment-text-0">
            <a:extLst>
              <a:ext uri="{FF2B5EF4-FFF2-40B4-BE49-F238E27FC236}">
                <a16:creationId xmlns:a16="http://schemas.microsoft.com/office/drawing/2014/main" id="{E7974856-BEE0-4383-B0C7-ED037E2CF62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마케팅</a:t>
            </a:r>
          </a:p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(HCP)</a:t>
            </a:r>
          </a:p>
        </p:txBody>
      </p:sp>
      <p:sp>
        <p:nvSpPr>
          <p:cNvPr id="5" name="department-1">
            <a:extLst>
              <a:ext uri="{FF2B5EF4-FFF2-40B4-BE49-F238E27FC236}">
                <a16:creationId xmlns:a16="http://schemas.microsoft.com/office/drawing/2014/main" id="{6C333F62-0877-4058-B4D8-F4B2C8E3D434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partment-text-1">
            <a:extLst>
              <a:ext uri="{FF2B5EF4-FFF2-40B4-BE49-F238E27FC236}">
                <a16:creationId xmlns:a16="http://schemas.microsoft.com/office/drawing/2014/main" id="{8EDC2B4E-EBF1-49BD-A793-570B0A70593D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세일즈</a:t>
            </a:r>
          </a:p>
        </p:txBody>
      </p:sp>
      <p:sp>
        <p:nvSpPr>
          <p:cNvPr id="7" name="department-2">
            <a:extLst>
              <a:ext uri="{FF2B5EF4-FFF2-40B4-BE49-F238E27FC236}">
                <a16:creationId xmlns:a16="http://schemas.microsoft.com/office/drawing/2014/main" id="{4C30D4B8-5769-4B56-B736-64671B450B50}"/>
              </a:ext>
            </a:extLst>
          </p:cNvPr>
          <p:cNvSpPr>
            <a:spLocks noGrp="1"/>
          </p:cNvSpPr>
          <p:nvPr/>
        </p:nvSpPr>
        <p:spPr>
          <a:xfrm>
            <a:off x="571500" y="31337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epartment-text-2">
            <a:extLst>
              <a:ext uri="{FF2B5EF4-FFF2-40B4-BE49-F238E27FC236}">
                <a16:creationId xmlns:a16="http://schemas.microsoft.com/office/drawing/2014/main" id="{E82EFCC7-0F40-4F86-9148-A19B0E17BED9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RA/QA</a:t>
            </a:r>
          </a:p>
        </p:txBody>
      </p:sp>
      <p:sp>
        <p:nvSpPr>
          <p:cNvPr id="9" name="현황-background">
            <a:extLst>
              <a:ext uri="{FF2B5EF4-FFF2-40B4-BE49-F238E27FC236}">
                <a16:creationId xmlns:a16="http://schemas.microsoft.com/office/drawing/2014/main" id="{570448CE-680C-47FE-9972-A0CA8D19E87D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9782175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현황-label">
            <a:extLst>
              <a:ext uri="{FF2B5EF4-FFF2-40B4-BE49-F238E27FC236}">
                <a16:creationId xmlns:a16="http://schemas.microsoft.com/office/drawing/2014/main" id="{0BB142A3-1428-4C4B-881B-169FC4D089F8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733425" cy="1943100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현황-text">
            <a:extLst>
              <a:ext uri="{FF2B5EF4-FFF2-40B4-BE49-F238E27FC236}">
                <a16:creationId xmlns:a16="http://schemas.microsoft.com/office/drawing/2014/main" id="{328DF52A-0F24-4271-8285-F634EB5F50DE}"/>
              </a:ext>
            </a:extLst>
          </p:cNvPr>
          <p:cNvSpPr>
            <a:spLocks noGrp="1"/>
          </p:cNvSpPr>
          <p:nvPr/>
        </p:nvSpPr>
        <p:spPr>
          <a:xfrm>
            <a:off x="1895475" y="248602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현황</a:t>
            </a:r>
          </a:p>
        </p:txBody>
      </p:sp>
      <p:sp>
        <p:nvSpPr>
          <p:cNvPr id="12" name="현황-0">
            <a:extLst>
              <a:ext uri="{FF2B5EF4-FFF2-40B4-BE49-F238E27FC236}">
                <a16:creationId xmlns:a16="http://schemas.microsoft.com/office/drawing/2014/main" id="{156372D9-0EB8-4823-B30C-483BB6DBAF01}"/>
              </a:ext>
            </a:extLst>
          </p:cNvPr>
          <p:cNvSpPr>
            <a:spLocks noGrp="1"/>
          </p:cNvSpPr>
          <p:nvPr/>
        </p:nvSpPr>
        <p:spPr>
          <a:xfrm>
            <a:off x="2733675" y="17621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1) HCP 디지털 접점은 카카오 채널이 중심이며, SMS·이메일·우편·홈페이지·직접 접촉 병행</a:t>
            </a:r>
          </a:p>
        </p:txBody>
      </p:sp>
      <p:sp>
        <p:nvSpPr>
          <p:cNvPr id="13" name="현황-1">
            <a:extLst>
              <a:ext uri="{FF2B5EF4-FFF2-40B4-BE49-F238E27FC236}">
                <a16:creationId xmlns:a16="http://schemas.microsoft.com/office/drawing/2014/main" id="{8A10F483-91E6-4E7D-AD7B-44CA15D9B042}"/>
              </a:ext>
            </a:extLst>
          </p:cNvPr>
          <p:cNvSpPr>
            <a:spLocks noGrp="1"/>
          </p:cNvSpPr>
          <p:nvPr/>
        </p:nvSpPr>
        <p:spPr>
          <a:xfrm>
            <a:off x="2733675" y="209550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2) B2B·B2C 카카오 계정은 분리 운영. 통합 홈페이지 내 HCP 로그인 후 학습 자료 다운로드</a:t>
            </a:r>
          </a:p>
        </p:txBody>
      </p:sp>
      <p:sp>
        <p:nvSpPr>
          <p:cNvPr id="14" name="현황-2">
            <a:extLst>
              <a:ext uri="{FF2B5EF4-FFF2-40B4-BE49-F238E27FC236}">
                <a16:creationId xmlns:a16="http://schemas.microsoft.com/office/drawing/2014/main" id="{65AF946C-CF37-4262-90F6-BA23BF54032E}"/>
              </a:ext>
            </a:extLst>
          </p:cNvPr>
          <p:cNvSpPr>
            <a:spLocks noGrp="1"/>
          </p:cNvSpPr>
          <p:nvPr/>
        </p:nvSpPr>
        <p:spPr>
          <a:xfrm>
            <a:off x="2733675" y="242887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3) 학술 정보·교육 일정·세미나·객관적 임상 자료에 관심이 높음</a:t>
            </a:r>
          </a:p>
        </p:txBody>
      </p:sp>
      <p:sp>
        <p:nvSpPr>
          <p:cNvPr id="15" name="현황-3">
            <a:extLst>
              <a:ext uri="{FF2B5EF4-FFF2-40B4-BE49-F238E27FC236}">
                <a16:creationId xmlns:a16="http://schemas.microsoft.com/office/drawing/2014/main" id="{00FECD18-1532-4305-9D18-F51BEE1CC4D3}"/>
              </a:ext>
            </a:extLst>
          </p:cNvPr>
          <p:cNvSpPr>
            <a:spLocks noGrp="1"/>
          </p:cNvSpPr>
          <p:nvPr/>
        </p:nvSpPr>
        <p:spPr>
          <a:xfrm>
            <a:off x="2733675" y="276225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4) 백서는 우편 발송, 뉴스레터는 PDF·영상·링크 활용. 홍보 자료는 영업이 요청 시 전달</a:t>
            </a:r>
          </a:p>
        </p:txBody>
      </p:sp>
      <p:sp>
        <p:nvSpPr>
          <p:cNvPr id="16" name="현황-4">
            <a:extLst>
              <a:ext uri="{FF2B5EF4-FFF2-40B4-BE49-F238E27FC236}">
                <a16:creationId xmlns:a16="http://schemas.microsoft.com/office/drawing/2014/main" id="{5965D0D5-6F3E-4D10-AA05-4C9D3BC86AE6}"/>
              </a:ext>
            </a:extLst>
          </p:cNvPr>
          <p:cNvSpPr>
            <a:spLocks noGrp="1"/>
          </p:cNvSpPr>
          <p:nvPr/>
        </p:nvSpPr>
        <p:spPr>
          <a:xfrm>
            <a:off x="2733675" y="30956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5) HCP 디자인 에셋의 주된 협의 창구는 디지털마케팅 담당자</a:t>
            </a:r>
          </a:p>
        </p:txBody>
      </p:sp>
      <p:sp>
        <p:nvSpPr>
          <p:cNvPr id="17" name="니즈-background">
            <a:extLst>
              <a:ext uri="{FF2B5EF4-FFF2-40B4-BE49-F238E27FC236}">
                <a16:creationId xmlns:a16="http://schemas.microsoft.com/office/drawing/2014/main" id="{A380E011-6AB9-40DC-B074-D82512A28DAD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9782175" cy="981075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니즈-label">
            <a:extLst>
              <a:ext uri="{FF2B5EF4-FFF2-40B4-BE49-F238E27FC236}">
                <a16:creationId xmlns:a16="http://schemas.microsoft.com/office/drawing/2014/main" id="{F4C25CA7-A77B-4FA7-A918-A08EC1AA8F0C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733425" cy="981075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니즈-text">
            <a:extLst>
              <a:ext uri="{FF2B5EF4-FFF2-40B4-BE49-F238E27FC236}">
                <a16:creationId xmlns:a16="http://schemas.microsoft.com/office/drawing/2014/main" id="{83EA4FDE-DACA-4751-9A1C-8FDE56ED81E5}"/>
              </a:ext>
            </a:extLst>
          </p:cNvPr>
          <p:cNvSpPr>
            <a:spLocks noGrp="1"/>
          </p:cNvSpPr>
          <p:nvPr/>
        </p:nvSpPr>
        <p:spPr>
          <a:xfrm>
            <a:off x="1895475" y="4024313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니즈</a:t>
            </a:r>
          </a:p>
        </p:txBody>
      </p:sp>
      <p:sp>
        <p:nvSpPr>
          <p:cNvPr id="20" name="니즈-0">
            <a:extLst>
              <a:ext uri="{FF2B5EF4-FFF2-40B4-BE49-F238E27FC236}">
                <a16:creationId xmlns:a16="http://schemas.microsoft.com/office/drawing/2014/main" id="{666A4EE5-0749-4D38-AA0E-57C8392F0A9C}"/>
              </a:ext>
            </a:extLst>
          </p:cNvPr>
          <p:cNvSpPr>
            <a:spLocks noGrp="1"/>
          </p:cNvSpPr>
          <p:nvPr/>
        </p:nvSpPr>
        <p:spPr>
          <a:xfrm>
            <a:off x="2733675" y="37814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1) 짧은 메시지는 카카오, 긴 뉴스레터 등은 이메일로 메시지 특성에 맞게 운영</a:t>
            </a:r>
          </a:p>
        </p:txBody>
      </p:sp>
      <p:sp>
        <p:nvSpPr>
          <p:cNvPr id="21" name="니즈-1">
            <a:extLst>
              <a:ext uri="{FF2B5EF4-FFF2-40B4-BE49-F238E27FC236}">
                <a16:creationId xmlns:a16="http://schemas.microsoft.com/office/drawing/2014/main" id="{90390EC6-73FB-400A-94AF-972D67DB49CF}"/>
              </a:ext>
            </a:extLst>
          </p:cNvPr>
          <p:cNvSpPr>
            <a:spLocks noGrp="1"/>
          </p:cNvSpPr>
          <p:nvPr/>
        </p:nvSpPr>
        <p:spPr>
          <a:xfrm>
            <a:off x="2733675" y="41243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2) 자료·교육 신청 CTA로 반응 수집 후 다음 콘텐츠 연결, 제품·직군·교육 이력별 차별화</a:t>
            </a:r>
          </a:p>
        </p:txBody>
      </p:sp>
      <p:sp>
        <p:nvSpPr>
          <p:cNvPr id="22" name="과제-background">
            <a:extLst>
              <a:ext uri="{FF2B5EF4-FFF2-40B4-BE49-F238E27FC236}">
                <a16:creationId xmlns:a16="http://schemas.microsoft.com/office/drawing/2014/main" id="{32FE3DA2-15CA-4306-8F26-47A3D1C6BB6F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9782175" cy="1466850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과제-label">
            <a:extLst>
              <a:ext uri="{FF2B5EF4-FFF2-40B4-BE49-F238E27FC236}">
                <a16:creationId xmlns:a16="http://schemas.microsoft.com/office/drawing/2014/main" id="{178B65EE-DD0B-43E4-8DC9-A326AE339D0B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733425" cy="1466850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과제-text">
            <a:extLst>
              <a:ext uri="{FF2B5EF4-FFF2-40B4-BE49-F238E27FC236}">
                <a16:creationId xmlns:a16="http://schemas.microsoft.com/office/drawing/2014/main" id="{2B20AF33-05C3-4834-A9B3-6F1B9DAE95F5}"/>
              </a:ext>
            </a:extLst>
          </p:cNvPr>
          <p:cNvSpPr>
            <a:spLocks noGrp="1"/>
          </p:cNvSpPr>
          <p:nvPr/>
        </p:nvSpPr>
        <p:spPr>
          <a:xfrm>
            <a:off x="1895475" y="532447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과제</a:t>
            </a:r>
          </a:p>
        </p:txBody>
      </p:sp>
      <p:sp>
        <p:nvSpPr>
          <p:cNvPr id="25" name="과제-0">
            <a:extLst>
              <a:ext uri="{FF2B5EF4-FFF2-40B4-BE49-F238E27FC236}">
                <a16:creationId xmlns:a16="http://schemas.microsoft.com/office/drawing/2014/main" id="{A4B30DBD-F13B-44ED-9D5A-B8B42392F4CC}"/>
              </a:ext>
            </a:extLst>
          </p:cNvPr>
          <p:cNvSpPr>
            <a:spLocks noGrp="1"/>
          </p:cNvSpPr>
          <p:nvPr/>
        </p:nvSpPr>
        <p:spPr>
          <a:xfrm>
            <a:off x="2733675" y="483870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 dirty="0">
                <a:solidFill>
                  <a:srgbClr val="1A1A2E"/>
                </a:solidFill>
              </a:rPr>
              <a:t>1) [</a:t>
            </a:r>
            <a:r>
              <a:rPr sz="1298" b="0" dirty="0" err="1">
                <a:solidFill>
                  <a:srgbClr val="1A1A2E"/>
                </a:solidFill>
              </a:rPr>
              <a:t>설계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검토</a:t>
            </a:r>
            <a:r>
              <a:rPr sz="1298" b="0" dirty="0">
                <a:solidFill>
                  <a:srgbClr val="1A1A2E"/>
                </a:solidFill>
              </a:rPr>
              <a:t>] </a:t>
            </a:r>
            <a:r>
              <a:rPr sz="1298" b="0" dirty="0" err="1">
                <a:solidFill>
                  <a:srgbClr val="1A1A2E"/>
                </a:solidFill>
              </a:rPr>
              <a:t>시나리오별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채널</a:t>
            </a:r>
            <a:r>
              <a:rPr sz="1298" b="0" dirty="0">
                <a:solidFill>
                  <a:srgbClr val="1A1A2E"/>
                </a:solidFill>
              </a:rPr>
              <a:t>, </a:t>
            </a:r>
            <a:r>
              <a:rPr sz="1298" b="0" dirty="0" err="1">
                <a:solidFill>
                  <a:srgbClr val="1A1A2E"/>
                </a:solidFill>
              </a:rPr>
              <a:t>메시지</a:t>
            </a:r>
            <a:r>
              <a:rPr sz="1298" b="0" dirty="0">
                <a:solidFill>
                  <a:srgbClr val="1A1A2E"/>
                </a:solidFill>
              </a:rPr>
              <a:t>, CTA, </a:t>
            </a:r>
            <a:r>
              <a:rPr sz="1298" b="0" dirty="0" err="1">
                <a:solidFill>
                  <a:srgbClr val="1A1A2E"/>
                </a:solidFill>
              </a:rPr>
              <a:t>랜딩</a:t>
            </a:r>
            <a:r>
              <a:rPr sz="1298" b="0" dirty="0">
                <a:solidFill>
                  <a:srgbClr val="1A1A2E"/>
                </a:solidFill>
              </a:rPr>
              <a:t> 및 </a:t>
            </a:r>
            <a:r>
              <a:rPr sz="1298" b="0" dirty="0" err="1">
                <a:solidFill>
                  <a:srgbClr val="1A1A2E"/>
                </a:solidFill>
              </a:rPr>
              <a:t>후속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분기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정의</a:t>
            </a:r>
            <a:endParaRPr sz="1298" b="0" dirty="0">
              <a:solidFill>
                <a:srgbClr val="1A1A2E"/>
              </a:solidFill>
            </a:endParaRPr>
          </a:p>
        </p:txBody>
      </p:sp>
      <p:sp>
        <p:nvSpPr>
          <p:cNvPr id="26" name="과제-1">
            <a:extLst>
              <a:ext uri="{FF2B5EF4-FFF2-40B4-BE49-F238E27FC236}">
                <a16:creationId xmlns:a16="http://schemas.microsoft.com/office/drawing/2014/main" id="{08E47249-6277-4D06-832A-958694B0E320}"/>
              </a:ext>
            </a:extLst>
          </p:cNvPr>
          <p:cNvSpPr>
            <a:spLocks noGrp="1"/>
          </p:cNvSpPr>
          <p:nvPr/>
        </p:nvSpPr>
        <p:spPr>
          <a:xfrm>
            <a:off x="2733675" y="5210175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 dirty="0">
                <a:solidFill>
                  <a:srgbClr val="1A1A2E"/>
                </a:solidFill>
              </a:rPr>
              <a:t>2) [</a:t>
            </a:r>
            <a:r>
              <a:rPr sz="1298" b="0" dirty="0" err="1">
                <a:solidFill>
                  <a:srgbClr val="1A1A2E"/>
                </a:solidFill>
              </a:rPr>
              <a:t>솔타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확인</a:t>
            </a:r>
            <a:r>
              <a:rPr sz="1298" b="0" dirty="0">
                <a:solidFill>
                  <a:srgbClr val="1A1A2E"/>
                </a:solidFill>
              </a:rPr>
              <a:t>] </a:t>
            </a:r>
            <a:r>
              <a:rPr sz="1298" b="0" dirty="0" err="1">
                <a:solidFill>
                  <a:srgbClr val="1A1A2E"/>
                </a:solidFill>
              </a:rPr>
              <a:t>활용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가능한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에셋</a:t>
            </a:r>
            <a:r>
              <a:rPr sz="1298" b="0" dirty="0">
                <a:solidFill>
                  <a:srgbClr val="1A1A2E"/>
                </a:solidFill>
              </a:rPr>
              <a:t>·</a:t>
            </a:r>
            <a:r>
              <a:rPr lang="en-US" sz="1298" b="0" dirty="0">
                <a:solidFill>
                  <a:srgbClr val="1A1A2E"/>
                </a:solidFill>
              </a:rPr>
              <a:t> </a:t>
            </a:r>
            <a:r>
              <a:rPr lang="ko-KR" altLang="en-US" sz="1298" b="0" dirty="0">
                <a:solidFill>
                  <a:srgbClr val="1A1A2E"/>
                </a:solidFill>
              </a:rPr>
              <a:t>콘텐츠 제작 후 </a:t>
            </a:r>
            <a:r>
              <a:rPr sz="1298" b="0" dirty="0" err="1">
                <a:solidFill>
                  <a:srgbClr val="1A1A2E"/>
                </a:solidFill>
              </a:rPr>
              <a:t>심의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lang="ko-KR" altLang="en-US" sz="1298" b="0" dirty="0">
                <a:solidFill>
                  <a:srgbClr val="1A1A2E"/>
                </a:solidFill>
              </a:rPr>
              <a:t>진행</a:t>
            </a:r>
            <a:endParaRPr sz="1298" b="0" dirty="0">
              <a:solidFill>
                <a:srgbClr val="1A1A2E"/>
              </a:solidFill>
            </a:endParaRPr>
          </a:p>
        </p:txBody>
      </p:sp>
      <p:sp>
        <p:nvSpPr>
          <p:cNvPr id="27" name="과제-2">
            <a:extLst>
              <a:ext uri="{FF2B5EF4-FFF2-40B4-BE49-F238E27FC236}">
                <a16:creationId xmlns:a16="http://schemas.microsoft.com/office/drawing/2014/main" id="{DB890C87-DECA-4482-AD26-1F489D0D08F6}"/>
              </a:ext>
            </a:extLst>
          </p:cNvPr>
          <p:cNvSpPr>
            <a:spLocks noGrp="1"/>
          </p:cNvSpPr>
          <p:nvPr/>
        </p:nvSpPr>
        <p:spPr>
          <a:xfrm>
            <a:off x="2733675" y="558165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3) 수신 동의·채널별 발송 가능 조건 확인, 콘텐츠 제작 일정에 심의 기간 반영</a:t>
            </a:r>
          </a:p>
        </p:txBody>
      </p:sp>
      <p:sp>
        <p:nvSpPr>
          <p:cNvPr id="29" name="page-number">
            <a:extLst>
              <a:ext uri="{FF2B5EF4-FFF2-40B4-BE49-F238E27FC236}">
                <a16:creationId xmlns:a16="http://schemas.microsoft.com/office/drawing/2014/main" id="{580A9B95-73FE-43B5-83FC-583E63AE87B5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9922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1E4223FE-70B2-417D-B2BA-60314834DA04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sz="3000" b="1">
                <a:solidFill>
                  <a:srgbClr val="0072BC"/>
                </a:solidFill>
              </a:rPr>
              <a:t>인터뷰 결과 : 마케팅 ④ 데이터·성과 관리</a:t>
            </a:r>
          </a:p>
        </p:txBody>
      </p:sp>
      <p:sp>
        <p:nvSpPr>
          <p:cNvPr id="2" name="topic">
            <a:extLst>
              <a:ext uri="{FF2B5EF4-FFF2-40B4-BE49-F238E27FC236}">
                <a16:creationId xmlns:a16="http://schemas.microsoft.com/office/drawing/2014/main" id="{126C8329-1D0F-405E-ADFA-CA8C24B3E0E4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0858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>
                <a:solidFill>
                  <a:srgbClr val="156082"/>
                </a:solidFill>
              </a:rPr>
              <a:t>고객·거래·반응 데이터를 활용한 CRM 마케팅</a:t>
            </a:r>
          </a:p>
        </p:txBody>
      </p:sp>
      <p:sp>
        <p:nvSpPr>
          <p:cNvPr id="3" name="department-0">
            <a:extLst>
              <a:ext uri="{FF2B5EF4-FFF2-40B4-BE49-F238E27FC236}">
                <a16:creationId xmlns:a16="http://schemas.microsoft.com/office/drawing/2014/main" id="{39E2B2E3-142C-4E99-AAAF-ACDE2ACA3651}"/>
              </a:ext>
            </a:extLst>
          </p:cNvPr>
          <p:cNvSpPr>
            <a:spLocks noGrp="1"/>
          </p:cNvSpPr>
          <p:nvPr/>
        </p:nvSpPr>
        <p:spPr>
          <a:xfrm>
            <a:off x="571500" y="1647825"/>
            <a:ext cx="1114425" cy="619125"/>
          </a:xfrm>
          <a:prstGeom prst="rect">
            <a:avLst/>
          </a:prstGeom>
          <a:solidFill>
            <a:srgbClr val="156082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epartment-text-0">
            <a:extLst>
              <a:ext uri="{FF2B5EF4-FFF2-40B4-BE49-F238E27FC236}">
                <a16:creationId xmlns:a16="http://schemas.microsoft.com/office/drawing/2014/main" id="{7D94498A-63D7-4284-9FD2-CDB6DD081219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마케팅</a:t>
            </a:r>
          </a:p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(HCP)</a:t>
            </a:r>
          </a:p>
        </p:txBody>
      </p:sp>
      <p:sp>
        <p:nvSpPr>
          <p:cNvPr id="5" name="department-1">
            <a:extLst>
              <a:ext uri="{FF2B5EF4-FFF2-40B4-BE49-F238E27FC236}">
                <a16:creationId xmlns:a16="http://schemas.microsoft.com/office/drawing/2014/main" id="{22EF4F49-BCFE-4DB5-980F-FDDBB30D13BC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partment-text-1">
            <a:extLst>
              <a:ext uri="{FF2B5EF4-FFF2-40B4-BE49-F238E27FC236}">
                <a16:creationId xmlns:a16="http://schemas.microsoft.com/office/drawing/2014/main" id="{25216949-EE70-4ADE-9299-41C8160E58FF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세일즈</a:t>
            </a:r>
          </a:p>
        </p:txBody>
      </p:sp>
      <p:sp>
        <p:nvSpPr>
          <p:cNvPr id="7" name="department-2">
            <a:extLst>
              <a:ext uri="{FF2B5EF4-FFF2-40B4-BE49-F238E27FC236}">
                <a16:creationId xmlns:a16="http://schemas.microsoft.com/office/drawing/2014/main" id="{9240FE6F-FFFF-40E5-B6BD-BFF7B7576397}"/>
              </a:ext>
            </a:extLst>
          </p:cNvPr>
          <p:cNvSpPr>
            <a:spLocks noGrp="1"/>
          </p:cNvSpPr>
          <p:nvPr/>
        </p:nvSpPr>
        <p:spPr>
          <a:xfrm>
            <a:off x="571500" y="31337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epartment-text-2">
            <a:extLst>
              <a:ext uri="{FF2B5EF4-FFF2-40B4-BE49-F238E27FC236}">
                <a16:creationId xmlns:a16="http://schemas.microsoft.com/office/drawing/2014/main" id="{2AB13117-2FB0-4A18-84B4-72242FD755D4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RA/QA</a:t>
            </a:r>
          </a:p>
        </p:txBody>
      </p:sp>
      <p:sp>
        <p:nvSpPr>
          <p:cNvPr id="9" name="현황-background">
            <a:extLst>
              <a:ext uri="{FF2B5EF4-FFF2-40B4-BE49-F238E27FC236}">
                <a16:creationId xmlns:a16="http://schemas.microsoft.com/office/drawing/2014/main" id="{9319FB0C-B44E-4FEE-B857-79A28970F7E1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9782175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현황-label">
            <a:extLst>
              <a:ext uri="{FF2B5EF4-FFF2-40B4-BE49-F238E27FC236}">
                <a16:creationId xmlns:a16="http://schemas.microsoft.com/office/drawing/2014/main" id="{B5C1C01D-0894-4AF9-9F44-FD266143916A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733425" cy="1943100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현황-text">
            <a:extLst>
              <a:ext uri="{FF2B5EF4-FFF2-40B4-BE49-F238E27FC236}">
                <a16:creationId xmlns:a16="http://schemas.microsoft.com/office/drawing/2014/main" id="{4A724AE3-AD81-4FE6-A593-C6B9DD749E30}"/>
              </a:ext>
            </a:extLst>
          </p:cNvPr>
          <p:cNvSpPr>
            <a:spLocks noGrp="1"/>
          </p:cNvSpPr>
          <p:nvPr/>
        </p:nvSpPr>
        <p:spPr>
          <a:xfrm>
            <a:off x="1895475" y="248602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현황</a:t>
            </a:r>
          </a:p>
        </p:txBody>
      </p:sp>
      <p:sp>
        <p:nvSpPr>
          <p:cNvPr id="12" name="현황-0">
            <a:extLst>
              <a:ext uri="{FF2B5EF4-FFF2-40B4-BE49-F238E27FC236}">
                <a16:creationId xmlns:a16="http://schemas.microsoft.com/office/drawing/2014/main" id="{595F204E-BD94-481C-B8F9-652F0CE2649A}"/>
              </a:ext>
            </a:extLst>
          </p:cNvPr>
          <p:cNvSpPr>
            <a:spLocks noGrp="1"/>
          </p:cNvSpPr>
          <p:nvPr/>
        </p:nvSpPr>
        <p:spPr>
          <a:xfrm>
            <a:off x="2733675" y="17621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1) 이벤트·광고·홈페이지 리드폼으로 고객 정보와 수신 동의를 수집해 웹사이트 DB에 저장</a:t>
            </a:r>
          </a:p>
        </p:txBody>
      </p:sp>
      <p:sp>
        <p:nvSpPr>
          <p:cNvPr id="13" name="현황-1">
            <a:extLst>
              <a:ext uri="{FF2B5EF4-FFF2-40B4-BE49-F238E27FC236}">
                <a16:creationId xmlns:a16="http://schemas.microsoft.com/office/drawing/2014/main" id="{5E797565-F1F2-4CCB-ADE2-98CCCA53B7E6}"/>
              </a:ext>
            </a:extLst>
          </p:cNvPr>
          <p:cNvSpPr>
            <a:spLocks noGrp="1"/>
          </p:cNvSpPr>
          <p:nvPr/>
        </p:nvSpPr>
        <p:spPr>
          <a:xfrm>
            <a:off x="2733675" y="209550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2) 웹사이트 DB 내 B2B·B2C는 구분되어 있으나 Data Cloud와는 미연동</a:t>
            </a:r>
          </a:p>
        </p:txBody>
      </p:sp>
      <p:sp>
        <p:nvSpPr>
          <p:cNvPr id="14" name="현황-2">
            <a:extLst>
              <a:ext uri="{FF2B5EF4-FFF2-40B4-BE49-F238E27FC236}">
                <a16:creationId xmlns:a16="http://schemas.microsoft.com/office/drawing/2014/main" id="{DD728F20-55CF-4EDB-BA86-A6C7A58C9E62}"/>
              </a:ext>
            </a:extLst>
          </p:cNvPr>
          <p:cNvSpPr>
            <a:spLocks noGrp="1"/>
          </p:cNvSpPr>
          <p:nvPr/>
        </p:nvSpPr>
        <p:spPr>
          <a:xfrm>
            <a:off x="2733675" y="242887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3) 카카오 열람률 등은 확인하지만 보유 고객 데이터와 연결되지 않음</a:t>
            </a:r>
          </a:p>
        </p:txBody>
      </p:sp>
      <p:sp>
        <p:nvSpPr>
          <p:cNvPr id="15" name="현황-3">
            <a:extLst>
              <a:ext uri="{FF2B5EF4-FFF2-40B4-BE49-F238E27FC236}">
                <a16:creationId xmlns:a16="http://schemas.microsoft.com/office/drawing/2014/main" id="{A89342C3-7247-4965-831A-E54E178BFCEB}"/>
              </a:ext>
            </a:extLst>
          </p:cNvPr>
          <p:cNvSpPr>
            <a:spLocks noGrp="1"/>
          </p:cNvSpPr>
          <p:nvPr/>
        </p:nvSpPr>
        <p:spPr>
          <a:xfrm>
            <a:off x="2733675" y="276225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4) 수신 동의 고객은 약 300~400명. 다음 해 초 1,000명 이상 목표, 1,700명 확보 필요성 언급</a:t>
            </a:r>
          </a:p>
        </p:txBody>
      </p:sp>
      <p:sp>
        <p:nvSpPr>
          <p:cNvPr id="16" name="현황-4">
            <a:extLst>
              <a:ext uri="{FF2B5EF4-FFF2-40B4-BE49-F238E27FC236}">
                <a16:creationId xmlns:a16="http://schemas.microsoft.com/office/drawing/2014/main" id="{A07AB50E-7F61-47EE-878B-DFAEB4E75D15}"/>
              </a:ext>
            </a:extLst>
          </p:cNvPr>
          <p:cNvSpPr>
            <a:spLocks noGrp="1"/>
          </p:cNvSpPr>
          <p:nvPr/>
        </p:nvSpPr>
        <p:spPr>
          <a:xfrm>
            <a:off x="2733675" y="30956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5) 발송·반응, 교육·행사, 팁 구매, 업셀·크로스셀 및 리텐션 성과를 관리하고자 함</a:t>
            </a:r>
          </a:p>
        </p:txBody>
      </p:sp>
      <p:sp>
        <p:nvSpPr>
          <p:cNvPr id="17" name="니즈-background">
            <a:extLst>
              <a:ext uri="{FF2B5EF4-FFF2-40B4-BE49-F238E27FC236}">
                <a16:creationId xmlns:a16="http://schemas.microsoft.com/office/drawing/2014/main" id="{6F5CB694-255D-47D2-936C-62BF4123C090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9782175" cy="981075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니즈-label">
            <a:extLst>
              <a:ext uri="{FF2B5EF4-FFF2-40B4-BE49-F238E27FC236}">
                <a16:creationId xmlns:a16="http://schemas.microsoft.com/office/drawing/2014/main" id="{E7D27B79-BE92-494C-A99F-6DD20181A183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733425" cy="981075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니즈-text">
            <a:extLst>
              <a:ext uri="{FF2B5EF4-FFF2-40B4-BE49-F238E27FC236}">
                <a16:creationId xmlns:a16="http://schemas.microsoft.com/office/drawing/2014/main" id="{65021BDC-4904-4900-8CFE-16A0CD7C0C20}"/>
              </a:ext>
            </a:extLst>
          </p:cNvPr>
          <p:cNvSpPr>
            <a:spLocks noGrp="1"/>
          </p:cNvSpPr>
          <p:nvPr/>
        </p:nvSpPr>
        <p:spPr>
          <a:xfrm>
            <a:off x="1895475" y="4024313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니즈</a:t>
            </a:r>
          </a:p>
        </p:txBody>
      </p:sp>
      <p:sp>
        <p:nvSpPr>
          <p:cNvPr id="20" name="니즈-0">
            <a:extLst>
              <a:ext uri="{FF2B5EF4-FFF2-40B4-BE49-F238E27FC236}">
                <a16:creationId xmlns:a16="http://schemas.microsoft.com/office/drawing/2014/main" id="{79B1DCE3-0A6E-4FE7-BAFC-D28EC5F9A5C8}"/>
              </a:ext>
            </a:extLst>
          </p:cNvPr>
          <p:cNvSpPr>
            <a:spLocks noGrp="1"/>
          </p:cNvSpPr>
          <p:nvPr/>
        </p:nvSpPr>
        <p:spPr>
          <a:xfrm>
            <a:off x="2733675" y="37814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 dirty="0">
                <a:solidFill>
                  <a:srgbClr val="1A1A2E"/>
                </a:solidFill>
              </a:rPr>
              <a:t>1) </a:t>
            </a:r>
            <a:r>
              <a:rPr sz="1298" b="0" dirty="0" err="1">
                <a:solidFill>
                  <a:srgbClr val="1A1A2E"/>
                </a:solidFill>
              </a:rPr>
              <a:t>웹사이트·카카오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접점과</a:t>
            </a:r>
            <a:r>
              <a:rPr sz="1298" b="0" dirty="0">
                <a:solidFill>
                  <a:srgbClr val="1A1A2E"/>
                </a:solidFill>
              </a:rPr>
              <a:t> Salesforce </a:t>
            </a:r>
            <a:r>
              <a:rPr sz="1298" b="0" dirty="0" err="1">
                <a:solidFill>
                  <a:srgbClr val="1A1A2E"/>
                </a:solidFill>
              </a:rPr>
              <a:t>거래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데이터를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연결해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세그먼트별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타겟팅</a:t>
            </a:r>
            <a:endParaRPr sz="1298" b="0" dirty="0">
              <a:solidFill>
                <a:srgbClr val="1A1A2E"/>
              </a:solidFill>
            </a:endParaRPr>
          </a:p>
        </p:txBody>
      </p:sp>
      <p:sp>
        <p:nvSpPr>
          <p:cNvPr id="21" name="니즈-1">
            <a:extLst>
              <a:ext uri="{FF2B5EF4-FFF2-40B4-BE49-F238E27FC236}">
                <a16:creationId xmlns:a16="http://schemas.microsoft.com/office/drawing/2014/main" id="{BEA7EBEC-AF3F-468A-BE8A-B07688F7996C}"/>
              </a:ext>
            </a:extLst>
          </p:cNvPr>
          <p:cNvSpPr>
            <a:spLocks noGrp="1"/>
          </p:cNvSpPr>
          <p:nvPr/>
        </p:nvSpPr>
        <p:spPr>
          <a:xfrm>
            <a:off x="2733675" y="41243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 dirty="0">
                <a:solidFill>
                  <a:srgbClr val="1A1A2E"/>
                </a:solidFill>
              </a:rPr>
              <a:t>2) </a:t>
            </a:r>
            <a:r>
              <a:rPr sz="1298" b="0" dirty="0" err="1">
                <a:solidFill>
                  <a:srgbClr val="1A1A2E"/>
                </a:solidFill>
              </a:rPr>
              <a:t>고객별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자료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신청·교육·행사·설문·반응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이력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누적</a:t>
            </a:r>
            <a:r>
              <a:rPr sz="1298" b="0" dirty="0">
                <a:solidFill>
                  <a:srgbClr val="1A1A2E"/>
                </a:solidFill>
              </a:rPr>
              <a:t>, </a:t>
            </a:r>
            <a:r>
              <a:rPr sz="1298" b="0" dirty="0" err="1">
                <a:solidFill>
                  <a:srgbClr val="1A1A2E"/>
                </a:solidFill>
              </a:rPr>
              <a:t>상담·방문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요청을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영업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담당자와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연결</a:t>
            </a:r>
            <a:endParaRPr sz="1298" b="0" dirty="0">
              <a:solidFill>
                <a:srgbClr val="1A1A2E"/>
              </a:solidFill>
            </a:endParaRPr>
          </a:p>
        </p:txBody>
      </p:sp>
      <p:sp>
        <p:nvSpPr>
          <p:cNvPr id="22" name="과제-background">
            <a:extLst>
              <a:ext uri="{FF2B5EF4-FFF2-40B4-BE49-F238E27FC236}">
                <a16:creationId xmlns:a16="http://schemas.microsoft.com/office/drawing/2014/main" id="{C09E7893-0817-4F0C-84EC-68E99931E81B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9782175" cy="1466850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과제-label">
            <a:extLst>
              <a:ext uri="{FF2B5EF4-FFF2-40B4-BE49-F238E27FC236}">
                <a16:creationId xmlns:a16="http://schemas.microsoft.com/office/drawing/2014/main" id="{2945752F-B494-4935-8524-F8CDD911CFD2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733425" cy="1466850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과제-text">
            <a:extLst>
              <a:ext uri="{FF2B5EF4-FFF2-40B4-BE49-F238E27FC236}">
                <a16:creationId xmlns:a16="http://schemas.microsoft.com/office/drawing/2014/main" id="{47E7F2F9-1308-4897-85AA-A77BCD3668F5}"/>
              </a:ext>
            </a:extLst>
          </p:cNvPr>
          <p:cNvSpPr>
            <a:spLocks noGrp="1"/>
          </p:cNvSpPr>
          <p:nvPr/>
        </p:nvSpPr>
        <p:spPr>
          <a:xfrm>
            <a:off x="1895475" y="532447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과제</a:t>
            </a:r>
          </a:p>
        </p:txBody>
      </p:sp>
      <p:sp>
        <p:nvSpPr>
          <p:cNvPr id="25" name="과제-0">
            <a:extLst>
              <a:ext uri="{FF2B5EF4-FFF2-40B4-BE49-F238E27FC236}">
                <a16:creationId xmlns:a16="http://schemas.microsoft.com/office/drawing/2014/main" id="{D86AC2A6-8B3F-40DE-8516-099C588D8407}"/>
              </a:ext>
            </a:extLst>
          </p:cNvPr>
          <p:cNvSpPr>
            <a:spLocks noGrp="1"/>
          </p:cNvSpPr>
          <p:nvPr/>
        </p:nvSpPr>
        <p:spPr>
          <a:xfrm>
            <a:off x="2733675" y="483870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 dirty="0">
                <a:solidFill>
                  <a:srgbClr val="1A1A2E"/>
                </a:solidFill>
              </a:rPr>
              <a:t>1) [</a:t>
            </a:r>
            <a:r>
              <a:rPr sz="1298" b="0" dirty="0" err="1">
                <a:solidFill>
                  <a:srgbClr val="1A1A2E"/>
                </a:solidFill>
              </a:rPr>
              <a:t>설계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검토</a:t>
            </a:r>
            <a:r>
              <a:rPr sz="1298" b="0" dirty="0">
                <a:solidFill>
                  <a:srgbClr val="1A1A2E"/>
                </a:solidFill>
              </a:rPr>
              <a:t>] </a:t>
            </a:r>
            <a:r>
              <a:rPr sz="1298" b="0" dirty="0" err="1">
                <a:solidFill>
                  <a:srgbClr val="1A1A2E"/>
                </a:solidFill>
              </a:rPr>
              <a:t>필수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데이터</a:t>
            </a:r>
            <a:r>
              <a:rPr sz="1298" b="0" dirty="0">
                <a:solidFill>
                  <a:srgbClr val="1A1A2E"/>
                </a:solidFill>
              </a:rPr>
              <a:t>, </a:t>
            </a:r>
            <a:r>
              <a:rPr sz="1298" b="0" dirty="0" err="1">
                <a:solidFill>
                  <a:srgbClr val="1A1A2E"/>
                </a:solidFill>
              </a:rPr>
              <a:t>고객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식별·동의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요건</a:t>
            </a:r>
            <a:r>
              <a:rPr sz="1298" b="0" dirty="0">
                <a:solidFill>
                  <a:srgbClr val="1A1A2E"/>
                </a:solidFill>
              </a:rPr>
              <a:t>, </a:t>
            </a:r>
            <a:r>
              <a:rPr sz="1298" b="0" dirty="0" err="1">
                <a:solidFill>
                  <a:srgbClr val="1A1A2E"/>
                </a:solidFill>
              </a:rPr>
              <a:t>반응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이벤트와</a:t>
            </a:r>
            <a:r>
              <a:rPr sz="1298" b="0" dirty="0">
                <a:solidFill>
                  <a:srgbClr val="1A1A2E"/>
                </a:solidFill>
              </a:rPr>
              <a:t> KPI </a:t>
            </a:r>
            <a:r>
              <a:rPr sz="1298" b="0" dirty="0" err="1">
                <a:solidFill>
                  <a:srgbClr val="1A1A2E"/>
                </a:solidFill>
              </a:rPr>
              <a:t>정의</a:t>
            </a:r>
            <a:endParaRPr sz="1298" b="0" dirty="0">
              <a:solidFill>
                <a:srgbClr val="1A1A2E"/>
              </a:solidFill>
            </a:endParaRPr>
          </a:p>
        </p:txBody>
      </p:sp>
      <p:sp>
        <p:nvSpPr>
          <p:cNvPr id="26" name="과제-1">
            <a:extLst>
              <a:ext uri="{FF2B5EF4-FFF2-40B4-BE49-F238E27FC236}">
                <a16:creationId xmlns:a16="http://schemas.microsoft.com/office/drawing/2014/main" id="{82BC867D-6AFB-4BA9-B3A2-289D7C66D0EA}"/>
              </a:ext>
            </a:extLst>
          </p:cNvPr>
          <p:cNvSpPr>
            <a:spLocks noGrp="1"/>
          </p:cNvSpPr>
          <p:nvPr/>
        </p:nvSpPr>
        <p:spPr>
          <a:xfrm>
            <a:off x="2733675" y="5210175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 dirty="0">
                <a:solidFill>
                  <a:srgbClr val="1A1A2E"/>
                </a:solidFill>
              </a:rPr>
              <a:t>2) [</a:t>
            </a:r>
            <a:r>
              <a:rPr sz="1298" b="0" dirty="0" err="1">
                <a:solidFill>
                  <a:srgbClr val="1A1A2E"/>
                </a:solidFill>
              </a:rPr>
              <a:t>솔타·개발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협의</a:t>
            </a:r>
            <a:r>
              <a:rPr sz="1298" b="0" dirty="0">
                <a:solidFill>
                  <a:srgbClr val="1A1A2E"/>
                </a:solidFill>
              </a:rPr>
              <a:t>] </a:t>
            </a:r>
            <a:r>
              <a:rPr sz="1298" b="0" dirty="0" err="1">
                <a:solidFill>
                  <a:srgbClr val="1A1A2E"/>
                </a:solidFill>
              </a:rPr>
              <a:t>웹사이트</a:t>
            </a:r>
            <a:r>
              <a:rPr sz="1298" b="0" dirty="0">
                <a:solidFill>
                  <a:srgbClr val="1A1A2E"/>
                </a:solidFill>
              </a:rPr>
              <a:t>–Salesforce </a:t>
            </a:r>
            <a:r>
              <a:rPr sz="1298" b="0" dirty="0" err="1">
                <a:solidFill>
                  <a:srgbClr val="1A1A2E"/>
                </a:solidFill>
              </a:rPr>
              <a:t>고객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매칭</a:t>
            </a:r>
            <a:r>
              <a:rPr sz="1298" b="0" dirty="0">
                <a:solidFill>
                  <a:srgbClr val="1A1A2E"/>
                </a:solidFill>
              </a:rPr>
              <a:t>, </a:t>
            </a:r>
            <a:r>
              <a:rPr sz="1298" b="0" dirty="0" err="1">
                <a:solidFill>
                  <a:srgbClr val="1A1A2E"/>
                </a:solidFill>
              </a:rPr>
              <a:t>동의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전달·갱신</a:t>
            </a:r>
            <a:r>
              <a:rPr sz="1298" b="0" dirty="0">
                <a:solidFill>
                  <a:srgbClr val="1A1A2E"/>
                </a:solidFill>
              </a:rPr>
              <a:t> 및 </a:t>
            </a:r>
            <a:r>
              <a:rPr sz="1298" b="0" dirty="0" err="1">
                <a:solidFill>
                  <a:srgbClr val="1A1A2E"/>
                </a:solidFill>
              </a:rPr>
              <a:t>거래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데이터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확인</a:t>
            </a:r>
            <a:endParaRPr sz="1298" b="0" dirty="0">
              <a:solidFill>
                <a:srgbClr val="1A1A2E"/>
              </a:solidFill>
            </a:endParaRPr>
          </a:p>
        </p:txBody>
      </p:sp>
      <p:sp>
        <p:nvSpPr>
          <p:cNvPr id="27" name="과제-2">
            <a:extLst>
              <a:ext uri="{FF2B5EF4-FFF2-40B4-BE49-F238E27FC236}">
                <a16:creationId xmlns:a16="http://schemas.microsoft.com/office/drawing/2014/main" id="{E409A1E2-51A0-4746-B204-62362C97B922}"/>
              </a:ext>
            </a:extLst>
          </p:cNvPr>
          <p:cNvSpPr>
            <a:spLocks noGrp="1"/>
          </p:cNvSpPr>
          <p:nvPr/>
        </p:nvSpPr>
        <p:spPr>
          <a:xfrm>
            <a:off x="2733675" y="558165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3) 소모품 구매 데이터 확보 경로와 고객 컬럼 샘플 확인, 데이터 입력·연동 R&amp;R 협의</a:t>
            </a:r>
          </a:p>
        </p:txBody>
      </p:sp>
      <p:sp>
        <p:nvSpPr>
          <p:cNvPr id="29" name="page-number">
            <a:extLst>
              <a:ext uri="{FF2B5EF4-FFF2-40B4-BE49-F238E27FC236}">
                <a16:creationId xmlns:a16="http://schemas.microsoft.com/office/drawing/2014/main" id="{35CE92EA-9F4B-412A-A614-EBCBB49F95CD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9922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8C74D0C0-AA22-4D90-8C6B-D5642CE549AC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sz="3000" b="1">
                <a:solidFill>
                  <a:srgbClr val="0072BC"/>
                </a:solidFill>
              </a:rPr>
              <a:t>인터뷰 결과 : 마케팅 ⑤ 시나리오 선정</a:t>
            </a:r>
          </a:p>
        </p:txBody>
      </p:sp>
      <p:sp>
        <p:nvSpPr>
          <p:cNvPr id="2" name="topic">
            <a:extLst>
              <a:ext uri="{FF2B5EF4-FFF2-40B4-BE49-F238E27FC236}">
                <a16:creationId xmlns:a16="http://schemas.microsoft.com/office/drawing/2014/main" id="{7B00AAFD-2924-41BE-BEC5-5C0929A45B36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0858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>
                <a:solidFill>
                  <a:srgbClr val="156082"/>
                </a:solidFill>
              </a:rPr>
              <a:t>HCP 중심 최종 3개 시나리오의 우선순위 결정</a:t>
            </a:r>
          </a:p>
        </p:txBody>
      </p:sp>
      <p:sp>
        <p:nvSpPr>
          <p:cNvPr id="3" name="department-0">
            <a:extLst>
              <a:ext uri="{FF2B5EF4-FFF2-40B4-BE49-F238E27FC236}">
                <a16:creationId xmlns:a16="http://schemas.microsoft.com/office/drawing/2014/main" id="{869CC29C-E4AA-4549-BFFA-62BDFA232D27}"/>
              </a:ext>
            </a:extLst>
          </p:cNvPr>
          <p:cNvSpPr>
            <a:spLocks noGrp="1"/>
          </p:cNvSpPr>
          <p:nvPr/>
        </p:nvSpPr>
        <p:spPr>
          <a:xfrm>
            <a:off x="571500" y="1647825"/>
            <a:ext cx="1114425" cy="619125"/>
          </a:xfrm>
          <a:prstGeom prst="rect">
            <a:avLst/>
          </a:prstGeom>
          <a:solidFill>
            <a:srgbClr val="156082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epartment-text-0">
            <a:extLst>
              <a:ext uri="{FF2B5EF4-FFF2-40B4-BE49-F238E27FC236}">
                <a16:creationId xmlns:a16="http://schemas.microsoft.com/office/drawing/2014/main" id="{CF0DD0C1-54F9-483A-AC7C-636356EE1F26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마케팅</a:t>
            </a:r>
          </a:p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(HCP)</a:t>
            </a:r>
          </a:p>
        </p:txBody>
      </p:sp>
      <p:sp>
        <p:nvSpPr>
          <p:cNvPr id="5" name="department-1">
            <a:extLst>
              <a:ext uri="{FF2B5EF4-FFF2-40B4-BE49-F238E27FC236}">
                <a16:creationId xmlns:a16="http://schemas.microsoft.com/office/drawing/2014/main" id="{304AF5ED-254A-4218-8229-210D90F12570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partment-text-1">
            <a:extLst>
              <a:ext uri="{FF2B5EF4-FFF2-40B4-BE49-F238E27FC236}">
                <a16:creationId xmlns:a16="http://schemas.microsoft.com/office/drawing/2014/main" id="{E055D2B6-E3FD-4495-B3A4-61B07CA601AB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세일즈</a:t>
            </a:r>
          </a:p>
        </p:txBody>
      </p:sp>
      <p:sp>
        <p:nvSpPr>
          <p:cNvPr id="7" name="department-2">
            <a:extLst>
              <a:ext uri="{FF2B5EF4-FFF2-40B4-BE49-F238E27FC236}">
                <a16:creationId xmlns:a16="http://schemas.microsoft.com/office/drawing/2014/main" id="{7E753125-5B25-49B8-B001-D2B67F6ECA77}"/>
              </a:ext>
            </a:extLst>
          </p:cNvPr>
          <p:cNvSpPr>
            <a:spLocks noGrp="1"/>
          </p:cNvSpPr>
          <p:nvPr/>
        </p:nvSpPr>
        <p:spPr>
          <a:xfrm>
            <a:off x="571500" y="31337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epartment-text-2">
            <a:extLst>
              <a:ext uri="{FF2B5EF4-FFF2-40B4-BE49-F238E27FC236}">
                <a16:creationId xmlns:a16="http://schemas.microsoft.com/office/drawing/2014/main" id="{A383DEAC-6F22-4260-A994-8A4535B2347B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RA/QA</a:t>
            </a:r>
          </a:p>
        </p:txBody>
      </p:sp>
      <p:sp>
        <p:nvSpPr>
          <p:cNvPr id="9" name="현황-background">
            <a:extLst>
              <a:ext uri="{FF2B5EF4-FFF2-40B4-BE49-F238E27FC236}">
                <a16:creationId xmlns:a16="http://schemas.microsoft.com/office/drawing/2014/main" id="{2B0E4DA0-9119-45A0-873E-FC9951B8EDBE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9782175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현황-label">
            <a:extLst>
              <a:ext uri="{FF2B5EF4-FFF2-40B4-BE49-F238E27FC236}">
                <a16:creationId xmlns:a16="http://schemas.microsoft.com/office/drawing/2014/main" id="{106D2017-E2A2-4689-9A88-A000E95EFEAB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733425" cy="1943100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현황-text">
            <a:extLst>
              <a:ext uri="{FF2B5EF4-FFF2-40B4-BE49-F238E27FC236}">
                <a16:creationId xmlns:a16="http://schemas.microsoft.com/office/drawing/2014/main" id="{1C912784-9D61-4794-BACA-B9BE071B530A}"/>
              </a:ext>
            </a:extLst>
          </p:cNvPr>
          <p:cNvSpPr>
            <a:spLocks noGrp="1"/>
          </p:cNvSpPr>
          <p:nvPr/>
        </p:nvSpPr>
        <p:spPr>
          <a:xfrm>
            <a:off x="1895475" y="248602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현황</a:t>
            </a:r>
          </a:p>
        </p:txBody>
      </p:sp>
      <p:sp>
        <p:nvSpPr>
          <p:cNvPr id="12" name="현황-0">
            <a:extLst>
              <a:ext uri="{FF2B5EF4-FFF2-40B4-BE49-F238E27FC236}">
                <a16:creationId xmlns:a16="http://schemas.microsoft.com/office/drawing/2014/main" id="{A977DD88-D9B0-49AB-884F-1059C3B2ADA1}"/>
              </a:ext>
            </a:extLst>
          </p:cNvPr>
          <p:cNvSpPr>
            <a:spLocks noGrp="1"/>
          </p:cNvSpPr>
          <p:nvPr/>
        </p:nvSpPr>
        <p:spPr>
          <a:xfrm>
            <a:off x="2733675" y="17621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1) 계약상 구축 시나리오는 총 3개이며, 구체적인 시나리오는 미확정</a:t>
            </a:r>
          </a:p>
        </p:txBody>
      </p:sp>
      <p:sp>
        <p:nvSpPr>
          <p:cNvPr id="13" name="현황-1">
            <a:extLst>
              <a:ext uri="{FF2B5EF4-FFF2-40B4-BE49-F238E27FC236}">
                <a16:creationId xmlns:a16="http://schemas.microsoft.com/office/drawing/2014/main" id="{C9F67527-F1E2-4529-8FF4-88EDAA1BF2A2}"/>
              </a:ext>
            </a:extLst>
          </p:cNvPr>
          <p:cNvSpPr>
            <a:spLocks noGrp="1"/>
          </p:cNvSpPr>
          <p:nvPr/>
        </p:nvSpPr>
        <p:spPr>
          <a:xfrm>
            <a:off x="2733675" y="209550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2) 마케팅은 내부적으로 약 20~30개 캠페인을 구상했으나 개수 제한은 사전에 공유받지 못함</a:t>
            </a:r>
          </a:p>
        </p:txBody>
      </p:sp>
      <p:sp>
        <p:nvSpPr>
          <p:cNvPr id="14" name="현황-2">
            <a:extLst>
              <a:ext uri="{FF2B5EF4-FFF2-40B4-BE49-F238E27FC236}">
                <a16:creationId xmlns:a16="http://schemas.microsoft.com/office/drawing/2014/main" id="{69481255-0BE8-4AA3-A824-ACA72635CDB6}"/>
              </a:ext>
            </a:extLst>
          </p:cNvPr>
          <p:cNvSpPr>
            <a:spLocks noGrp="1"/>
          </p:cNvSpPr>
          <p:nvPr/>
        </p:nvSpPr>
        <p:spPr>
          <a:xfrm>
            <a:off x="2733675" y="242887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3) 리텐션을 우선해야 한다는 의견과 행사 자동화의 운영 효율이 중요하다는 의견이 함께 제시</a:t>
            </a:r>
          </a:p>
        </p:txBody>
      </p:sp>
      <p:sp>
        <p:nvSpPr>
          <p:cNvPr id="15" name="현황-3">
            <a:extLst>
              <a:ext uri="{FF2B5EF4-FFF2-40B4-BE49-F238E27FC236}">
                <a16:creationId xmlns:a16="http://schemas.microsoft.com/office/drawing/2014/main" id="{4548AADD-F00C-4D89-8748-E4B0A53F6F6F}"/>
              </a:ext>
            </a:extLst>
          </p:cNvPr>
          <p:cNvSpPr>
            <a:spLocks noGrp="1"/>
          </p:cNvSpPr>
          <p:nvPr/>
        </p:nvSpPr>
        <p:spPr>
          <a:xfrm>
            <a:off x="2733675" y="276225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4) 인터뷰 당시 HCP·소비자 배분을 논의했으나 원문 후속 메모상 B2C는 제외, HCP만 해당</a:t>
            </a:r>
          </a:p>
        </p:txBody>
      </p:sp>
      <p:sp>
        <p:nvSpPr>
          <p:cNvPr id="16" name="현황-4">
            <a:extLst>
              <a:ext uri="{FF2B5EF4-FFF2-40B4-BE49-F238E27FC236}">
                <a16:creationId xmlns:a16="http://schemas.microsoft.com/office/drawing/2014/main" id="{858500CC-25AD-4ABC-9E96-70E0D6D8610C}"/>
              </a:ext>
            </a:extLst>
          </p:cNvPr>
          <p:cNvSpPr>
            <a:spLocks noGrp="1"/>
          </p:cNvSpPr>
          <p:nvPr/>
        </p:nvSpPr>
        <p:spPr>
          <a:xfrm>
            <a:off x="2733675" y="30956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5) 솔타가 비즈니스 우선순위를 결정하고 밀버스가 설계 문서를 작성, Accenture가 개발</a:t>
            </a:r>
          </a:p>
        </p:txBody>
      </p:sp>
      <p:sp>
        <p:nvSpPr>
          <p:cNvPr id="17" name="니즈-background">
            <a:extLst>
              <a:ext uri="{FF2B5EF4-FFF2-40B4-BE49-F238E27FC236}">
                <a16:creationId xmlns:a16="http://schemas.microsoft.com/office/drawing/2014/main" id="{FC372AB0-9410-46C8-9539-B602292C1183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9782175" cy="981075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니즈-label">
            <a:extLst>
              <a:ext uri="{FF2B5EF4-FFF2-40B4-BE49-F238E27FC236}">
                <a16:creationId xmlns:a16="http://schemas.microsoft.com/office/drawing/2014/main" id="{B620F262-3C6C-4FB6-94C3-55E9762A9211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733425" cy="981075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니즈-text">
            <a:extLst>
              <a:ext uri="{FF2B5EF4-FFF2-40B4-BE49-F238E27FC236}">
                <a16:creationId xmlns:a16="http://schemas.microsoft.com/office/drawing/2014/main" id="{B2EBF5DA-32D9-44D4-AB1A-2A5D29D78CA0}"/>
              </a:ext>
            </a:extLst>
          </p:cNvPr>
          <p:cNvSpPr>
            <a:spLocks noGrp="1"/>
          </p:cNvSpPr>
          <p:nvPr/>
        </p:nvSpPr>
        <p:spPr>
          <a:xfrm>
            <a:off x="1895475" y="4024313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니즈</a:t>
            </a:r>
          </a:p>
        </p:txBody>
      </p:sp>
      <p:sp>
        <p:nvSpPr>
          <p:cNvPr id="20" name="니즈-0">
            <a:extLst>
              <a:ext uri="{FF2B5EF4-FFF2-40B4-BE49-F238E27FC236}">
                <a16:creationId xmlns:a16="http://schemas.microsoft.com/office/drawing/2014/main" id="{252DF3AB-0C5A-49FC-AF47-C7680CCFE756}"/>
              </a:ext>
            </a:extLst>
          </p:cNvPr>
          <p:cNvSpPr>
            <a:spLocks noGrp="1"/>
          </p:cNvSpPr>
          <p:nvPr/>
        </p:nvSpPr>
        <p:spPr>
          <a:xfrm>
            <a:off x="2733675" y="37814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1) 수작업이 많고 자동화 효과가 큰 캠페인을 우선 적용</a:t>
            </a:r>
          </a:p>
        </p:txBody>
      </p:sp>
      <p:sp>
        <p:nvSpPr>
          <p:cNvPr id="21" name="니즈-1">
            <a:extLst>
              <a:ext uri="{FF2B5EF4-FFF2-40B4-BE49-F238E27FC236}">
                <a16:creationId xmlns:a16="http://schemas.microsoft.com/office/drawing/2014/main" id="{3D812561-C499-4BE1-8159-A0645789E0AE}"/>
              </a:ext>
            </a:extLst>
          </p:cNvPr>
          <p:cNvSpPr>
            <a:spLocks noGrp="1"/>
          </p:cNvSpPr>
          <p:nvPr/>
        </p:nvSpPr>
        <p:spPr>
          <a:xfrm>
            <a:off x="2733675" y="41243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2) 경영진·유관 부서 협의를 통해 3개 선정, 프로젝트 이후 추가 시나리오 운영·교육 범위 확인</a:t>
            </a:r>
          </a:p>
        </p:txBody>
      </p:sp>
      <p:sp>
        <p:nvSpPr>
          <p:cNvPr id="22" name="과제-background">
            <a:extLst>
              <a:ext uri="{FF2B5EF4-FFF2-40B4-BE49-F238E27FC236}">
                <a16:creationId xmlns:a16="http://schemas.microsoft.com/office/drawing/2014/main" id="{6312875B-B61B-4785-8878-1DE307E629FD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9782175" cy="1466850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과제-label">
            <a:extLst>
              <a:ext uri="{FF2B5EF4-FFF2-40B4-BE49-F238E27FC236}">
                <a16:creationId xmlns:a16="http://schemas.microsoft.com/office/drawing/2014/main" id="{A0FEB975-4CFB-47FD-874C-B9091B9B950C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733425" cy="1466850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과제-text">
            <a:extLst>
              <a:ext uri="{FF2B5EF4-FFF2-40B4-BE49-F238E27FC236}">
                <a16:creationId xmlns:a16="http://schemas.microsoft.com/office/drawing/2014/main" id="{97B445CD-3F21-4976-BDDC-45169E079626}"/>
              </a:ext>
            </a:extLst>
          </p:cNvPr>
          <p:cNvSpPr>
            <a:spLocks noGrp="1"/>
          </p:cNvSpPr>
          <p:nvPr/>
        </p:nvSpPr>
        <p:spPr>
          <a:xfrm>
            <a:off x="1895475" y="532447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과제</a:t>
            </a:r>
          </a:p>
        </p:txBody>
      </p:sp>
      <p:sp>
        <p:nvSpPr>
          <p:cNvPr id="25" name="과제-0">
            <a:extLst>
              <a:ext uri="{FF2B5EF4-FFF2-40B4-BE49-F238E27FC236}">
                <a16:creationId xmlns:a16="http://schemas.microsoft.com/office/drawing/2014/main" id="{C2B639EB-B7D8-492C-B835-AB59F0967B2F}"/>
              </a:ext>
            </a:extLst>
          </p:cNvPr>
          <p:cNvSpPr>
            <a:spLocks noGrp="1"/>
          </p:cNvSpPr>
          <p:nvPr/>
        </p:nvSpPr>
        <p:spPr>
          <a:xfrm>
            <a:off x="2733675" y="483870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 dirty="0">
                <a:solidFill>
                  <a:srgbClr val="1A1A2E"/>
                </a:solidFill>
              </a:rPr>
              <a:t>1) [</a:t>
            </a:r>
            <a:r>
              <a:rPr sz="1298" b="0" dirty="0" err="1">
                <a:solidFill>
                  <a:srgbClr val="1A1A2E"/>
                </a:solidFill>
              </a:rPr>
              <a:t>설계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검토</a:t>
            </a:r>
            <a:r>
              <a:rPr sz="1298" b="0" dirty="0">
                <a:solidFill>
                  <a:srgbClr val="1A1A2E"/>
                </a:solidFill>
              </a:rPr>
              <a:t>] </a:t>
            </a:r>
            <a:r>
              <a:rPr sz="1298" b="0" dirty="0" err="1">
                <a:solidFill>
                  <a:srgbClr val="1A1A2E"/>
                </a:solidFill>
              </a:rPr>
              <a:t>후보별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목적·대상·데이터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준비도·콘텐츠·심의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소요·효과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비교</a:t>
            </a:r>
            <a:endParaRPr sz="1298" b="0" dirty="0">
              <a:solidFill>
                <a:srgbClr val="1A1A2E"/>
              </a:solidFill>
            </a:endParaRPr>
          </a:p>
        </p:txBody>
      </p:sp>
      <p:sp>
        <p:nvSpPr>
          <p:cNvPr id="26" name="과제-1">
            <a:extLst>
              <a:ext uri="{FF2B5EF4-FFF2-40B4-BE49-F238E27FC236}">
                <a16:creationId xmlns:a16="http://schemas.microsoft.com/office/drawing/2014/main" id="{9738782C-D77B-4F39-9455-46832026A555}"/>
              </a:ext>
            </a:extLst>
          </p:cNvPr>
          <p:cNvSpPr>
            <a:spLocks noGrp="1"/>
          </p:cNvSpPr>
          <p:nvPr/>
        </p:nvSpPr>
        <p:spPr>
          <a:xfrm>
            <a:off x="2733675" y="5210175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 dirty="0">
                <a:solidFill>
                  <a:srgbClr val="1A1A2E"/>
                </a:solidFill>
              </a:rPr>
              <a:t>2) [</a:t>
            </a:r>
            <a:r>
              <a:rPr sz="1298" b="0" dirty="0" err="1">
                <a:solidFill>
                  <a:srgbClr val="1A1A2E"/>
                </a:solidFill>
              </a:rPr>
              <a:t>솔타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결정</a:t>
            </a:r>
            <a:r>
              <a:rPr sz="1298" b="0" dirty="0">
                <a:solidFill>
                  <a:srgbClr val="1A1A2E"/>
                </a:solidFill>
              </a:rPr>
              <a:t>] </a:t>
            </a:r>
            <a:r>
              <a:rPr sz="1298" b="0" dirty="0" err="1">
                <a:solidFill>
                  <a:srgbClr val="1A1A2E"/>
                </a:solidFill>
              </a:rPr>
              <a:t>최종</a:t>
            </a:r>
            <a:r>
              <a:rPr sz="1298" b="0" dirty="0">
                <a:solidFill>
                  <a:srgbClr val="1A1A2E"/>
                </a:solidFill>
              </a:rPr>
              <a:t> 3개 </a:t>
            </a:r>
            <a:r>
              <a:rPr sz="1298" b="0" dirty="0" err="1">
                <a:solidFill>
                  <a:srgbClr val="1A1A2E"/>
                </a:solidFill>
              </a:rPr>
              <a:t>시나리오와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시작·종료·분기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범위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확정</a:t>
            </a:r>
            <a:endParaRPr sz="1298" b="0" dirty="0">
              <a:solidFill>
                <a:srgbClr val="1A1A2E"/>
              </a:solidFill>
            </a:endParaRPr>
          </a:p>
        </p:txBody>
      </p:sp>
      <p:sp>
        <p:nvSpPr>
          <p:cNvPr id="27" name="과제-2">
            <a:extLst>
              <a:ext uri="{FF2B5EF4-FFF2-40B4-BE49-F238E27FC236}">
                <a16:creationId xmlns:a16="http://schemas.microsoft.com/office/drawing/2014/main" id="{25B85DC7-8CE8-4E73-BA65-6748C205C3EA}"/>
              </a:ext>
            </a:extLst>
          </p:cNvPr>
          <p:cNvSpPr>
            <a:spLocks noGrp="1"/>
          </p:cNvSpPr>
          <p:nvPr/>
        </p:nvSpPr>
        <p:spPr>
          <a:xfrm>
            <a:off x="2733675" y="558165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3) 추가 시나리오 자체 운영·별도 프로젝트 여부, 교육·라이선스 및 전체 일정 확인</a:t>
            </a:r>
          </a:p>
        </p:txBody>
      </p:sp>
      <p:sp>
        <p:nvSpPr>
          <p:cNvPr id="29" name="page-number">
            <a:extLst>
              <a:ext uri="{FF2B5EF4-FFF2-40B4-BE49-F238E27FC236}">
                <a16:creationId xmlns:a16="http://schemas.microsoft.com/office/drawing/2014/main" id="{A531D9FF-D289-4BD3-A2B8-25B1A32D6BA3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19922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EA7479D1-BAA2-439D-BF0D-18161D864333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sz="3000" b="1">
                <a:solidFill>
                  <a:srgbClr val="0072BC"/>
                </a:solidFill>
              </a:rPr>
              <a:t>인터뷰 결과 : 세일즈 ① 영업 프로세스</a:t>
            </a:r>
          </a:p>
        </p:txBody>
      </p:sp>
      <p:sp>
        <p:nvSpPr>
          <p:cNvPr id="2" name="topic">
            <a:extLst>
              <a:ext uri="{FF2B5EF4-FFF2-40B4-BE49-F238E27FC236}">
                <a16:creationId xmlns:a16="http://schemas.microsoft.com/office/drawing/2014/main" id="{FE51A270-79E8-4583-9669-E22A6B971596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0858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>
                <a:solidFill>
                  <a:srgbClr val="156082"/>
                </a:solidFill>
              </a:rPr>
              <a:t>Sales Cloud 활용과 마케팅–영업 후속 업무 연결</a:t>
            </a:r>
          </a:p>
        </p:txBody>
      </p:sp>
      <p:sp>
        <p:nvSpPr>
          <p:cNvPr id="3" name="department-0">
            <a:extLst>
              <a:ext uri="{FF2B5EF4-FFF2-40B4-BE49-F238E27FC236}">
                <a16:creationId xmlns:a16="http://schemas.microsoft.com/office/drawing/2014/main" id="{B2C4AF17-315D-4EC8-8558-C1465A95626E}"/>
              </a:ext>
            </a:extLst>
          </p:cNvPr>
          <p:cNvSpPr>
            <a:spLocks noGrp="1"/>
          </p:cNvSpPr>
          <p:nvPr/>
        </p:nvSpPr>
        <p:spPr>
          <a:xfrm>
            <a:off x="571500" y="16478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epartment-text-0">
            <a:extLst>
              <a:ext uri="{FF2B5EF4-FFF2-40B4-BE49-F238E27FC236}">
                <a16:creationId xmlns:a16="http://schemas.microsoft.com/office/drawing/2014/main" id="{038741EB-6C48-45A7-BC38-BEF90CD54403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마케팅</a:t>
            </a:r>
          </a:p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(HCP)</a:t>
            </a:r>
          </a:p>
        </p:txBody>
      </p:sp>
      <p:sp>
        <p:nvSpPr>
          <p:cNvPr id="5" name="department-1">
            <a:extLst>
              <a:ext uri="{FF2B5EF4-FFF2-40B4-BE49-F238E27FC236}">
                <a16:creationId xmlns:a16="http://schemas.microsoft.com/office/drawing/2014/main" id="{87B69019-F621-46F6-9AF0-843DD3805AF2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1114425" cy="619125"/>
          </a:xfrm>
          <a:prstGeom prst="rect">
            <a:avLst/>
          </a:prstGeom>
          <a:solidFill>
            <a:srgbClr val="156082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partment-text-1">
            <a:extLst>
              <a:ext uri="{FF2B5EF4-FFF2-40B4-BE49-F238E27FC236}">
                <a16:creationId xmlns:a16="http://schemas.microsoft.com/office/drawing/2014/main" id="{EFE2E77E-1DE3-47AF-9276-907F4F4C73F7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세일즈</a:t>
            </a:r>
          </a:p>
        </p:txBody>
      </p:sp>
      <p:sp>
        <p:nvSpPr>
          <p:cNvPr id="7" name="department-2">
            <a:extLst>
              <a:ext uri="{FF2B5EF4-FFF2-40B4-BE49-F238E27FC236}">
                <a16:creationId xmlns:a16="http://schemas.microsoft.com/office/drawing/2014/main" id="{0ADFDA8C-43C5-4123-9798-82AAB3DCF3FC}"/>
              </a:ext>
            </a:extLst>
          </p:cNvPr>
          <p:cNvSpPr>
            <a:spLocks noGrp="1"/>
          </p:cNvSpPr>
          <p:nvPr/>
        </p:nvSpPr>
        <p:spPr>
          <a:xfrm>
            <a:off x="571500" y="31337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epartment-text-2">
            <a:extLst>
              <a:ext uri="{FF2B5EF4-FFF2-40B4-BE49-F238E27FC236}">
                <a16:creationId xmlns:a16="http://schemas.microsoft.com/office/drawing/2014/main" id="{61A55848-51F9-4637-888A-3E84F6570115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RA/QA</a:t>
            </a:r>
          </a:p>
        </p:txBody>
      </p:sp>
      <p:sp>
        <p:nvSpPr>
          <p:cNvPr id="9" name="현황-background">
            <a:extLst>
              <a:ext uri="{FF2B5EF4-FFF2-40B4-BE49-F238E27FC236}">
                <a16:creationId xmlns:a16="http://schemas.microsoft.com/office/drawing/2014/main" id="{EC24929B-6CC0-4422-A78C-EEDBB5259F98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9782175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현황-label">
            <a:extLst>
              <a:ext uri="{FF2B5EF4-FFF2-40B4-BE49-F238E27FC236}">
                <a16:creationId xmlns:a16="http://schemas.microsoft.com/office/drawing/2014/main" id="{3BA20B6A-2DBD-4A77-8F80-8C4904EA42B6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733425" cy="1943100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현황-text">
            <a:extLst>
              <a:ext uri="{FF2B5EF4-FFF2-40B4-BE49-F238E27FC236}">
                <a16:creationId xmlns:a16="http://schemas.microsoft.com/office/drawing/2014/main" id="{2D0FADFB-7A71-4CAF-A898-2501C91050A1}"/>
              </a:ext>
            </a:extLst>
          </p:cNvPr>
          <p:cNvSpPr>
            <a:spLocks noGrp="1"/>
          </p:cNvSpPr>
          <p:nvPr/>
        </p:nvSpPr>
        <p:spPr>
          <a:xfrm>
            <a:off x="1895475" y="248602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현황</a:t>
            </a:r>
          </a:p>
        </p:txBody>
      </p:sp>
      <p:sp>
        <p:nvSpPr>
          <p:cNvPr id="12" name="현황-0">
            <a:extLst>
              <a:ext uri="{FF2B5EF4-FFF2-40B4-BE49-F238E27FC236}">
                <a16:creationId xmlns:a16="http://schemas.microsoft.com/office/drawing/2014/main" id="{CFA46613-C7C0-48CD-A9A8-D3A1371FA259}"/>
              </a:ext>
            </a:extLst>
          </p:cNvPr>
          <p:cNvSpPr>
            <a:spLocks noGrp="1"/>
          </p:cNvSpPr>
          <p:nvPr/>
        </p:nvSpPr>
        <p:spPr>
          <a:xfrm>
            <a:off x="2733675" y="17621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1) 영업팀 약 20명이 Sales Cloud 사용. Account는 모두 등록, 담당자가 계정·활동 직접 입력</a:t>
            </a:r>
          </a:p>
        </p:txBody>
      </p:sp>
      <p:sp>
        <p:nvSpPr>
          <p:cNvPr id="13" name="현황-1">
            <a:extLst>
              <a:ext uri="{FF2B5EF4-FFF2-40B4-BE49-F238E27FC236}">
                <a16:creationId xmlns:a16="http://schemas.microsoft.com/office/drawing/2014/main" id="{BFDFD5F4-0477-4459-A00A-0D8B80B85DC9}"/>
              </a:ext>
            </a:extLst>
          </p:cNvPr>
          <p:cNvSpPr>
            <a:spLocks noGrp="1"/>
          </p:cNvSpPr>
          <p:nvPr/>
        </p:nvSpPr>
        <p:spPr>
          <a:xfrm>
            <a:off x="2733675" y="209550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2) 주요 기능은 Opportunity·Task·Contact이며, 주간 보고와 데모·교육·콜 수 KPI 관리</a:t>
            </a:r>
          </a:p>
        </p:txBody>
      </p:sp>
      <p:sp>
        <p:nvSpPr>
          <p:cNvPr id="14" name="현황-2">
            <a:extLst>
              <a:ext uri="{FF2B5EF4-FFF2-40B4-BE49-F238E27FC236}">
                <a16:creationId xmlns:a16="http://schemas.microsoft.com/office/drawing/2014/main" id="{2553A945-EC4B-4D1A-942C-E2B34789DD91}"/>
              </a:ext>
            </a:extLst>
          </p:cNvPr>
          <p:cNvSpPr>
            <a:spLocks noGrp="1"/>
          </p:cNvSpPr>
          <p:nvPr/>
        </p:nvSpPr>
        <p:spPr>
          <a:xfrm>
            <a:off x="2733675" y="242887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3) 장비 판매는 초기·데모·클로징 단계를 기록. 주문 이전부터 Opportunity 생성</a:t>
            </a:r>
          </a:p>
        </p:txBody>
      </p:sp>
      <p:sp>
        <p:nvSpPr>
          <p:cNvPr id="15" name="현황-3">
            <a:extLst>
              <a:ext uri="{FF2B5EF4-FFF2-40B4-BE49-F238E27FC236}">
                <a16:creationId xmlns:a16="http://schemas.microsoft.com/office/drawing/2014/main" id="{7038E842-FCAB-4FCE-A5CD-78974C80840C}"/>
              </a:ext>
            </a:extLst>
          </p:cNvPr>
          <p:cNvSpPr>
            <a:spLocks noGrp="1"/>
          </p:cNvSpPr>
          <p:nvPr/>
        </p:nvSpPr>
        <p:spPr>
          <a:xfrm>
            <a:off x="2733675" y="276225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4) Closed Won은 계약 완료·주문, Closed Lost는 실패로 관리. 일별 활동은 Account별 Task 입력</a:t>
            </a:r>
          </a:p>
        </p:txBody>
      </p:sp>
      <p:sp>
        <p:nvSpPr>
          <p:cNvPr id="16" name="현황-4">
            <a:extLst>
              <a:ext uri="{FF2B5EF4-FFF2-40B4-BE49-F238E27FC236}">
                <a16:creationId xmlns:a16="http://schemas.microsoft.com/office/drawing/2014/main" id="{4110D557-62BB-4206-A615-E8BF8BA8ACD7}"/>
              </a:ext>
            </a:extLst>
          </p:cNvPr>
          <p:cNvSpPr>
            <a:spLocks noGrp="1"/>
          </p:cNvSpPr>
          <p:nvPr/>
        </p:nvSpPr>
        <p:spPr>
          <a:xfrm>
            <a:off x="2733675" y="30956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5) 리드 상세는 엑셀로 별도 관리하며 영업팀·CO팀의 고객 엑셀도 아직 정리되지 않음</a:t>
            </a:r>
          </a:p>
        </p:txBody>
      </p:sp>
      <p:sp>
        <p:nvSpPr>
          <p:cNvPr id="17" name="니즈-background">
            <a:extLst>
              <a:ext uri="{FF2B5EF4-FFF2-40B4-BE49-F238E27FC236}">
                <a16:creationId xmlns:a16="http://schemas.microsoft.com/office/drawing/2014/main" id="{911B1778-B58F-4FD1-B89F-B87AFE58F325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9782175" cy="981075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니즈-label">
            <a:extLst>
              <a:ext uri="{FF2B5EF4-FFF2-40B4-BE49-F238E27FC236}">
                <a16:creationId xmlns:a16="http://schemas.microsoft.com/office/drawing/2014/main" id="{54E378EF-FF76-425B-A6E7-E41CA608E363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733425" cy="981075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니즈-text">
            <a:extLst>
              <a:ext uri="{FF2B5EF4-FFF2-40B4-BE49-F238E27FC236}">
                <a16:creationId xmlns:a16="http://schemas.microsoft.com/office/drawing/2014/main" id="{A3765111-1CDC-41EC-ADB2-929C085CD0A7}"/>
              </a:ext>
            </a:extLst>
          </p:cNvPr>
          <p:cNvSpPr>
            <a:spLocks noGrp="1"/>
          </p:cNvSpPr>
          <p:nvPr/>
        </p:nvSpPr>
        <p:spPr>
          <a:xfrm>
            <a:off x="1895475" y="4024313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니즈</a:t>
            </a:r>
          </a:p>
        </p:txBody>
      </p:sp>
      <p:sp>
        <p:nvSpPr>
          <p:cNvPr id="20" name="니즈-0">
            <a:extLst>
              <a:ext uri="{FF2B5EF4-FFF2-40B4-BE49-F238E27FC236}">
                <a16:creationId xmlns:a16="http://schemas.microsoft.com/office/drawing/2014/main" id="{BEB9CDC6-AA8D-4069-B017-08B716F31CA6}"/>
              </a:ext>
            </a:extLst>
          </p:cNvPr>
          <p:cNvSpPr>
            <a:spLocks noGrp="1"/>
          </p:cNvSpPr>
          <p:nvPr/>
        </p:nvSpPr>
        <p:spPr>
          <a:xfrm>
            <a:off x="2733675" y="37814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1) 엑셀로 분산 관리하는 고객·영업 정보를 Salesforce로 통합</a:t>
            </a:r>
          </a:p>
        </p:txBody>
      </p:sp>
      <p:sp>
        <p:nvSpPr>
          <p:cNvPr id="21" name="니즈-1">
            <a:extLst>
              <a:ext uri="{FF2B5EF4-FFF2-40B4-BE49-F238E27FC236}">
                <a16:creationId xmlns:a16="http://schemas.microsoft.com/office/drawing/2014/main" id="{C0DC351D-B6F6-4CE6-8024-C0EF0890FD78}"/>
              </a:ext>
            </a:extLst>
          </p:cNvPr>
          <p:cNvSpPr>
            <a:spLocks noGrp="1"/>
          </p:cNvSpPr>
          <p:nvPr/>
        </p:nvSpPr>
        <p:spPr>
          <a:xfrm>
            <a:off x="2733675" y="41243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2) 영업 진행 사항과 고객 정보를 일관되게 확인하고 마케팅 요청을 후속 영업으로 연결</a:t>
            </a:r>
          </a:p>
        </p:txBody>
      </p:sp>
      <p:sp>
        <p:nvSpPr>
          <p:cNvPr id="22" name="과제-background">
            <a:extLst>
              <a:ext uri="{FF2B5EF4-FFF2-40B4-BE49-F238E27FC236}">
                <a16:creationId xmlns:a16="http://schemas.microsoft.com/office/drawing/2014/main" id="{82DC418F-48E1-44E6-B571-2A4FDC06A9BC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9782175" cy="1466850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과제-label">
            <a:extLst>
              <a:ext uri="{FF2B5EF4-FFF2-40B4-BE49-F238E27FC236}">
                <a16:creationId xmlns:a16="http://schemas.microsoft.com/office/drawing/2014/main" id="{5C55BFB5-5F60-4AE2-8E17-2B84F58D4F91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733425" cy="1466850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과제-text">
            <a:extLst>
              <a:ext uri="{FF2B5EF4-FFF2-40B4-BE49-F238E27FC236}">
                <a16:creationId xmlns:a16="http://schemas.microsoft.com/office/drawing/2014/main" id="{F1F1A51A-E533-4C57-B897-32DD8BD7E631}"/>
              </a:ext>
            </a:extLst>
          </p:cNvPr>
          <p:cNvSpPr>
            <a:spLocks noGrp="1"/>
          </p:cNvSpPr>
          <p:nvPr/>
        </p:nvSpPr>
        <p:spPr>
          <a:xfrm>
            <a:off x="1895475" y="532447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과제</a:t>
            </a:r>
          </a:p>
        </p:txBody>
      </p:sp>
      <p:sp>
        <p:nvSpPr>
          <p:cNvPr id="25" name="과제-0">
            <a:extLst>
              <a:ext uri="{FF2B5EF4-FFF2-40B4-BE49-F238E27FC236}">
                <a16:creationId xmlns:a16="http://schemas.microsoft.com/office/drawing/2014/main" id="{5E6B0A43-7122-4B66-B4B3-CA700B821585}"/>
              </a:ext>
            </a:extLst>
          </p:cNvPr>
          <p:cNvSpPr>
            <a:spLocks noGrp="1"/>
          </p:cNvSpPr>
          <p:nvPr/>
        </p:nvSpPr>
        <p:spPr>
          <a:xfrm>
            <a:off x="2733675" y="483870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1) [설계 검토] 마케팅 리드와 Account·Contact·Opportunity 연결 흐름 확인</a:t>
            </a:r>
          </a:p>
        </p:txBody>
      </p:sp>
      <p:sp>
        <p:nvSpPr>
          <p:cNvPr id="26" name="과제-1">
            <a:extLst>
              <a:ext uri="{FF2B5EF4-FFF2-40B4-BE49-F238E27FC236}">
                <a16:creationId xmlns:a16="http://schemas.microsoft.com/office/drawing/2014/main" id="{01F04981-3BD3-4C11-A200-158FF9D6A431}"/>
              </a:ext>
            </a:extLst>
          </p:cNvPr>
          <p:cNvSpPr>
            <a:spLocks noGrp="1"/>
          </p:cNvSpPr>
          <p:nvPr/>
        </p:nvSpPr>
        <p:spPr>
          <a:xfrm>
            <a:off x="2733675" y="5210175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 dirty="0">
                <a:solidFill>
                  <a:srgbClr val="1A1A2E"/>
                </a:solidFill>
              </a:rPr>
              <a:t>2) </a:t>
            </a:r>
            <a:r>
              <a:rPr sz="1298" b="0" dirty="0" err="1">
                <a:solidFill>
                  <a:srgbClr val="1A1A2E"/>
                </a:solidFill>
              </a:rPr>
              <a:t>상담·데모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요청의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전달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정보와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영업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팔로업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조건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정의</a:t>
            </a:r>
            <a:endParaRPr sz="1298" b="0" dirty="0">
              <a:solidFill>
                <a:srgbClr val="1A1A2E"/>
              </a:solidFill>
            </a:endParaRPr>
          </a:p>
        </p:txBody>
      </p:sp>
      <p:sp>
        <p:nvSpPr>
          <p:cNvPr id="27" name="과제-2">
            <a:extLst>
              <a:ext uri="{FF2B5EF4-FFF2-40B4-BE49-F238E27FC236}">
                <a16:creationId xmlns:a16="http://schemas.microsoft.com/office/drawing/2014/main" id="{2CA5F123-121B-402D-BBE9-63FACF094F7A}"/>
              </a:ext>
            </a:extLst>
          </p:cNvPr>
          <p:cNvSpPr>
            <a:spLocks noGrp="1"/>
          </p:cNvSpPr>
          <p:nvPr/>
        </p:nvSpPr>
        <p:spPr>
          <a:xfrm>
            <a:off x="2733675" y="558165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 dirty="0">
                <a:solidFill>
                  <a:srgbClr val="1A1A2E"/>
                </a:solidFill>
              </a:rPr>
              <a:t>3) [</a:t>
            </a:r>
            <a:r>
              <a:rPr sz="1298" b="0" dirty="0" err="1">
                <a:solidFill>
                  <a:srgbClr val="1A1A2E"/>
                </a:solidFill>
              </a:rPr>
              <a:t>솔타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확인</a:t>
            </a:r>
            <a:r>
              <a:rPr sz="1298" b="0" dirty="0">
                <a:solidFill>
                  <a:srgbClr val="1A1A2E"/>
                </a:solidFill>
              </a:rPr>
              <a:t>] </a:t>
            </a:r>
            <a:r>
              <a:rPr sz="1298" b="0" dirty="0" err="1">
                <a:solidFill>
                  <a:srgbClr val="1A1A2E"/>
                </a:solidFill>
              </a:rPr>
              <a:t>고객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파일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매칭·입력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기준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정리</a:t>
            </a:r>
            <a:r>
              <a:rPr sz="1298" b="0" dirty="0">
                <a:solidFill>
                  <a:srgbClr val="1A1A2E"/>
                </a:solidFill>
              </a:rPr>
              <a:t>, </a:t>
            </a:r>
            <a:r>
              <a:rPr sz="1298" b="0" dirty="0" err="1">
                <a:solidFill>
                  <a:srgbClr val="1A1A2E"/>
                </a:solidFill>
              </a:rPr>
              <a:t>업무상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리드와</a:t>
            </a:r>
            <a:r>
              <a:rPr sz="1298" b="0" dirty="0">
                <a:solidFill>
                  <a:srgbClr val="1A1A2E"/>
                </a:solidFill>
              </a:rPr>
              <a:t> Lead </a:t>
            </a:r>
            <a:r>
              <a:rPr sz="1298" b="0" dirty="0" err="1">
                <a:solidFill>
                  <a:srgbClr val="1A1A2E"/>
                </a:solidFill>
              </a:rPr>
              <a:t>오브젝트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사용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여부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구분</a:t>
            </a:r>
            <a:endParaRPr sz="1298" b="0" dirty="0">
              <a:solidFill>
                <a:srgbClr val="1A1A2E"/>
              </a:solidFill>
            </a:endParaRPr>
          </a:p>
        </p:txBody>
      </p:sp>
      <p:sp>
        <p:nvSpPr>
          <p:cNvPr id="29" name="page-number">
            <a:extLst>
              <a:ext uri="{FF2B5EF4-FFF2-40B4-BE49-F238E27FC236}">
                <a16:creationId xmlns:a16="http://schemas.microsoft.com/office/drawing/2014/main" id="{AD3504F3-C973-409E-8264-459D34ABF8AE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19922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A6450F02-5675-4501-92B3-6D3F2A95A2A5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sz="3000" b="1">
                <a:solidFill>
                  <a:srgbClr val="0072BC"/>
                </a:solidFill>
              </a:rPr>
              <a:t>인터뷰 결과 : 세일즈 ② 매출·조회 환경</a:t>
            </a:r>
          </a:p>
        </p:txBody>
      </p:sp>
      <p:sp>
        <p:nvSpPr>
          <p:cNvPr id="2" name="topic">
            <a:extLst>
              <a:ext uri="{FF2B5EF4-FFF2-40B4-BE49-F238E27FC236}">
                <a16:creationId xmlns:a16="http://schemas.microsoft.com/office/drawing/2014/main" id="{52DCBB81-CB1B-4CB2-A40D-8DDC0F51C4BD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0858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>
                <a:solidFill>
                  <a:srgbClr val="156082"/>
                </a:solidFill>
              </a:rPr>
              <a:t>거래 데이터 확보와 담당자별 매출 조회 개선</a:t>
            </a:r>
          </a:p>
        </p:txBody>
      </p:sp>
      <p:sp>
        <p:nvSpPr>
          <p:cNvPr id="3" name="department-0">
            <a:extLst>
              <a:ext uri="{FF2B5EF4-FFF2-40B4-BE49-F238E27FC236}">
                <a16:creationId xmlns:a16="http://schemas.microsoft.com/office/drawing/2014/main" id="{3FB7C4E8-249A-4B87-BF31-1601078AA7C4}"/>
              </a:ext>
            </a:extLst>
          </p:cNvPr>
          <p:cNvSpPr>
            <a:spLocks noGrp="1"/>
          </p:cNvSpPr>
          <p:nvPr/>
        </p:nvSpPr>
        <p:spPr>
          <a:xfrm>
            <a:off x="571500" y="16478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epartment-text-0">
            <a:extLst>
              <a:ext uri="{FF2B5EF4-FFF2-40B4-BE49-F238E27FC236}">
                <a16:creationId xmlns:a16="http://schemas.microsoft.com/office/drawing/2014/main" id="{77A94D13-A30F-463D-BB08-36E625EED458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마케팅</a:t>
            </a:r>
          </a:p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(HCP)</a:t>
            </a:r>
          </a:p>
        </p:txBody>
      </p:sp>
      <p:sp>
        <p:nvSpPr>
          <p:cNvPr id="5" name="department-1">
            <a:extLst>
              <a:ext uri="{FF2B5EF4-FFF2-40B4-BE49-F238E27FC236}">
                <a16:creationId xmlns:a16="http://schemas.microsoft.com/office/drawing/2014/main" id="{15B52A42-C8A3-407D-99E6-F543255F6856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1114425" cy="619125"/>
          </a:xfrm>
          <a:prstGeom prst="rect">
            <a:avLst/>
          </a:prstGeom>
          <a:solidFill>
            <a:srgbClr val="156082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partment-text-1">
            <a:extLst>
              <a:ext uri="{FF2B5EF4-FFF2-40B4-BE49-F238E27FC236}">
                <a16:creationId xmlns:a16="http://schemas.microsoft.com/office/drawing/2014/main" id="{B85372BE-3A9A-4BCD-AF01-24C176D05064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세일즈</a:t>
            </a:r>
          </a:p>
        </p:txBody>
      </p:sp>
      <p:sp>
        <p:nvSpPr>
          <p:cNvPr id="7" name="department-2">
            <a:extLst>
              <a:ext uri="{FF2B5EF4-FFF2-40B4-BE49-F238E27FC236}">
                <a16:creationId xmlns:a16="http://schemas.microsoft.com/office/drawing/2014/main" id="{4023B191-A96D-4487-A32B-0BC995213CA2}"/>
              </a:ext>
            </a:extLst>
          </p:cNvPr>
          <p:cNvSpPr>
            <a:spLocks noGrp="1"/>
          </p:cNvSpPr>
          <p:nvPr/>
        </p:nvSpPr>
        <p:spPr>
          <a:xfrm>
            <a:off x="571500" y="31337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epartment-text-2">
            <a:extLst>
              <a:ext uri="{FF2B5EF4-FFF2-40B4-BE49-F238E27FC236}">
                <a16:creationId xmlns:a16="http://schemas.microsoft.com/office/drawing/2014/main" id="{2240ACD8-60DA-41CE-BA9D-A2912177155C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RA/QA</a:t>
            </a:r>
          </a:p>
        </p:txBody>
      </p:sp>
      <p:sp>
        <p:nvSpPr>
          <p:cNvPr id="9" name="현황-background">
            <a:extLst>
              <a:ext uri="{FF2B5EF4-FFF2-40B4-BE49-F238E27FC236}">
                <a16:creationId xmlns:a16="http://schemas.microsoft.com/office/drawing/2014/main" id="{BF47F970-D714-41BF-957D-424C3C46FFD6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9782175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현황-label">
            <a:extLst>
              <a:ext uri="{FF2B5EF4-FFF2-40B4-BE49-F238E27FC236}">
                <a16:creationId xmlns:a16="http://schemas.microsoft.com/office/drawing/2014/main" id="{D88C3666-6997-4C3A-BD08-4F834E7C6FDF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733425" cy="1943100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현황-text">
            <a:extLst>
              <a:ext uri="{FF2B5EF4-FFF2-40B4-BE49-F238E27FC236}">
                <a16:creationId xmlns:a16="http://schemas.microsoft.com/office/drawing/2014/main" id="{41E5B8A5-E495-4B78-8BEC-5602F8DA30A2}"/>
              </a:ext>
            </a:extLst>
          </p:cNvPr>
          <p:cNvSpPr>
            <a:spLocks noGrp="1"/>
          </p:cNvSpPr>
          <p:nvPr/>
        </p:nvSpPr>
        <p:spPr>
          <a:xfrm>
            <a:off x="1895475" y="248602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현황</a:t>
            </a:r>
          </a:p>
        </p:txBody>
      </p:sp>
      <p:sp>
        <p:nvSpPr>
          <p:cNvPr id="12" name="현황-0">
            <a:extLst>
              <a:ext uri="{FF2B5EF4-FFF2-40B4-BE49-F238E27FC236}">
                <a16:creationId xmlns:a16="http://schemas.microsoft.com/office/drawing/2014/main" id="{7BD8A0B2-868C-4EA0-9879-97C52534F77D}"/>
              </a:ext>
            </a:extLst>
          </p:cNvPr>
          <p:cNvSpPr>
            <a:spLocks noGrp="1"/>
          </p:cNvSpPr>
          <p:nvPr/>
        </p:nvSpPr>
        <p:spPr>
          <a:xfrm>
            <a:off x="2733675" y="17621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1) 제품군은 일부 구분되어 있으나 매출·금액은 엑셀로 별도 관리</a:t>
            </a:r>
          </a:p>
        </p:txBody>
      </p:sp>
      <p:sp>
        <p:nvSpPr>
          <p:cNvPr id="13" name="현황-1">
            <a:extLst>
              <a:ext uri="{FF2B5EF4-FFF2-40B4-BE49-F238E27FC236}">
                <a16:creationId xmlns:a16="http://schemas.microsoft.com/office/drawing/2014/main" id="{86FB3CD5-03FF-45EB-996A-36588A76269C}"/>
              </a:ext>
            </a:extLst>
          </p:cNvPr>
          <p:cNvSpPr>
            <a:spLocks noGrp="1"/>
          </p:cNvSpPr>
          <p:nvPr/>
        </p:nvSpPr>
        <p:spPr>
          <a:xfrm>
            <a:off x="2733675" y="209550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2) 계정에 매출이 연결되지 않아 Salesforce는 주로 활동 추적에 활용</a:t>
            </a:r>
          </a:p>
        </p:txBody>
      </p:sp>
      <p:sp>
        <p:nvSpPr>
          <p:cNvPr id="14" name="현황-2">
            <a:extLst>
              <a:ext uri="{FF2B5EF4-FFF2-40B4-BE49-F238E27FC236}">
                <a16:creationId xmlns:a16="http://schemas.microsoft.com/office/drawing/2014/main" id="{754A207E-DF52-42A2-ABB7-0B64C1193CDE}"/>
              </a:ext>
            </a:extLst>
          </p:cNvPr>
          <p:cNvSpPr>
            <a:spLocks noGrp="1"/>
          </p:cNvSpPr>
          <p:nvPr/>
        </p:nvSpPr>
        <p:spPr>
          <a:xfrm>
            <a:off x="2733675" y="242887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3) 소모품 매출은 총판을 통해 받으며 Salesforce에는 없음</a:t>
            </a:r>
          </a:p>
        </p:txBody>
      </p:sp>
      <p:sp>
        <p:nvSpPr>
          <p:cNvPr id="15" name="현황-3">
            <a:extLst>
              <a:ext uri="{FF2B5EF4-FFF2-40B4-BE49-F238E27FC236}">
                <a16:creationId xmlns:a16="http://schemas.microsoft.com/office/drawing/2014/main" id="{EDEB3B9E-6726-4806-B833-3C63C5BAFA49}"/>
              </a:ext>
            </a:extLst>
          </p:cNvPr>
          <p:cNvSpPr>
            <a:spLocks noGrp="1"/>
          </p:cNvSpPr>
          <p:nvPr/>
        </p:nvSpPr>
        <p:spPr>
          <a:xfrm>
            <a:off x="2733675" y="276225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4) APAC 공용 org의 계정·담당자 구성이 KR과 맞지 않아 지역·담당자별 정렬이 불편</a:t>
            </a:r>
          </a:p>
        </p:txBody>
      </p:sp>
      <p:sp>
        <p:nvSpPr>
          <p:cNvPr id="16" name="현황-4">
            <a:extLst>
              <a:ext uri="{FF2B5EF4-FFF2-40B4-BE49-F238E27FC236}">
                <a16:creationId xmlns:a16="http://schemas.microsoft.com/office/drawing/2014/main" id="{6FAA6849-88B0-40F2-9921-F9CA8AE4EDA6}"/>
              </a:ext>
            </a:extLst>
          </p:cNvPr>
          <p:cNvSpPr>
            <a:spLocks noGrp="1"/>
          </p:cNvSpPr>
          <p:nvPr/>
        </p:nvSpPr>
        <p:spPr>
          <a:xfrm>
            <a:off x="2733675" y="30956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5) SFDC–D365는 일부 연동된 것으로 알지만 정확한 범위는 모름. 영업팀은 D365 권한 없음</a:t>
            </a:r>
          </a:p>
        </p:txBody>
      </p:sp>
      <p:sp>
        <p:nvSpPr>
          <p:cNvPr id="17" name="니즈-background">
            <a:extLst>
              <a:ext uri="{FF2B5EF4-FFF2-40B4-BE49-F238E27FC236}">
                <a16:creationId xmlns:a16="http://schemas.microsoft.com/office/drawing/2014/main" id="{6B27B96B-A063-4909-8D35-52BD58FCC295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9782175" cy="981075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니즈-label">
            <a:extLst>
              <a:ext uri="{FF2B5EF4-FFF2-40B4-BE49-F238E27FC236}">
                <a16:creationId xmlns:a16="http://schemas.microsoft.com/office/drawing/2014/main" id="{946F1C2F-1B23-4EE7-B791-6BA03667091D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733425" cy="981075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니즈-text">
            <a:extLst>
              <a:ext uri="{FF2B5EF4-FFF2-40B4-BE49-F238E27FC236}">
                <a16:creationId xmlns:a16="http://schemas.microsoft.com/office/drawing/2014/main" id="{7E1A2330-05C4-4462-AFCB-88972398E301}"/>
              </a:ext>
            </a:extLst>
          </p:cNvPr>
          <p:cNvSpPr>
            <a:spLocks noGrp="1"/>
          </p:cNvSpPr>
          <p:nvPr/>
        </p:nvSpPr>
        <p:spPr>
          <a:xfrm>
            <a:off x="1895475" y="4024313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니즈</a:t>
            </a:r>
          </a:p>
        </p:txBody>
      </p:sp>
      <p:sp>
        <p:nvSpPr>
          <p:cNvPr id="20" name="니즈-0">
            <a:extLst>
              <a:ext uri="{FF2B5EF4-FFF2-40B4-BE49-F238E27FC236}">
                <a16:creationId xmlns:a16="http://schemas.microsoft.com/office/drawing/2014/main" id="{835AD0F8-4E52-46E1-A2C2-BBD1190FE293}"/>
              </a:ext>
            </a:extLst>
          </p:cNvPr>
          <p:cNvSpPr>
            <a:spLocks noGrp="1"/>
          </p:cNvSpPr>
          <p:nvPr/>
        </p:nvSpPr>
        <p:spPr>
          <a:xfrm>
            <a:off x="2733675" y="37814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1) 담당자별·거래처별 매출 확인이 최우선이며 리드·Opportunity의 예상 매출 확인 희망</a:t>
            </a:r>
          </a:p>
        </p:txBody>
      </p:sp>
      <p:sp>
        <p:nvSpPr>
          <p:cNvPr id="21" name="니즈-1">
            <a:extLst>
              <a:ext uri="{FF2B5EF4-FFF2-40B4-BE49-F238E27FC236}">
                <a16:creationId xmlns:a16="http://schemas.microsoft.com/office/drawing/2014/main" id="{D00411C8-C08D-4AA5-92D5-F028142407C8}"/>
              </a:ext>
            </a:extLst>
          </p:cNvPr>
          <p:cNvSpPr>
            <a:spLocks noGrp="1"/>
          </p:cNvSpPr>
          <p:nvPr/>
        </p:nvSpPr>
        <p:spPr>
          <a:xfrm>
            <a:off x="2733675" y="41243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2) 별도 엑셀 보고를 줄이고 KR 지역·담당자 기준으로 거래처를 편리하게 조회</a:t>
            </a:r>
          </a:p>
        </p:txBody>
      </p:sp>
      <p:sp>
        <p:nvSpPr>
          <p:cNvPr id="22" name="과제-background">
            <a:extLst>
              <a:ext uri="{FF2B5EF4-FFF2-40B4-BE49-F238E27FC236}">
                <a16:creationId xmlns:a16="http://schemas.microsoft.com/office/drawing/2014/main" id="{2B430DCA-77BD-4847-8044-D85596CDAEE0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9782175" cy="1466850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과제-label">
            <a:extLst>
              <a:ext uri="{FF2B5EF4-FFF2-40B4-BE49-F238E27FC236}">
                <a16:creationId xmlns:a16="http://schemas.microsoft.com/office/drawing/2014/main" id="{3FC9FA87-56BC-4445-B970-723041A4F113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733425" cy="1466850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과제-text">
            <a:extLst>
              <a:ext uri="{FF2B5EF4-FFF2-40B4-BE49-F238E27FC236}">
                <a16:creationId xmlns:a16="http://schemas.microsoft.com/office/drawing/2014/main" id="{B9A6783C-D164-4A34-9016-9F844DF30A63}"/>
              </a:ext>
            </a:extLst>
          </p:cNvPr>
          <p:cNvSpPr>
            <a:spLocks noGrp="1"/>
          </p:cNvSpPr>
          <p:nvPr/>
        </p:nvSpPr>
        <p:spPr>
          <a:xfrm>
            <a:off x="1895475" y="532447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과제</a:t>
            </a:r>
          </a:p>
        </p:txBody>
      </p:sp>
      <p:sp>
        <p:nvSpPr>
          <p:cNvPr id="25" name="과제-0">
            <a:extLst>
              <a:ext uri="{FF2B5EF4-FFF2-40B4-BE49-F238E27FC236}">
                <a16:creationId xmlns:a16="http://schemas.microsoft.com/office/drawing/2014/main" id="{AA671415-6FF1-4C50-B062-1F8AF78F0D83}"/>
              </a:ext>
            </a:extLst>
          </p:cNvPr>
          <p:cNvSpPr>
            <a:spLocks noGrp="1"/>
          </p:cNvSpPr>
          <p:nvPr/>
        </p:nvSpPr>
        <p:spPr>
          <a:xfrm>
            <a:off x="2733675" y="483870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1) [설계 검토] 재구매·업셀·윈백에 필요한 거래 항목과 데이터 선행 조건 정리</a:t>
            </a:r>
          </a:p>
        </p:txBody>
      </p:sp>
      <p:sp>
        <p:nvSpPr>
          <p:cNvPr id="26" name="과제-1">
            <a:extLst>
              <a:ext uri="{FF2B5EF4-FFF2-40B4-BE49-F238E27FC236}">
                <a16:creationId xmlns:a16="http://schemas.microsoft.com/office/drawing/2014/main" id="{4B673963-B1C0-41A0-A886-2EB6423DE2DB}"/>
              </a:ext>
            </a:extLst>
          </p:cNvPr>
          <p:cNvSpPr>
            <a:spLocks noGrp="1"/>
          </p:cNvSpPr>
          <p:nvPr/>
        </p:nvSpPr>
        <p:spPr>
          <a:xfrm>
            <a:off x="2733675" y="5210175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2) [솔타·CO·개발 협의] 총판 데이터 제공 수준, 원천 시스템 및 SFDC–D365 연동 범위 확인</a:t>
            </a:r>
          </a:p>
        </p:txBody>
      </p:sp>
      <p:sp>
        <p:nvSpPr>
          <p:cNvPr id="27" name="과제-2">
            <a:extLst>
              <a:ext uri="{FF2B5EF4-FFF2-40B4-BE49-F238E27FC236}">
                <a16:creationId xmlns:a16="http://schemas.microsoft.com/office/drawing/2014/main" id="{6245628D-8CBC-4126-89CD-2C24F1BE0A07}"/>
              </a:ext>
            </a:extLst>
          </p:cNvPr>
          <p:cNvSpPr>
            <a:spLocks noGrp="1"/>
          </p:cNvSpPr>
          <p:nvPr/>
        </p:nvSpPr>
        <p:spPr>
          <a:xfrm>
            <a:off x="2733675" y="558165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3) KR 거래처·담당자·지역 매핑 검토. 매출 대시보드는 별도 구현 범위·담당 협의</a:t>
            </a:r>
          </a:p>
        </p:txBody>
      </p:sp>
      <p:sp>
        <p:nvSpPr>
          <p:cNvPr id="29" name="page-number">
            <a:extLst>
              <a:ext uri="{FF2B5EF4-FFF2-40B4-BE49-F238E27FC236}">
                <a16:creationId xmlns:a16="http://schemas.microsoft.com/office/drawing/2014/main" id="{22284C69-867B-4917-85F0-6D8112BFE0CE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19922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9C456DED-BC04-4929-8893-1B244F47DD5C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>
              <a:defRPr sz="3000" b="1">
                <a:solidFill>
                  <a:srgbClr val="0072BC"/>
                </a:solidFill>
              </a:defRPr>
            </a:pPr>
            <a:r>
              <a:rPr sz="3000" b="1" dirty="0" err="1">
                <a:solidFill>
                  <a:srgbClr val="0072BC"/>
                </a:solidFill>
              </a:rPr>
              <a:t>인터뷰</a:t>
            </a:r>
            <a:r>
              <a:rPr sz="3000" b="1" dirty="0">
                <a:solidFill>
                  <a:srgbClr val="0072BC"/>
                </a:solidFill>
              </a:rPr>
              <a:t> </a:t>
            </a:r>
            <a:r>
              <a:rPr sz="3000" b="1" dirty="0" err="1">
                <a:solidFill>
                  <a:srgbClr val="0072BC"/>
                </a:solidFill>
              </a:rPr>
              <a:t>결과</a:t>
            </a:r>
            <a:r>
              <a:rPr sz="3000" b="1" dirty="0">
                <a:solidFill>
                  <a:srgbClr val="0072BC"/>
                </a:solidFill>
              </a:rPr>
              <a:t> : RA/QA </a:t>
            </a:r>
            <a:r>
              <a:rPr lang="ko-KR" altLang="en-US" sz="3000" b="1" dirty="0">
                <a:solidFill>
                  <a:srgbClr val="0072BC"/>
                </a:solidFill>
              </a:rPr>
              <a:t>①</a:t>
            </a:r>
            <a:r>
              <a:rPr sz="3000" b="1" dirty="0">
                <a:solidFill>
                  <a:srgbClr val="0072BC"/>
                </a:solidFill>
              </a:rPr>
              <a:t> </a:t>
            </a:r>
            <a:r>
              <a:rPr sz="3000" b="1" dirty="0" err="1">
                <a:solidFill>
                  <a:srgbClr val="0072BC"/>
                </a:solidFill>
              </a:rPr>
              <a:t>대상·표현</a:t>
            </a:r>
            <a:r>
              <a:rPr sz="3000" b="1" dirty="0">
                <a:solidFill>
                  <a:srgbClr val="0072BC"/>
                </a:solidFill>
              </a:rPr>
              <a:t> </a:t>
            </a:r>
            <a:r>
              <a:rPr sz="3000" b="1" dirty="0" err="1">
                <a:solidFill>
                  <a:srgbClr val="0072BC"/>
                </a:solidFill>
              </a:rPr>
              <a:t>기준</a:t>
            </a:r>
            <a:r>
              <a:rPr lang="ko-KR" altLang="en-US" sz="3000" b="1" dirty="0">
                <a:solidFill>
                  <a:srgbClr val="0072BC"/>
                </a:solidFill>
              </a:rPr>
              <a:t> </a:t>
            </a:r>
            <a:r>
              <a:rPr lang="en-US" altLang="ko-KR" sz="3000" b="1" dirty="0">
                <a:solidFill>
                  <a:srgbClr val="0072BC"/>
                </a:solidFill>
              </a:rPr>
              <a:t>·</a:t>
            </a:r>
            <a:r>
              <a:rPr lang="ko-KR" altLang="en-US" sz="3000" b="1" dirty="0">
                <a:solidFill>
                  <a:srgbClr val="0072BC"/>
                </a:solidFill>
              </a:rPr>
              <a:t>일정</a:t>
            </a:r>
            <a:endParaRPr sz="3000" b="1" dirty="0">
              <a:solidFill>
                <a:srgbClr val="0072BC"/>
              </a:solidFill>
            </a:endParaRPr>
          </a:p>
        </p:txBody>
      </p:sp>
      <p:sp>
        <p:nvSpPr>
          <p:cNvPr id="2" name="topic">
            <a:extLst>
              <a:ext uri="{FF2B5EF4-FFF2-40B4-BE49-F238E27FC236}">
                <a16:creationId xmlns:a16="http://schemas.microsoft.com/office/drawing/2014/main" id="{6D79349F-7085-4EE5-BC48-66D6DAEF59F0}"/>
              </a:ext>
            </a:extLst>
          </p:cNvPr>
          <p:cNvSpPr>
            <a:spLocks noGrp="1"/>
          </p:cNvSpPr>
          <p:nvPr/>
        </p:nvSpPr>
        <p:spPr>
          <a:xfrm>
            <a:off x="571500" y="1114425"/>
            <a:ext cx="10858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>
                <a:solidFill>
                  <a:srgbClr val="156082"/>
                </a:solidFill>
              </a:rPr>
              <a:t>허가 범위에 맞는 콘텐츠와 개인화 영역 구분</a:t>
            </a:r>
          </a:p>
        </p:txBody>
      </p:sp>
      <p:sp>
        <p:nvSpPr>
          <p:cNvPr id="3" name="department-0">
            <a:extLst>
              <a:ext uri="{FF2B5EF4-FFF2-40B4-BE49-F238E27FC236}">
                <a16:creationId xmlns:a16="http://schemas.microsoft.com/office/drawing/2014/main" id="{CC0CB48A-C3BC-4AA1-BF56-269BAF0AC368}"/>
              </a:ext>
            </a:extLst>
          </p:cNvPr>
          <p:cNvSpPr>
            <a:spLocks noGrp="1"/>
          </p:cNvSpPr>
          <p:nvPr/>
        </p:nvSpPr>
        <p:spPr>
          <a:xfrm>
            <a:off x="571500" y="164782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epartment-text-0">
            <a:extLst>
              <a:ext uri="{FF2B5EF4-FFF2-40B4-BE49-F238E27FC236}">
                <a16:creationId xmlns:a16="http://schemas.microsoft.com/office/drawing/2014/main" id="{3AB662E7-FA48-459C-AB98-C73078C8121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마케팅</a:t>
            </a:r>
          </a:p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(HCP)</a:t>
            </a:r>
          </a:p>
        </p:txBody>
      </p:sp>
      <p:sp>
        <p:nvSpPr>
          <p:cNvPr id="5" name="department-1">
            <a:extLst>
              <a:ext uri="{FF2B5EF4-FFF2-40B4-BE49-F238E27FC236}">
                <a16:creationId xmlns:a16="http://schemas.microsoft.com/office/drawing/2014/main" id="{C6E22C53-C0E9-4DF0-949B-9C9BBAE3E337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1114425" cy="619125"/>
          </a:xfrm>
          <a:prstGeom prst="rect">
            <a:avLst/>
          </a:prstGeom>
          <a:solidFill>
            <a:srgbClr val="E8E8E8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partment-text-1">
            <a:extLst>
              <a:ext uri="{FF2B5EF4-FFF2-40B4-BE49-F238E27FC236}">
                <a16:creationId xmlns:a16="http://schemas.microsoft.com/office/drawing/2014/main" id="{CC358369-7E88-42FF-8CC4-3DFF02D3B9A1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세일즈</a:t>
            </a:r>
          </a:p>
        </p:txBody>
      </p:sp>
      <p:sp>
        <p:nvSpPr>
          <p:cNvPr id="7" name="department-2">
            <a:extLst>
              <a:ext uri="{FF2B5EF4-FFF2-40B4-BE49-F238E27FC236}">
                <a16:creationId xmlns:a16="http://schemas.microsoft.com/office/drawing/2014/main" id="{04C999CE-3BCA-4CC7-A4A7-FD4D946AAE60}"/>
              </a:ext>
            </a:extLst>
          </p:cNvPr>
          <p:cNvSpPr>
            <a:spLocks noGrp="1"/>
          </p:cNvSpPr>
          <p:nvPr/>
        </p:nvSpPr>
        <p:spPr>
          <a:xfrm>
            <a:off x="571500" y="3133725"/>
            <a:ext cx="1114425" cy="619125"/>
          </a:xfrm>
          <a:prstGeom prst="rect">
            <a:avLst/>
          </a:prstGeom>
          <a:solidFill>
            <a:srgbClr val="156082"/>
          </a:solidFill>
          <a:ln w="762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epartment-text-2">
            <a:extLst>
              <a:ext uri="{FF2B5EF4-FFF2-40B4-BE49-F238E27FC236}">
                <a16:creationId xmlns:a16="http://schemas.microsoft.com/office/drawing/2014/main" id="{FB956A82-9CDE-4E88-9957-2B1304F2F241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RA/QA</a:t>
            </a:r>
          </a:p>
        </p:txBody>
      </p:sp>
      <p:sp>
        <p:nvSpPr>
          <p:cNvPr id="9" name="현황-background">
            <a:extLst>
              <a:ext uri="{FF2B5EF4-FFF2-40B4-BE49-F238E27FC236}">
                <a16:creationId xmlns:a16="http://schemas.microsoft.com/office/drawing/2014/main" id="{FB422884-91EB-48C0-9A8C-004EFDFCBD8E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9782175" cy="19431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현황-label">
            <a:extLst>
              <a:ext uri="{FF2B5EF4-FFF2-40B4-BE49-F238E27FC236}">
                <a16:creationId xmlns:a16="http://schemas.microsoft.com/office/drawing/2014/main" id="{7257F936-9873-4BC6-942E-9E53C4431C98}"/>
              </a:ext>
            </a:extLst>
          </p:cNvPr>
          <p:cNvSpPr>
            <a:spLocks noGrp="1"/>
          </p:cNvSpPr>
          <p:nvPr/>
        </p:nvSpPr>
        <p:spPr>
          <a:xfrm>
            <a:off x="1838325" y="1647825"/>
            <a:ext cx="733425" cy="1943100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현황-text">
            <a:extLst>
              <a:ext uri="{FF2B5EF4-FFF2-40B4-BE49-F238E27FC236}">
                <a16:creationId xmlns:a16="http://schemas.microsoft.com/office/drawing/2014/main" id="{F847D12E-AAE1-4F96-9F91-B5E420FEB01F}"/>
              </a:ext>
            </a:extLst>
          </p:cNvPr>
          <p:cNvSpPr>
            <a:spLocks noGrp="1"/>
          </p:cNvSpPr>
          <p:nvPr/>
        </p:nvSpPr>
        <p:spPr>
          <a:xfrm>
            <a:off x="1895475" y="248602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현황</a:t>
            </a:r>
          </a:p>
        </p:txBody>
      </p:sp>
      <p:sp>
        <p:nvSpPr>
          <p:cNvPr id="12" name="현황-0">
            <a:extLst>
              <a:ext uri="{FF2B5EF4-FFF2-40B4-BE49-F238E27FC236}">
                <a16:creationId xmlns:a16="http://schemas.microsoft.com/office/drawing/2014/main" id="{BFE2030F-E9FB-4E5E-9047-BB58D7CE4B27}"/>
              </a:ext>
            </a:extLst>
          </p:cNvPr>
          <p:cNvSpPr>
            <a:spLocks noGrp="1"/>
          </p:cNvSpPr>
          <p:nvPr/>
        </p:nvSpPr>
        <p:spPr>
          <a:xfrm>
            <a:off x="2733675" y="17621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1) 이메일·카카오톡·문자 발송물은 심의 대상이며 문안·이미지·디자인을 함께 검토</a:t>
            </a:r>
          </a:p>
        </p:txBody>
      </p:sp>
      <p:sp>
        <p:nvSpPr>
          <p:cNvPr id="13" name="현황-1">
            <a:extLst>
              <a:ext uri="{FF2B5EF4-FFF2-40B4-BE49-F238E27FC236}">
                <a16:creationId xmlns:a16="http://schemas.microsoft.com/office/drawing/2014/main" id="{43F39101-51D6-416E-971B-44430F349BBF}"/>
              </a:ext>
            </a:extLst>
          </p:cNvPr>
          <p:cNvSpPr>
            <a:spLocks noGrp="1"/>
          </p:cNvSpPr>
          <p:nvPr/>
        </p:nvSpPr>
        <p:spPr>
          <a:xfrm>
            <a:off x="2733675" y="209550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2) 인터뷰상 사용 목적은 콜라겐 재생에 따른 안면·눈가 주름 개선</a:t>
            </a:r>
          </a:p>
        </p:txBody>
      </p:sp>
      <p:sp>
        <p:nvSpPr>
          <p:cNvPr id="14" name="현황-2">
            <a:extLst>
              <a:ext uri="{FF2B5EF4-FFF2-40B4-BE49-F238E27FC236}">
                <a16:creationId xmlns:a16="http://schemas.microsoft.com/office/drawing/2014/main" id="{64AFE25D-3648-452D-8EDF-EF9093B6616D}"/>
              </a:ext>
            </a:extLst>
          </p:cNvPr>
          <p:cNvSpPr>
            <a:spLocks noGrp="1"/>
          </p:cNvSpPr>
          <p:nvPr/>
        </p:nvSpPr>
        <p:spPr>
          <a:xfrm>
            <a:off x="2733675" y="242887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3) 사용 불가 표현 예시로 바디 관련 표현과 주름 개선이 아닌 “탄력” 등을 제시</a:t>
            </a:r>
          </a:p>
        </p:txBody>
      </p:sp>
      <p:sp>
        <p:nvSpPr>
          <p:cNvPr id="15" name="현황-3">
            <a:extLst>
              <a:ext uri="{FF2B5EF4-FFF2-40B4-BE49-F238E27FC236}">
                <a16:creationId xmlns:a16="http://schemas.microsoft.com/office/drawing/2014/main" id="{F681CDCB-D37D-40C5-B679-2F69D159F192}"/>
              </a:ext>
            </a:extLst>
          </p:cNvPr>
          <p:cNvSpPr>
            <a:spLocks noGrp="1"/>
          </p:cNvSpPr>
          <p:nvPr/>
        </p:nvSpPr>
        <p:spPr>
          <a:xfrm>
            <a:off x="2733675" y="2762250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 dirty="0">
                <a:solidFill>
                  <a:srgbClr val="1A1A2E"/>
                </a:solidFill>
              </a:rPr>
              <a:t>4) </a:t>
            </a:r>
            <a:r>
              <a:rPr sz="1298" b="0" dirty="0" err="1">
                <a:solidFill>
                  <a:srgbClr val="1A1A2E"/>
                </a:solidFill>
              </a:rPr>
              <a:t>개인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정보는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심의에서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보지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않으며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가림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처리하기도</a:t>
            </a:r>
            <a:r>
              <a:rPr sz="1298" b="0" dirty="0">
                <a:solidFill>
                  <a:srgbClr val="1A1A2E"/>
                </a:solidFill>
              </a:rPr>
              <a:t> 함. </a:t>
            </a:r>
            <a:r>
              <a:rPr sz="1298" b="0" dirty="0" err="1">
                <a:solidFill>
                  <a:srgbClr val="1A1A2E"/>
                </a:solidFill>
              </a:rPr>
              <a:t>고객명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변경마다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재심의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불필요</a:t>
            </a:r>
            <a:r>
              <a:rPr lang="en-US" sz="1298" b="0" dirty="0">
                <a:solidFill>
                  <a:srgbClr val="1A1A2E"/>
                </a:solidFill>
              </a:rPr>
              <a:t>, </a:t>
            </a:r>
            <a:r>
              <a:rPr lang="ko-KR" altLang="en-US" sz="1298" b="0" dirty="0">
                <a:solidFill>
                  <a:srgbClr val="1A1A2E"/>
                </a:solidFill>
              </a:rPr>
              <a:t>심의 번호 표기 위치 미정</a:t>
            </a:r>
            <a:endParaRPr sz="1298" b="0" dirty="0">
              <a:solidFill>
                <a:srgbClr val="1A1A2E"/>
              </a:solidFill>
            </a:endParaRPr>
          </a:p>
        </p:txBody>
      </p:sp>
      <p:sp>
        <p:nvSpPr>
          <p:cNvPr id="16" name="현황-4">
            <a:extLst>
              <a:ext uri="{FF2B5EF4-FFF2-40B4-BE49-F238E27FC236}">
                <a16:creationId xmlns:a16="http://schemas.microsoft.com/office/drawing/2014/main" id="{9F11FD3E-365A-4933-AC65-DFB5E0FE8D7A}"/>
              </a:ext>
            </a:extLst>
          </p:cNvPr>
          <p:cNvSpPr>
            <a:spLocks noGrp="1"/>
          </p:cNvSpPr>
          <p:nvPr/>
        </p:nvSpPr>
        <p:spPr>
          <a:xfrm>
            <a:off x="2733675" y="3095625"/>
            <a:ext cx="86582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>
              <a:defRPr sz="1298" b="0">
                <a:solidFill>
                  <a:srgbClr val="1A1A2E"/>
                </a:solidFill>
              </a:defRPr>
            </a:pPr>
            <a:r>
              <a:rPr sz="1298" b="0" dirty="0">
                <a:solidFill>
                  <a:srgbClr val="1A1A2E"/>
                </a:solidFill>
              </a:rPr>
              <a:t>5) </a:t>
            </a:r>
            <a:r>
              <a:rPr lang="ko-KR" altLang="en-US" sz="1298" dirty="0">
                <a:solidFill>
                  <a:srgbClr val="1A1A2E"/>
                </a:solidFill>
              </a:rPr>
              <a:t>행정 처리 기간은 약 </a:t>
            </a:r>
            <a:r>
              <a:rPr lang="en-US" altLang="ko-KR" sz="1298" dirty="0">
                <a:solidFill>
                  <a:srgbClr val="1A1A2E"/>
                </a:solidFill>
              </a:rPr>
              <a:t>10</a:t>
            </a:r>
            <a:r>
              <a:rPr lang="ko-KR" altLang="en-US" sz="1298" dirty="0">
                <a:solidFill>
                  <a:srgbClr val="1A1A2E"/>
                </a:solidFill>
              </a:rPr>
              <a:t>일이며 에이전시 처리까지 포함하면 전체 약 </a:t>
            </a:r>
            <a:r>
              <a:rPr lang="en-US" altLang="ko-KR" sz="1298" dirty="0">
                <a:solidFill>
                  <a:srgbClr val="1A1A2E"/>
                </a:solidFill>
              </a:rPr>
              <a:t>3~4</a:t>
            </a:r>
            <a:r>
              <a:rPr lang="ko-KR" altLang="en-US" sz="1298" dirty="0">
                <a:solidFill>
                  <a:srgbClr val="1A1A2E"/>
                </a:solidFill>
              </a:rPr>
              <a:t>주 예상</a:t>
            </a:r>
            <a:endParaRPr sz="1298" b="0" dirty="0">
              <a:solidFill>
                <a:srgbClr val="1A1A2E"/>
              </a:solidFill>
            </a:endParaRPr>
          </a:p>
        </p:txBody>
      </p:sp>
      <p:sp>
        <p:nvSpPr>
          <p:cNvPr id="17" name="니즈-background">
            <a:extLst>
              <a:ext uri="{FF2B5EF4-FFF2-40B4-BE49-F238E27FC236}">
                <a16:creationId xmlns:a16="http://schemas.microsoft.com/office/drawing/2014/main" id="{5FCB6A5D-5A99-4EC3-BB41-1AD7CEF476A0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9782175" cy="981075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니즈-label">
            <a:extLst>
              <a:ext uri="{FF2B5EF4-FFF2-40B4-BE49-F238E27FC236}">
                <a16:creationId xmlns:a16="http://schemas.microsoft.com/office/drawing/2014/main" id="{A94FABAF-D767-4A86-B9D5-CDDBE92DE37F}"/>
              </a:ext>
            </a:extLst>
          </p:cNvPr>
          <p:cNvSpPr>
            <a:spLocks noGrp="1"/>
          </p:cNvSpPr>
          <p:nvPr/>
        </p:nvSpPr>
        <p:spPr>
          <a:xfrm>
            <a:off x="1838325" y="3667125"/>
            <a:ext cx="733425" cy="981075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니즈-text">
            <a:extLst>
              <a:ext uri="{FF2B5EF4-FFF2-40B4-BE49-F238E27FC236}">
                <a16:creationId xmlns:a16="http://schemas.microsoft.com/office/drawing/2014/main" id="{04BD5196-339A-4A14-8608-96CA1A54402A}"/>
              </a:ext>
            </a:extLst>
          </p:cNvPr>
          <p:cNvSpPr>
            <a:spLocks noGrp="1"/>
          </p:cNvSpPr>
          <p:nvPr/>
        </p:nvSpPr>
        <p:spPr>
          <a:xfrm>
            <a:off x="1895475" y="4024313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니즈</a:t>
            </a:r>
          </a:p>
        </p:txBody>
      </p:sp>
      <p:sp>
        <p:nvSpPr>
          <p:cNvPr id="20" name="니즈-0">
            <a:extLst>
              <a:ext uri="{FF2B5EF4-FFF2-40B4-BE49-F238E27FC236}">
                <a16:creationId xmlns:a16="http://schemas.microsoft.com/office/drawing/2014/main" id="{83FC7C0C-9AD7-4D67-BF51-08632C49DD0E}"/>
              </a:ext>
            </a:extLst>
          </p:cNvPr>
          <p:cNvSpPr>
            <a:spLocks noGrp="1"/>
          </p:cNvSpPr>
          <p:nvPr/>
        </p:nvSpPr>
        <p:spPr>
          <a:xfrm>
            <a:off x="2733675" y="37814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1) [반영 요건] 해당 제품 허가 범위와 표현 가이드에 맞는 콘텐츠 작성</a:t>
            </a:r>
          </a:p>
        </p:txBody>
      </p:sp>
      <p:sp>
        <p:nvSpPr>
          <p:cNvPr id="21" name="니즈-1">
            <a:extLst>
              <a:ext uri="{FF2B5EF4-FFF2-40B4-BE49-F238E27FC236}">
                <a16:creationId xmlns:a16="http://schemas.microsoft.com/office/drawing/2014/main" id="{A293561A-EC11-4B75-B167-5D985883BD8C}"/>
              </a:ext>
            </a:extLst>
          </p:cNvPr>
          <p:cNvSpPr>
            <a:spLocks noGrp="1"/>
          </p:cNvSpPr>
          <p:nvPr/>
        </p:nvSpPr>
        <p:spPr>
          <a:xfrm>
            <a:off x="2733675" y="4124325"/>
            <a:ext cx="86582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>
                <a:solidFill>
                  <a:srgbClr val="1A1A2E"/>
                </a:solidFill>
              </a:rPr>
              <a:t>2) 고객명 등 개인화 정보와 광고 문구·제품·디자인 변경을 구분하여 검토</a:t>
            </a:r>
          </a:p>
        </p:txBody>
      </p:sp>
      <p:sp>
        <p:nvSpPr>
          <p:cNvPr id="22" name="과제-background">
            <a:extLst>
              <a:ext uri="{FF2B5EF4-FFF2-40B4-BE49-F238E27FC236}">
                <a16:creationId xmlns:a16="http://schemas.microsoft.com/office/drawing/2014/main" id="{93448BEC-C22E-4D3A-9D42-582D5290D974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9782175" cy="1466850"/>
          </a:xfrm>
          <a:prstGeom prst="rect">
            <a:avLst/>
          </a:prstGeom>
          <a:solidFill>
            <a:srgbClr val="FFFFFF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과제-label">
            <a:extLst>
              <a:ext uri="{FF2B5EF4-FFF2-40B4-BE49-F238E27FC236}">
                <a16:creationId xmlns:a16="http://schemas.microsoft.com/office/drawing/2014/main" id="{375B6489-9B22-43DD-818B-63A645662B14}"/>
              </a:ext>
            </a:extLst>
          </p:cNvPr>
          <p:cNvSpPr>
            <a:spLocks noGrp="1"/>
          </p:cNvSpPr>
          <p:nvPr/>
        </p:nvSpPr>
        <p:spPr>
          <a:xfrm>
            <a:off x="1838325" y="4724400"/>
            <a:ext cx="733425" cy="1466850"/>
          </a:xfrm>
          <a:prstGeom prst="rect">
            <a:avLst/>
          </a:prstGeom>
          <a:solidFill>
            <a:srgbClr val="E5F2F4"/>
          </a:solidFill>
          <a:ln w="7620">
            <a:solidFill>
              <a:srgbClr val="C9D8E5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과제-text">
            <a:extLst>
              <a:ext uri="{FF2B5EF4-FFF2-40B4-BE49-F238E27FC236}">
                <a16:creationId xmlns:a16="http://schemas.microsoft.com/office/drawing/2014/main" id="{3F02BF70-4CA8-4A31-99BF-1D4B3E2E37EF}"/>
              </a:ext>
            </a:extLst>
          </p:cNvPr>
          <p:cNvSpPr>
            <a:spLocks noGrp="1"/>
          </p:cNvSpPr>
          <p:nvPr/>
        </p:nvSpPr>
        <p:spPr>
          <a:xfrm>
            <a:off x="1895475" y="5324475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156082"/>
                </a:solidFill>
              </a:defRPr>
            </a:pPr>
            <a:r>
              <a:rPr sz="1500" b="1">
                <a:solidFill>
                  <a:srgbClr val="156082"/>
                </a:solidFill>
              </a:rPr>
              <a:t>과제</a:t>
            </a:r>
          </a:p>
        </p:txBody>
      </p:sp>
      <p:sp>
        <p:nvSpPr>
          <p:cNvPr id="25" name="과제-0">
            <a:extLst>
              <a:ext uri="{FF2B5EF4-FFF2-40B4-BE49-F238E27FC236}">
                <a16:creationId xmlns:a16="http://schemas.microsoft.com/office/drawing/2014/main" id="{F6E133D4-3E9C-4784-BEB0-5012762F2D1B}"/>
              </a:ext>
            </a:extLst>
          </p:cNvPr>
          <p:cNvSpPr>
            <a:spLocks noGrp="1"/>
          </p:cNvSpPr>
          <p:nvPr/>
        </p:nvSpPr>
        <p:spPr>
          <a:xfrm>
            <a:off x="2733675" y="483870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 dirty="0">
                <a:solidFill>
                  <a:srgbClr val="1A1A2E"/>
                </a:solidFill>
              </a:rPr>
              <a:t>1) [</a:t>
            </a:r>
            <a:r>
              <a:rPr sz="1298" b="0" dirty="0" err="1">
                <a:solidFill>
                  <a:srgbClr val="1A1A2E"/>
                </a:solidFill>
              </a:rPr>
              <a:t>설계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검토</a:t>
            </a:r>
            <a:r>
              <a:rPr sz="1298" b="0" dirty="0">
                <a:solidFill>
                  <a:srgbClr val="1A1A2E"/>
                </a:solidFill>
              </a:rPr>
              <a:t>] </a:t>
            </a:r>
            <a:r>
              <a:rPr sz="1298" b="0" dirty="0" err="1">
                <a:solidFill>
                  <a:srgbClr val="1A1A2E"/>
                </a:solidFill>
              </a:rPr>
              <a:t>채널별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메시지에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허가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범위·표현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제한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반영</a:t>
            </a:r>
            <a:r>
              <a:rPr sz="1298" b="0" dirty="0">
                <a:solidFill>
                  <a:srgbClr val="1A1A2E"/>
                </a:solidFill>
              </a:rPr>
              <a:t>, </a:t>
            </a:r>
            <a:r>
              <a:rPr sz="1298" b="0" dirty="0" err="1">
                <a:solidFill>
                  <a:srgbClr val="1A1A2E"/>
                </a:solidFill>
              </a:rPr>
              <a:t>개인화·고정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문안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구분</a:t>
            </a:r>
            <a:endParaRPr sz="1298" b="0" dirty="0">
              <a:solidFill>
                <a:srgbClr val="1A1A2E"/>
              </a:solidFill>
            </a:endParaRPr>
          </a:p>
        </p:txBody>
      </p:sp>
      <p:sp>
        <p:nvSpPr>
          <p:cNvPr id="26" name="과제-1">
            <a:extLst>
              <a:ext uri="{FF2B5EF4-FFF2-40B4-BE49-F238E27FC236}">
                <a16:creationId xmlns:a16="http://schemas.microsoft.com/office/drawing/2014/main" id="{4CD0D6D3-C6D7-4F93-8387-FC568D9411DC}"/>
              </a:ext>
            </a:extLst>
          </p:cNvPr>
          <p:cNvSpPr>
            <a:spLocks noGrp="1"/>
          </p:cNvSpPr>
          <p:nvPr/>
        </p:nvSpPr>
        <p:spPr>
          <a:xfrm>
            <a:off x="2733675" y="5210175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 algn="l">
              <a:buNone/>
              <a:defRPr sz="1298" b="0">
                <a:solidFill>
                  <a:srgbClr val="1A1A2E"/>
                </a:solidFill>
              </a:defRPr>
            </a:pPr>
            <a:r>
              <a:rPr sz="1298" b="0" dirty="0">
                <a:solidFill>
                  <a:srgbClr val="1A1A2E"/>
                </a:solidFill>
              </a:rPr>
              <a:t>2) [</a:t>
            </a:r>
            <a:r>
              <a:rPr sz="1298" b="0" dirty="0" err="1">
                <a:solidFill>
                  <a:srgbClr val="1A1A2E"/>
                </a:solidFill>
              </a:rPr>
              <a:t>솔타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확인</a:t>
            </a:r>
            <a:r>
              <a:rPr sz="1298" b="0" dirty="0">
                <a:solidFill>
                  <a:srgbClr val="1A1A2E"/>
                </a:solidFill>
              </a:rPr>
              <a:t>] </a:t>
            </a:r>
            <a:r>
              <a:rPr sz="1298" b="0" dirty="0" err="1">
                <a:solidFill>
                  <a:srgbClr val="1A1A2E"/>
                </a:solidFill>
              </a:rPr>
              <a:t>제공된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사용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목적·주의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문구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원문을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기준으로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실제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문안</a:t>
            </a:r>
            <a:r>
              <a:rPr sz="1298" b="0" dirty="0">
                <a:solidFill>
                  <a:srgbClr val="1A1A2E"/>
                </a:solidFill>
              </a:rPr>
              <a:t> </a:t>
            </a:r>
            <a:r>
              <a:rPr sz="1298" b="0" dirty="0" err="1">
                <a:solidFill>
                  <a:srgbClr val="1A1A2E"/>
                </a:solidFill>
              </a:rPr>
              <a:t>검토</a:t>
            </a:r>
            <a:endParaRPr sz="1298" b="0" dirty="0">
              <a:solidFill>
                <a:srgbClr val="1A1A2E"/>
              </a:solidFill>
            </a:endParaRPr>
          </a:p>
        </p:txBody>
      </p:sp>
      <p:sp>
        <p:nvSpPr>
          <p:cNvPr id="27" name="과제-2">
            <a:extLst>
              <a:ext uri="{FF2B5EF4-FFF2-40B4-BE49-F238E27FC236}">
                <a16:creationId xmlns:a16="http://schemas.microsoft.com/office/drawing/2014/main" id="{B8CF5422-9423-48A1-BC9A-23971729C378}"/>
              </a:ext>
            </a:extLst>
          </p:cNvPr>
          <p:cNvSpPr>
            <a:spLocks noGrp="1"/>
          </p:cNvSpPr>
          <p:nvPr/>
        </p:nvSpPr>
        <p:spPr>
          <a:xfrm>
            <a:off x="2733675" y="5581650"/>
            <a:ext cx="86582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98" b="0">
                <a:solidFill>
                  <a:srgbClr val="1A1A2E"/>
                </a:solidFill>
              </a:defRPr>
            </a:defPPr>
          </a:lstStyle>
          <a:p>
            <a:pPr>
              <a:defRPr sz="1298" b="0">
                <a:solidFill>
                  <a:srgbClr val="1A1A2E"/>
                </a:solidFill>
              </a:defRPr>
            </a:pPr>
            <a:r>
              <a:rPr sz="1298" b="0" dirty="0">
                <a:solidFill>
                  <a:srgbClr val="1A1A2E"/>
                </a:solidFill>
              </a:rPr>
              <a:t>3) </a:t>
            </a:r>
            <a:r>
              <a:rPr lang="en-US" altLang="ko-KR" sz="1298" dirty="0">
                <a:solidFill>
                  <a:srgbClr val="1A1A2E"/>
                </a:solidFill>
              </a:rPr>
              <a:t>[</a:t>
            </a:r>
            <a:r>
              <a:rPr lang="ko-KR" altLang="en-US" sz="1298" dirty="0">
                <a:solidFill>
                  <a:srgbClr val="1A1A2E"/>
                </a:solidFill>
              </a:rPr>
              <a:t>설계 검토</a:t>
            </a:r>
            <a:r>
              <a:rPr lang="en-US" altLang="ko-KR" sz="1298" dirty="0">
                <a:solidFill>
                  <a:srgbClr val="1A1A2E"/>
                </a:solidFill>
              </a:rPr>
              <a:t>] </a:t>
            </a:r>
            <a:r>
              <a:rPr lang="ko-KR" altLang="en-US" sz="1298" dirty="0">
                <a:solidFill>
                  <a:srgbClr val="1A1A2E"/>
                </a:solidFill>
              </a:rPr>
              <a:t>심의 </a:t>
            </a:r>
            <a:r>
              <a:rPr lang="en-US" altLang="ko-KR" sz="1298" dirty="0">
                <a:solidFill>
                  <a:srgbClr val="1A1A2E"/>
                </a:solidFill>
              </a:rPr>
              <a:t>3~4</a:t>
            </a:r>
            <a:r>
              <a:rPr lang="ko-KR" altLang="en-US" sz="1298" dirty="0">
                <a:solidFill>
                  <a:srgbClr val="1A1A2E"/>
                </a:solidFill>
              </a:rPr>
              <a:t>주를 반영한 제작</a:t>
            </a:r>
            <a:r>
              <a:rPr lang="en-US" altLang="ko-KR" sz="1298" dirty="0">
                <a:solidFill>
                  <a:srgbClr val="1A1A2E"/>
                </a:solidFill>
              </a:rPr>
              <a:t>·</a:t>
            </a:r>
            <a:r>
              <a:rPr lang="ko-KR" altLang="en-US" sz="1298" dirty="0">
                <a:solidFill>
                  <a:srgbClr val="1A1A2E"/>
                </a:solidFill>
              </a:rPr>
              <a:t>검토</a:t>
            </a:r>
            <a:r>
              <a:rPr lang="en-US" altLang="ko-KR" sz="1298" dirty="0">
                <a:solidFill>
                  <a:srgbClr val="1A1A2E"/>
                </a:solidFill>
              </a:rPr>
              <a:t>·</a:t>
            </a:r>
            <a:r>
              <a:rPr lang="ko-KR" altLang="en-US" sz="1298" dirty="0">
                <a:solidFill>
                  <a:srgbClr val="1A1A2E"/>
                </a:solidFill>
              </a:rPr>
              <a:t>수정 일정과 발송 선행 조건 정의</a:t>
            </a:r>
            <a:endParaRPr sz="1298" b="0" dirty="0">
              <a:solidFill>
                <a:srgbClr val="1A1A2E"/>
              </a:solidFill>
            </a:endParaRPr>
          </a:p>
        </p:txBody>
      </p:sp>
      <p:sp>
        <p:nvSpPr>
          <p:cNvPr id="29" name="page-number">
            <a:extLst>
              <a:ext uri="{FF2B5EF4-FFF2-40B4-BE49-F238E27FC236}">
                <a16:creationId xmlns:a16="http://schemas.microsoft.com/office/drawing/2014/main" id="{5793E464-6E23-479F-8EBE-095F0F64E541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9922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FA82DBE7-ED59-4DC7-9241-598E9FB6C278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lang="ko-KR" altLang="en-US" sz="3000" b="1" dirty="0">
                <a:solidFill>
                  <a:srgbClr val="0072BC"/>
                </a:solidFill>
              </a:rPr>
              <a:t>인터뷰 결과 요약 </a:t>
            </a:r>
            <a:r>
              <a:rPr lang="en-US" altLang="ko-KR" sz="3000" b="1" dirty="0">
                <a:solidFill>
                  <a:srgbClr val="0072BC"/>
                </a:solidFill>
              </a:rPr>
              <a:t>(</a:t>
            </a:r>
            <a:r>
              <a:rPr sz="3000" b="1" dirty="0">
                <a:solidFill>
                  <a:srgbClr val="0072BC"/>
                </a:solidFill>
              </a:rPr>
              <a:t>SUMMARY</a:t>
            </a:r>
            <a:r>
              <a:rPr lang="en-US" sz="3000" b="1" dirty="0">
                <a:solidFill>
                  <a:srgbClr val="0072BC"/>
                </a:solidFill>
              </a:rPr>
              <a:t>)</a:t>
            </a:r>
            <a:endParaRPr sz="3000" b="1" dirty="0">
              <a:solidFill>
                <a:srgbClr val="0072BC"/>
              </a:solidFill>
            </a:endParaRP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5D7E13F-A1DA-4733-9218-5D51DF7E4CA2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0763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 dirty="0">
                <a:solidFill>
                  <a:srgbClr val="156082"/>
                </a:solidFill>
              </a:rPr>
              <a:t>HCP </a:t>
            </a:r>
            <a:r>
              <a:rPr sz="1575" b="1" dirty="0" err="1">
                <a:solidFill>
                  <a:srgbClr val="156082"/>
                </a:solidFill>
              </a:rPr>
              <a:t>맞춤</a:t>
            </a:r>
            <a:r>
              <a:rPr sz="1575" b="1" dirty="0">
                <a:solidFill>
                  <a:srgbClr val="156082"/>
                </a:solidFill>
              </a:rPr>
              <a:t> </a:t>
            </a:r>
            <a:r>
              <a:rPr sz="1575" b="1" dirty="0" err="1">
                <a:solidFill>
                  <a:srgbClr val="156082"/>
                </a:solidFill>
              </a:rPr>
              <a:t>커뮤니케이션</a:t>
            </a:r>
            <a:r>
              <a:rPr lang="ko-KR" altLang="en-US" sz="1575" b="1" dirty="0">
                <a:solidFill>
                  <a:srgbClr val="156082"/>
                </a:solidFill>
              </a:rPr>
              <a:t>을 </a:t>
            </a:r>
            <a:r>
              <a:rPr sz="1575" b="1" dirty="0" err="1">
                <a:solidFill>
                  <a:srgbClr val="156082"/>
                </a:solidFill>
              </a:rPr>
              <a:t>위한</a:t>
            </a:r>
            <a:r>
              <a:rPr sz="1575" b="1" dirty="0">
                <a:solidFill>
                  <a:srgbClr val="156082"/>
                </a:solidFill>
              </a:rPr>
              <a:t> </a:t>
            </a:r>
            <a:r>
              <a:rPr sz="1575" b="1" dirty="0" err="1">
                <a:solidFill>
                  <a:srgbClr val="156082"/>
                </a:solidFill>
              </a:rPr>
              <a:t>주요</a:t>
            </a:r>
            <a:r>
              <a:rPr sz="1575" b="1" dirty="0">
                <a:solidFill>
                  <a:srgbClr val="156082"/>
                </a:solidFill>
              </a:rPr>
              <a:t> </a:t>
            </a:r>
            <a:r>
              <a:rPr sz="1575" b="1" dirty="0" err="1">
                <a:solidFill>
                  <a:srgbClr val="156082"/>
                </a:solidFill>
              </a:rPr>
              <a:t>니즈·과제</a:t>
            </a:r>
            <a:endParaRPr sz="1575" b="1" dirty="0">
              <a:solidFill>
                <a:srgbClr val="156082"/>
              </a:solidFill>
            </a:endParaRP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A56B09E3-C3A6-454B-BB54-F16FB760DBF2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11</a:t>
            </a:r>
          </a:p>
        </p:txBody>
      </p:sp>
      <p:sp>
        <p:nvSpPr>
          <p:cNvPr id="8" name="needs-header">
            <a:extLst>
              <a:ext uri="{FF2B5EF4-FFF2-40B4-BE49-F238E27FC236}">
                <a16:creationId xmlns:a16="http://schemas.microsoft.com/office/drawing/2014/main" id="{EB96733C-55F9-4B14-AF94-DFCDBFC8E727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5524500" cy="3524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</p:spPr>
        <p:txBody>
          <a:bodyPr lIns="0" tIns="0" rIns="0" bIns="0"/>
          <a:lstStyle>
            <a:defPPr algn="ctr">
              <a:defRPr sz="1575" b="1">
                <a:solidFill>
                  <a:srgbClr val="FFFFFF"/>
                </a:solidFill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주요 니즈</a:t>
            </a:r>
          </a:p>
        </p:txBody>
      </p:sp>
      <p:sp>
        <p:nvSpPr>
          <p:cNvPr id="9" name="tasks-header">
            <a:extLst>
              <a:ext uri="{FF2B5EF4-FFF2-40B4-BE49-F238E27FC236}">
                <a16:creationId xmlns:a16="http://schemas.microsoft.com/office/drawing/2014/main" id="{CE75BCB5-9B82-469D-9AD5-59EFD6A4FD36}"/>
              </a:ext>
            </a:extLst>
          </p:cNvPr>
          <p:cNvSpPr>
            <a:spLocks noGrp="1"/>
          </p:cNvSpPr>
          <p:nvPr/>
        </p:nvSpPr>
        <p:spPr>
          <a:xfrm>
            <a:off x="6457950" y="1657350"/>
            <a:ext cx="5162550" cy="352425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txBody>
          <a:bodyPr lIns="0" tIns="0" rIns="0" bIns="0"/>
          <a:lstStyle>
            <a:defPPr algn="ctr">
              <a:defRPr sz="1575" b="1">
                <a:solidFill>
                  <a:srgbClr val="FFFFFF"/>
                </a:solidFill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프로젝트 과제 (설계 검토안)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558404-3FD9-4699-AB6B-4B5C71B9CF7F}"/>
              </a:ext>
            </a:extLst>
          </p:cNvPr>
          <p:cNvSpPr>
            <a:spLocks noGrp="1"/>
          </p:cNvSpPr>
          <p:nvPr/>
        </p:nvSpPr>
        <p:spPr>
          <a:xfrm>
            <a:off x="571500" y="2114550"/>
            <a:ext cx="1571625" cy="657225"/>
          </a:xfrm>
          <a:prstGeom prst="rect">
            <a:avLst/>
          </a:prstGeom>
          <a:solidFill>
            <a:srgbClr val="DCEB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category-1">
            <a:extLst>
              <a:ext uri="{FF2B5EF4-FFF2-40B4-BE49-F238E27FC236}">
                <a16:creationId xmlns:a16="http://schemas.microsoft.com/office/drawing/2014/main" id="{F2CB53FA-6184-4BA8-A7B0-262D10052FCE}"/>
              </a:ext>
            </a:extLst>
          </p:cNvPr>
          <p:cNvSpPr>
            <a:spLocks noGrp="1"/>
          </p:cNvSpPr>
          <p:nvPr/>
        </p:nvSpPr>
        <p:spPr>
          <a:xfrm>
            <a:off x="666750" y="2228850"/>
            <a:ext cx="1381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388" b="1">
                <a:solidFill>
                  <a:srgbClr val="156082"/>
                </a:solidFill>
              </a:defRPr>
            </a:defPPr>
          </a:lstStyle>
          <a:p>
            <a:pPr algn="ctr">
              <a:defRPr sz="1388" b="1">
                <a:solidFill>
                  <a:srgbClr val="156082"/>
                </a:solidFill>
              </a:defRPr>
            </a:pPr>
            <a:r>
              <a:rPr sz="1388" b="1">
                <a:solidFill>
                  <a:srgbClr val="156082"/>
                </a:solidFill>
              </a:rPr>
              <a:t>고객 맞춤형</a:t>
            </a:r>
          </a:p>
          <a:p>
            <a:pPr algn="ctr">
              <a:defRPr sz="1388" b="1">
                <a:solidFill>
                  <a:srgbClr val="156082"/>
                </a:solidFill>
              </a:defRPr>
            </a:pPr>
            <a:r>
              <a:rPr sz="1388" b="1">
                <a:solidFill>
                  <a:srgbClr val="156082"/>
                </a:solidFill>
              </a:rPr>
              <a:t>마케팅</a:t>
            </a:r>
          </a:p>
        </p:txBody>
      </p:sp>
      <p:sp>
        <p:nvSpPr>
          <p:cNvPr id="12" name="needs-1">
            <a:extLst>
              <a:ext uri="{FF2B5EF4-FFF2-40B4-BE49-F238E27FC236}">
                <a16:creationId xmlns:a16="http://schemas.microsoft.com/office/drawing/2014/main" id="{3B11D9E2-0187-4D27-8204-BE939BC2A755}"/>
              </a:ext>
            </a:extLst>
          </p:cNvPr>
          <p:cNvSpPr>
            <a:spLocks noGrp="1"/>
          </p:cNvSpPr>
          <p:nvPr/>
        </p:nvSpPr>
        <p:spPr>
          <a:xfrm>
            <a:off x="2324100" y="2209800"/>
            <a:ext cx="372427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1A1A2E"/>
                </a:solidFill>
              </a:defRPr>
            </a:defPPr>
          </a:lstStyle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상담·데모 전환, 온보딩, 팁 재구매</a:t>
            </a:r>
          </a:p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업셀·크로스셀 및 이탈 방지</a:t>
            </a:r>
          </a:p>
        </p:txBody>
      </p:sp>
      <p:sp>
        <p:nvSpPr>
          <p:cNvPr id="13" name="mapping-1">
            <a:extLst>
              <a:ext uri="{FF2B5EF4-FFF2-40B4-BE49-F238E27FC236}">
                <a16:creationId xmlns:a16="http://schemas.microsoft.com/office/drawing/2014/main" id="{9BF2B816-668F-4E09-AF77-3DAA0073DAA5}"/>
              </a:ext>
            </a:extLst>
          </p:cNvPr>
          <p:cNvSpPr>
            <a:spLocks noGrp="1"/>
          </p:cNvSpPr>
          <p:nvPr/>
        </p:nvSpPr>
        <p:spPr>
          <a:xfrm>
            <a:off x="6134100" y="2209800"/>
            <a:ext cx="2286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7CA7BB"/>
                </a:solidFill>
              </a:defRPr>
            </a:defPPr>
          </a:lstStyle>
          <a:p>
            <a:pPr algn="ctr">
              <a:defRPr sz="2550" b="1">
                <a:solidFill>
                  <a:srgbClr val="7CA7BB"/>
                </a:solidFill>
              </a:defRPr>
            </a:pPr>
            <a:r>
              <a:rPr sz="2550" b="1">
                <a:solidFill>
                  <a:srgbClr val="7CA7BB"/>
                </a:solidFill>
              </a:rPr>
              <a:t>›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CFEB1F6-3749-4269-B104-6A816AC1AD03}"/>
              </a:ext>
            </a:extLst>
          </p:cNvPr>
          <p:cNvSpPr>
            <a:spLocks noGrp="1"/>
          </p:cNvSpPr>
          <p:nvPr/>
        </p:nvSpPr>
        <p:spPr>
          <a:xfrm>
            <a:off x="6457950" y="2114550"/>
            <a:ext cx="5162550" cy="657225"/>
          </a:xfrm>
          <a:prstGeom prst="rect">
            <a:avLst/>
          </a:prstGeom>
          <a:solidFill>
            <a:srgbClr val="F0F6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ask-1">
            <a:extLst>
              <a:ext uri="{FF2B5EF4-FFF2-40B4-BE49-F238E27FC236}">
                <a16:creationId xmlns:a16="http://schemas.microsoft.com/office/drawing/2014/main" id="{C046C92B-9737-45BB-BE12-DE41157844AD}"/>
              </a:ext>
            </a:extLst>
          </p:cNvPr>
          <p:cNvSpPr>
            <a:spLocks noGrp="1"/>
          </p:cNvSpPr>
          <p:nvPr/>
        </p:nvSpPr>
        <p:spPr>
          <a:xfrm>
            <a:off x="6610350" y="2209800"/>
            <a:ext cx="4876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1A1A2E"/>
                </a:solidFill>
              </a:defRPr>
            </a:defPPr>
          </a:lstStyle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고객 여정·세그먼트별 조건, 메시지,</a:t>
            </a:r>
          </a:p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발송 시점과 영업 후속 접점 설계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FB2F2D-1DCE-4E2B-8742-8FEB159DAA38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1571625" cy="657225"/>
          </a:xfrm>
          <a:prstGeom prst="rect">
            <a:avLst/>
          </a:prstGeom>
          <a:solidFill>
            <a:srgbClr val="DCEB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category-2">
            <a:extLst>
              <a:ext uri="{FF2B5EF4-FFF2-40B4-BE49-F238E27FC236}">
                <a16:creationId xmlns:a16="http://schemas.microsoft.com/office/drawing/2014/main" id="{C7DE1CB2-9D23-4ACB-A57C-80653BA756BD}"/>
              </a:ext>
            </a:extLst>
          </p:cNvPr>
          <p:cNvSpPr>
            <a:spLocks noGrp="1"/>
          </p:cNvSpPr>
          <p:nvPr/>
        </p:nvSpPr>
        <p:spPr>
          <a:xfrm>
            <a:off x="666750" y="2971800"/>
            <a:ext cx="1381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388" b="1">
                <a:solidFill>
                  <a:srgbClr val="156082"/>
                </a:solidFill>
              </a:defRPr>
            </a:defPPr>
          </a:lstStyle>
          <a:p>
            <a:pPr algn="ctr">
              <a:defRPr sz="1388" b="1">
                <a:solidFill>
                  <a:srgbClr val="156082"/>
                </a:solidFill>
              </a:defRPr>
            </a:pPr>
            <a:r>
              <a:rPr sz="1388" b="1">
                <a:solidFill>
                  <a:srgbClr val="156082"/>
                </a:solidFill>
              </a:rPr>
              <a:t>행사·교육</a:t>
            </a:r>
          </a:p>
          <a:p>
            <a:pPr algn="ctr">
              <a:defRPr sz="1388" b="1">
                <a:solidFill>
                  <a:srgbClr val="156082"/>
                </a:solidFill>
              </a:defRPr>
            </a:pPr>
            <a:r>
              <a:rPr sz="1388" b="1">
                <a:solidFill>
                  <a:srgbClr val="156082"/>
                </a:solidFill>
              </a:rPr>
              <a:t>운영 자동화</a:t>
            </a:r>
          </a:p>
        </p:txBody>
      </p:sp>
      <p:sp>
        <p:nvSpPr>
          <p:cNvPr id="18" name="needs-2">
            <a:extLst>
              <a:ext uri="{FF2B5EF4-FFF2-40B4-BE49-F238E27FC236}">
                <a16:creationId xmlns:a16="http://schemas.microsoft.com/office/drawing/2014/main" id="{8B6C43CF-B1ED-4694-AAF8-1B4F81C82E47}"/>
              </a:ext>
            </a:extLst>
          </p:cNvPr>
          <p:cNvSpPr>
            <a:spLocks noGrp="1"/>
          </p:cNvSpPr>
          <p:nvPr/>
        </p:nvSpPr>
        <p:spPr>
          <a:xfrm>
            <a:off x="2324100" y="2952750"/>
            <a:ext cx="372427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1A1A2E"/>
                </a:solidFill>
              </a:defRPr>
            </a:defPPr>
          </a:lstStyle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초청·등록·설문 수작업 축소</a:t>
            </a:r>
          </a:p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노쇼 감소, 회수율·만족도 향상</a:t>
            </a:r>
          </a:p>
        </p:txBody>
      </p:sp>
      <p:sp>
        <p:nvSpPr>
          <p:cNvPr id="19" name="mapping-2">
            <a:extLst>
              <a:ext uri="{FF2B5EF4-FFF2-40B4-BE49-F238E27FC236}">
                <a16:creationId xmlns:a16="http://schemas.microsoft.com/office/drawing/2014/main" id="{5F2086D9-5544-4F1A-A0A2-20656B370F4C}"/>
              </a:ext>
            </a:extLst>
          </p:cNvPr>
          <p:cNvSpPr>
            <a:spLocks noGrp="1"/>
          </p:cNvSpPr>
          <p:nvPr/>
        </p:nvSpPr>
        <p:spPr>
          <a:xfrm>
            <a:off x="6134100" y="2952750"/>
            <a:ext cx="2286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7CA7BB"/>
                </a:solidFill>
              </a:defRPr>
            </a:defPPr>
          </a:lstStyle>
          <a:p>
            <a:pPr algn="ctr">
              <a:defRPr sz="2550" b="1">
                <a:solidFill>
                  <a:srgbClr val="7CA7BB"/>
                </a:solidFill>
              </a:defRPr>
            </a:pPr>
            <a:r>
              <a:rPr sz="2550" b="1">
                <a:solidFill>
                  <a:srgbClr val="7CA7BB"/>
                </a:solidFill>
              </a:rPr>
              <a:t>›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C0AB7EB-0DA7-40C0-BC60-CBF9A429B077}"/>
              </a:ext>
            </a:extLst>
          </p:cNvPr>
          <p:cNvSpPr>
            <a:spLocks noGrp="1"/>
          </p:cNvSpPr>
          <p:nvPr/>
        </p:nvSpPr>
        <p:spPr>
          <a:xfrm>
            <a:off x="6457950" y="2857500"/>
            <a:ext cx="5162550" cy="657225"/>
          </a:xfrm>
          <a:prstGeom prst="rect">
            <a:avLst/>
          </a:prstGeom>
          <a:solidFill>
            <a:srgbClr val="F6F8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ask-2">
            <a:extLst>
              <a:ext uri="{FF2B5EF4-FFF2-40B4-BE49-F238E27FC236}">
                <a16:creationId xmlns:a16="http://schemas.microsoft.com/office/drawing/2014/main" id="{2145AAD2-594F-4C00-B8AB-D8353F985C8F}"/>
              </a:ext>
            </a:extLst>
          </p:cNvPr>
          <p:cNvSpPr>
            <a:spLocks noGrp="1"/>
          </p:cNvSpPr>
          <p:nvPr/>
        </p:nvSpPr>
        <p:spPr>
          <a:xfrm>
            <a:off x="6610350" y="2952750"/>
            <a:ext cx="4876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1A1A2E"/>
                </a:solidFill>
              </a:defRPr>
            </a:defPPr>
          </a:lstStyle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등록·참석·응답 상태별 분기 및</a:t>
            </a:r>
          </a:p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후속 교육 안내, 성과 지표 정의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1118904-EA5E-462C-80EC-49A8B76733F1}"/>
              </a:ext>
            </a:extLst>
          </p:cNvPr>
          <p:cNvSpPr>
            <a:spLocks noGrp="1"/>
          </p:cNvSpPr>
          <p:nvPr/>
        </p:nvSpPr>
        <p:spPr>
          <a:xfrm>
            <a:off x="571500" y="3600450"/>
            <a:ext cx="1571625" cy="657225"/>
          </a:xfrm>
          <a:prstGeom prst="rect">
            <a:avLst/>
          </a:prstGeom>
          <a:solidFill>
            <a:srgbClr val="DCEB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category-3">
            <a:extLst>
              <a:ext uri="{FF2B5EF4-FFF2-40B4-BE49-F238E27FC236}">
                <a16:creationId xmlns:a16="http://schemas.microsoft.com/office/drawing/2014/main" id="{E3235D62-787D-4F6F-A304-3904C04B7379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1381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388" b="1">
                <a:solidFill>
                  <a:srgbClr val="156082"/>
                </a:solidFill>
              </a:defRPr>
            </a:defPPr>
          </a:lstStyle>
          <a:p>
            <a:pPr algn="ctr">
              <a:defRPr sz="1388" b="1">
                <a:solidFill>
                  <a:srgbClr val="156082"/>
                </a:solidFill>
              </a:defRPr>
            </a:pPr>
            <a:r>
              <a:rPr sz="1388" b="1">
                <a:solidFill>
                  <a:srgbClr val="156082"/>
                </a:solidFill>
              </a:rPr>
              <a:t>고객 정보·</a:t>
            </a:r>
          </a:p>
          <a:p>
            <a:pPr algn="ctr">
              <a:defRPr sz="1388" b="1">
                <a:solidFill>
                  <a:srgbClr val="156082"/>
                </a:solidFill>
              </a:defRPr>
            </a:pPr>
            <a:r>
              <a:rPr sz="1388" b="1">
                <a:solidFill>
                  <a:srgbClr val="156082"/>
                </a:solidFill>
              </a:rPr>
              <a:t>반응 이력</a:t>
            </a:r>
          </a:p>
        </p:txBody>
      </p:sp>
      <p:sp>
        <p:nvSpPr>
          <p:cNvPr id="24" name="needs-3">
            <a:extLst>
              <a:ext uri="{FF2B5EF4-FFF2-40B4-BE49-F238E27FC236}">
                <a16:creationId xmlns:a16="http://schemas.microsoft.com/office/drawing/2014/main" id="{E571777A-380D-47A6-9666-17697936ADF4}"/>
              </a:ext>
            </a:extLst>
          </p:cNvPr>
          <p:cNvSpPr>
            <a:spLocks noGrp="1"/>
          </p:cNvSpPr>
          <p:nvPr/>
        </p:nvSpPr>
        <p:spPr>
          <a:xfrm>
            <a:off x="2324100" y="3695700"/>
            <a:ext cx="372427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1A1A2E"/>
                </a:solidFill>
              </a:defRPr>
            </a:defPPr>
          </a:lstStyle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웹사이트·세일즈 데이터 연계</a:t>
            </a:r>
          </a:p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교육·행사·반응 이력 누적</a:t>
            </a:r>
          </a:p>
        </p:txBody>
      </p:sp>
      <p:sp>
        <p:nvSpPr>
          <p:cNvPr id="25" name="mapping-3">
            <a:extLst>
              <a:ext uri="{FF2B5EF4-FFF2-40B4-BE49-F238E27FC236}">
                <a16:creationId xmlns:a16="http://schemas.microsoft.com/office/drawing/2014/main" id="{999061BD-788C-4674-AFA1-E53961D63DD7}"/>
              </a:ext>
            </a:extLst>
          </p:cNvPr>
          <p:cNvSpPr>
            <a:spLocks noGrp="1"/>
          </p:cNvSpPr>
          <p:nvPr/>
        </p:nvSpPr>
        <p:spPr>
          <a:xfrm>
            <a:off x="6134100" y="3695700"/>
            <a:ext cx="2286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7CA7BB"/>
                </a:solidFill>
              </a:defRPr>
            </a:defPPr>
          </a:lstStyle>
          <a:p>
            <a:pPr algn="ctr">
              <a:defRPr sz="2550" b="1">
                <a:solidFill>
                  <a:srgbClr val="7CA7BB"/>
                </a:solidFill>
              </a:defRPr>
            </a:pPr>
            <a:r>
              <a:rPr sz="2550" b="1">
                <a:solidFill>
                  <a:srgbClr val="7CA7BB"/>
                </a:solidFill>
              </a:rPr>
              <a:t>›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F8B08D1-DD30-4DC5-94FD-F593B99591FD}"/>
              </a:ext>
            </a:extLst>
          </p:cNvPr>
          <p:cNvSpPr>
            <a:spLocks noGrp="1"/>
          </p:cNvSpPr>
          <p:nvPr/>
        </p:nvSpPr>
        <p:spPr>
          <a:xfrm>
            <a:off x="6457950" y="3600450"/>
            <a:ext cx="5162550" cy="657225"/>
          </a:xfrm>
          <a:prstGeom prst="rect">
            <a:avLst/>
          </a:prstGeom>
          <a:solidFill>
            <a:srgbClr val="F0F6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ask-3">
            <a:extLst>
              <a:ext uri="{FF2B5EF4-FFF2-40B4-BE49-F238E27FC236}">
                <a16:creationId xmlns:a16="http://schemas.microsoft.com/office/drawing/2014/main" id="{CE3D8FE9-897C-4AA2-8CAF-37E671BC146D}"/>
              </a:ext>
            </a:extLst>
          </p:cNvPr>
          <p:cNvSpPr>
            <a:spLocks noGrp="1"/>
          </p:cNvSpPr>
          <p:nvPr/>
        </p:nvSpPr>
        <p:spPr>
          <a:xfrm>
            <a:off x="6610350" y="3695700"/>
            <a:ext cx="4876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1A1A2E"/>
                </a:solidFill>
              </a:defRPr>
            </a:defPPr>
          </a:lstStyle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고객 식별·동의·거래·반응 항목과</a:t>
            </a:r>
          </a:p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시나리오 실행에 필요한 데이터 정의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212FD52-3F37-4AA8-8B1C-042CDC0D23EE}"/>
              </a:ext>
            </a:extLst>
          </p:cNvPr>
          <p:cNvSpPr>
            <a:spLocks noGrp="1"/>
          </p:cNvSpPr>
          <p:nvPr/>
        </p:nvSpPr>
        <p:spPr>
          <a:xfrm>
            <a:off x="571500" y="4343400"/>
            <a:ext cx="1571625" cy="657225"/>
          </a:xfrm>
          <a:prstGeom prst="rect">
            <a:avLst/>
          </a:prstGeom>
          <a:solidFill>
            <a:srgbClr val="DCEB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category-4">
            <a:extLst>
              <a:ext uri="{FF2B5EF4-FFF2-40B4-BE49-F238E27FC236}">
                <a16:creationId xmlns:a16="http://schemas.microsoft.com/office/drawing/2014/main" id="{8712F0F7-5CD6-42EA-8E63-8D862CBB3475}"/>
              </a:ext>
            </a:extLst>
          </p:cNvPr>
          <p:cNvSpPr>
            <a:spLocks noGrp="1"/>
          </p:cNvSpPr>
          <p:nvPr/>
        </p:nvSpPr>
        <p:spPr>
          <a:xfrm>
            <a:off x="666750" y="4457700"/>
            <a:ext cx="1381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388" b="1">
                <a:solidFill>
                  <a:srgbClr val="156082"/>
                </a:solidFill>
              </a:defRPr>
            </a:defPPr>
          </a:lstStyle>
          <a:p>
            <a:pPr algn="ctr">
              <a:defRPr sz="1388" b="1">
                <a:solidFill>
                  <a:srgbClr val="156082"/>
                </a:solidFill>
              </a:defRPr>
            </a:pPr>
            <a:r>
              <a:rPr sz="1388" b="1">
                <a:solidFill>
                  <a:srgbClr val="156082"/>
                </a:solidFill>
              </a:rPr>
              <a:t>영업 연계·</a:t>
            </a:r>
          </a:p>
          <a:p>
            <a:pPr algn="ctr">
              <a:defRPr sz="1388" b="1">
                <a:solidFill>
                  <a:srgbClr val="156082"/>
                </a:solidFill>
              </a:defRPr>
            </a:pPr>
            <a:r>
              <a:rPr sz="1388" b="1">
                <a:solidFill>
                  <a:srgbClr val="156082"/>
                </a:solidFill>
              </a:rPr>
              <a:t>보고 개선</a:t>
            </a:r>
          </a:p>
        </p:txBody>
      </p:sp>
      <p:sp>
        <p:nvSpPr>
          <p:cNvPr id="30" name="needs-4">
            <a:extLst>
              <a:ext uri="{FF2B5EF4-FFF2-40B4-BE49-F238E27FC236}">
                <a16:creationId xmlns:a16="http://schemas.microsoft.com/office/drawing/2014/main" id="{6007D907-C4B6-4CA1-AB5C-CD5FF62ABB46}"/>
              </a:ext>
            </a:extLst>
          </p:cNvPr>
          <p:cNvSpPr>
            <a:spLocks noGrp="1"/>
          </p:cNvSpPr>
          <p:nvPr/>
        </p:nvSpPr>
        <p:spPr>
          <a:xfrm>
            <a:off x="2324100" y="4438650"/>
            <a:ext cx="372427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1A1A2E"/>
                </a:solidFill>
              </a:defRPr>
            </a:defPPr>
          </a:lstStyle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반응의 영업 연결, 매출 확인</a:t>
            </a:r>
          </a:p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담당자 조회·주간 보고 개선</a:t>
            </a:r>
          </a:p>
        </p:txBody>
      </p:sp>
      <p:sp>
        <p:nvSpPr>
          <p:cNvPr id="31" name="mapping-4">
            <a:extLst>
              <a:ext uri="{FF2B5EF4-FFF2-40B4-BE49-F238E27FC236}">
                <a16:creationId xmlns:a16="http://schemas.microsoft.com/office/drawing/2014/main" id="{3D25C93F-E8F7-49EB-83DF-D77D2599A205}"/>
              </a:ext>
            </a:extLst>
          </p:cNvPr>
          <p:cNvSpPr>
            <a:spLocks noGrp="1"/>
          </p:cNvSpPr>
          <p:nvPr/>
        </p:nvSpPr>
        <p:spPr>
          <a:xfrm>
            <a:off x="6134100" y="4438650"/>
            <a:ext cx="2286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7CA7BB"/>
                </a:solidFill>
              </a:defRPr>
            </a:defPPr>
          </a:lstStyle>
          <a:p>
            <a:pPr algn="ctr">
              <a:defRPr sz="2550" b="1">
                <a:solidFill>
                  <a:srgbClr val="7CA7BB"/>
                </a:solidFill>
              </a:defRPr>
            </a:pPr>
            <a:r>
              <a:rPr sz="2550" b="1">
                <a:solidFill>
                  <a:srgbClr val="7CA7BB"/>
                </a:solidFill>
              </a:rPr>
              <a:t>›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89ABDC8-DDE1-43D3-8B87-10F7B06C46EF}"/>
              </a:ext>
            </a:extLst>
          </p:cNvPr>
          <p:cNvSpPr>
            <a:spLocks noGrp="1"/>
          </p:cNvSpPr>
          <p:nvPr/>
        </p:nvSpPr>
        <p:spPr>
          <a:xfrm>
            <a:off x="6457950" y="4343400"/>
            <a:ext cx="5162550" cy="657225"/>
          </a:xfrm>
          <a:prstGeom prst="rect">
            <a:avLst/>
          </a:prstGeom>
          <a:solidFill>
            <a:srgbClr val="F6F8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ask-4">
            <a:extLst>
              <a:ext uri="{FF2B5EF4-FFF2-40B4-BE49-F238E27FC236}">
                <a16:creationId xmlns:a16="http://schemas.microsoft.com/office/drawing/2014/main" id="{2DC6DF4A-9BE2-4605-9875-8361E7698E4C}"/>
              </a:ext>
            </a:extLst>
          </p:cNvPr>
          <p:cNvSpPr>
            <a:spLocks noGrp="1"/>
          </p:cNvSpPr>
          <p:nvPr/>
        </p:nvSpPr>
        <p:spPr>
          <a:xfrm>
            <a:off x="6610350" y="4438650"/>
            <a:ext cx="4876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1A1A2E"/>
                </a:solidFill>
              </a:defRPr>
            </a:defPPr>
          </a:lstStyle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상담·데모 요청 전달 조건 정리</a:t>
            </a:r>
          </a:p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대시보드·보고 폼은 별도 범위 협의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6005DE3-D238-4786-BF40-F417386338AC}"/>
              </a:ext>
            </a:extLst>
          </p:cNvPr>
          <p:cNvSpPr>
            <a:spLocks noGrp="1"/>
          </p:cNvSpPr>
          <p:nvPr/>
        </p:nvSpPr>
        <p:spPr>
          <a:xfrm>
            <a:off x="571500" y="5086350"/>
            <a:ext cx="1571625" cy="657225"/>
          </a:xfrm>
          <a:prstGeom prst="rect">
            <a:avLst/>
          </a:prstGeom>
          <a:solidFill>
            <a:srgbClr val="DCEB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category-5">
            <a:extLst>
              <a:ext uri="{FF2B5EF4-FFF2-40B4-BE49-F238E27FC236}">
                <a16:creationId xmlns:a16="http://schemas.microsoft.com/office/drawing/2014/main" id="{297EA430-B500-4FC8-A2ED-2BD70BB55BB9}"/>
              </a:ext>
            </a:extLst>
          </p:cNvPr>
          <p:cNvSpPr>
            <a:spLocks noGrp="1"/>
          </p:cNvSpPr>
          <p:nvPr/>
        </p:nvSpPr>
        <p:spPr>
          <a:xfrm>
            <a:off x="666750" y="5200650"/>
            <a:ext cx="1381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388" b="1">
                <a:solidFill>
                  <a:srgbClr val="156082"/>
                </a:solidFill>
              </a:defRPr>
            </a:defPPr>
          </a:lstStyle>
          <a:p>
            <a:pPr algn="ctr">
              <a:defRPr sz="1388" b="1">
                <a:solidFill>
                  <a:srgbClr val="156082"/>
                </a:solidFill>
              </a:defRPr>
            </a:pPr>
            <a:r>
              <a:rPr sz="1388" b="1">
                <a:solidFill>
                  <a:srgbClr val="156082"/>
                </a:solidFill>
              </a:rPr>
              <a:t>콘텐츠·</a:t>
            </a:r>
          </a:p>
          <a:p>
            <a:pPr algn="ctr">
              <a:defRPr sz="1388" b="1">
                <a:solidFill>
                  <a:srgbClr val="156082"/>
                </a:solidFill>
              </a:defRPr>
            </a:pPr>
            <a:r>
              <a:rPr sz="1388" b="1">
                <a:solidFill>
                  <a:srgbClr val="156082"/>
                </a:solidFill>
              </a:rPr>
              <a:t>심의 운영</a:t>
            </a:r>
          </a:p>
        </p:txBody>
      </p:sp>
      <p:sp>
        <p:nvSpPr>
          <p:cNvPr id="36" name="needs-5">
            <a:extLst>
              <a:ext uri="{FF2B5EF4-FFF2-40B4-BE49-F238E27FC236}">
                <a16:creationId xmlns:a16="http://schemas.microsoft.com/office/drawing/2014/main" id="{F9E9C89E-3F9A-43B6-92BC-3C0789773761}"/>
              </a:ext>
            </a:extLst>
          </p:cNvPr>
          <p:cNvSpPr>
            <a:spLocks noGrp="1"/>
          </p:cNvSpPr>
          <p:nvPr/>
        </p:nvSpPr>
        <p:spPr>
          <a:xfrm>
            <a:off x="2324100" y="5181600"/>
            <a:ext cx="372427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1A1A2E"/>
                </a:solidFill>
              </a:defRPr>
            </a:defPPr>
          </a:lstStyle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타겟·채널에 맞는 콘텐츠 활용</a:t>
            </a:r>
          </a:p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심의 요건·기간을 반영한 운영</a:t>
            </a:r>
          </a:p>
        </p:txBody>
      </p:sp>
      <p:sp>
        <p:nvSpPr>
          <p:cNvPr id="37" name="mapping-5">
            <a:extLst>
              <a:ext uri="{FF2B5EF4-FFF2-40B4-BE49-F238E27FC236}">
                <a16:creationId xmlns:a16="http://schemas.microsoft.com/office/drawing/2014/main" id="{E3C46E24-E942-4AB0-9266-9F37812DF59A}"/>
              </a:ext>
            </a:extLst>
          </p:cNvPr>
          <p:cNvSpPr>
            <a:spLocks noGrp="1"/>
          </p:cNvSpPr>
          <p:nvPr/>
        </p:nvSpPr>
        <p:spPr>
          <a:xfrm>
            <a:off x="6134100" y="5181600"/>
            <a:ext cx="2286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7CA7BB"/>
                </a:solidFill>
              </a:defRPr>
            </a:defPPr>
          </a:lstStyle>
          <a:p>
            <a:pPr algn="ctr">
              <a:defRPr sz="2550" b="1">
                <a:solidFill>
                  <a:srgbClr val="7CA7BB"/>
                </a:solidFill>
              </a:defRPr>
            </a:pPr>
            <a:r>
              <a:rPr sz="2550" b="1">
                <a:solidFill>
                  <a:srgbClr val="7CA7BB"/>
                </a:solidFill>
              </a:rPr>
              <a:t>›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7897F19-F93D-4F0B-ACEA-B6DCD064D81F}"/>
              </a:ext>
            </a:extLst>
          </p:cNvPr>
          <p:cNvSpPr>
            <a:spLocks noGrp="1"/>
          </p:cNvSpPr>
          <p:nvPr/>
        </p:nvSpPr>
        <p:spPr>
          <a:xfrm>
            <a:off x="6457950" y="5086350"/>
            <a:ext cx="5162550" cy="657225"/>
          </a:xfrm>
          <a:prstGeom prst="rect">
            <a:avLst/>
          </a:prstGeom>
          <a:solidFill>
            <a:srgbClr val="F0F6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ask-5">
            <a:extLst>
              <a:ext uri="{FF2B5EF4-FFF2-40B4-BE49-F238E27FC236}">
                <a16:creationId xmlns:a16="http://schemas.microsoft.com/office/drawing/2014/main" id="{7AFA6921-6359-41CE-A79E-DA56D5659D97}"/>
              </a:ext>
            </a:extLst>
          </p:cNvPr>
          <p:cNvSpPr>
            <a:spLocks noGrp="1"/>
          </p:cNvSpPr>
          <p:nvPr/>
        </p:nvSpPr>
        <p:spPr>
          <a:xfrm>
            <a:off x="6610350" y="5181600"/>
            <a:ext cx="4876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388" b="0">
                <a:solidFill>
                  <a:srgbClr val="1A1A2E"/>
                </a:solidFill>
              </a:defRPr>
            </a:defPPr>
          </a:lstStyle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메시지·CTA·개인화·승인 조건 정의</a:t>
            </a:r>
          </a:p>
          <a:p>
            <a:pPr algn="l">
              <a:defRPr sz="1388" b="0">
                <a:solidFill>
                  <a:srgbClr val="1A1A2E"/>
                </a:solidFill>
              </a:defRPr>
            </a:pPr>
            <a:r>
              <a:rPr sz="1388" b="0">
                <a:solidFill>
                  <a:srgbClr val="1A1A2E"/>
                </a:solidFill>
              </a:rPr>
              <a:t>제작·심의 일정과 유효기간 확인</a:t>
            </a:r>
          </a:p>
        </p:txBody>
      </p:sp>
    </p:spTree>
    <p:extLst>
      <p:ext uri="{BB962C8B-B14F-4D97-AF65-F5344CB8AC3E}">
        <p14:creationId xmlns:p14="http://schemas.microsoft.com/office/powerpoint/2010/main" val="319922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99BB19BE-E817-4ED7-8427-AECB04F6FF94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9525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2BC"/>
                </a:solidFill>
              </a:defRPr>
            </a:defPPr>
          </a:lstStyle>
          <a:p>
            <a:pPr algn="l">
              <a:buNone/>
              <a:defRPr sz="3000" b="1">
                <a:solidFill>
                  <a:srgbClr val="0072BC"/>
                </a:solidFill>
              </a:defRPr>
            </a:pPr>
            <a:r>
              <a:rPr sz="3000" b="1">
                <a:solidFill>
                  <a:srgbClr val="0072BC"/>
                </a:solidFill>
              </a:rPr>
              <a:t>프로젝트 요건 확인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B514E89-E50B-432C-865A-551B090441A3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0763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156082"/>
                </a:solidFill>
              </a:defRPr>
            </a:pPr>
            <a:r>
              <a:rPr sz="1575" b="1">
                <a:solidFill>
                  <a:srgbClr val="156082"/>
                </a:solidFill>
              </a:rPr>
              <a:t>시나리오 선정과 설계 구체화를 위한 선행 확인 사항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AE9AC0E5-7A0E-4FFD-9486-3E0065430DCB}"/>
              </a:ext>
            </a:extLst>
          </p:cNvPr>
          <p:cNvSpPr>
            <a:spLocks noGrp="1"/>
          </p:cNvSpPr>
          <p:nvPr/>
        </p:nvSpPr>
        <p:spPr>
          <a:xfrm>
            <a:off x="10287000" y="6429375"/>
            <a:ext cx="381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156082"/>
                </a:solidFill>
              </a:defRPr>
            </a:defPPr>
          </a:lstStyle>
          <a:p>
            <a:pPr algn="r">
              <a:buNone/>
              <a:defRPr sz="900" b="0">
                <a:solidFill>
                  <a:srgbClr val="156082"/>
                </a:solidFill>
              </a:defRPr>
            </a:pPr>
            <a:r>
              <a:rPr sz="900" b="0">
                <a:solidFill>
                  <a:srgbClr val="156082"/>
                </a:solidFill>
              </a:rPr>
              <a:t>12</a:t>
            </a:r>
          </a:p>
        </p:txBody>
      </p:sp>
      <p:sp>
        <p:nvSpPr>
          <p:cNvPr id="8" name="category-header">
            <a:extLst>
              <a:ext uri="{FF2B5EF4-FFF2-40B4-BE49-F238E27FC236}">
                <a16:creationId xmlns:a16="http://schemas.microsoft.com/office/drawing/2014/main" id="{848F87CC-F3D6-4AE8-B4ED-AF31330D14C9}"/>
              </a:ext>
            </a:extLst>
          </p:cNvPr>
          <p:cNvSpPr>
            <a:spLocks noGrp="1"/>
          </p:cNvSpPr>
          <p:nvPr/>
        </p:nvSpPr>
        <p:spPr>
          <a:xfrm>
            <a:off x="571500" y="1704975"/>
            <a:ext cx="16573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500" b="1">
                <a:solidFill>
                  <a:srgbClr val="156082"/>
                </a:solidFill>
              </a:defRPr>
            </a:defPPr>
          </a:lstStyle>
          <a:p>
            <a:pPr algn="ctr">
              <a:defRPr sz="1500" b="1">
                <a:solidFill>
                  <a:srgbClr val="156082"/>
                </a:solidFill>
              </a:defRPr>
            </a:pPr>
            <a:r>
              <a:rPr sz="1500" b="1" dirty="0" err="1">
                <a:solidFill>
                  <a:srgbClr val="156082"/>
                </a:solidFill>
              </a:rPr>
              <a:t>구분</a:t>
            </a:r>
            <a:endParaRPr sz="1500" b="1" dirty="0">
              <a:solidFill>
                <a:srgbClr val="156082"/>
              </a:solidFill>
            </a:endParaRPr>
          </a:p>
        </p:txBody>
      </p:sp>
      <p:sp>
        <p:nvSpPr>
          <p:cNvPr id="9" name="current-header">
            <a:extLst>
              <a:ext uri="{FF2B5EF4-FFF2-40B4-BE49-F238E27FC236}">
                <a16:creationId xmlns:a16="http://schemas.microsoft.com/office/drawing/2014/main" id="{9E810578-E5C3-4BBE-BEB3-E5DE56E789B8}"/>
              </a:ext>
            </a:extLst>
          </p:cNvPr>
          <p:cNvSpPr>
            <a:spLocks noGrp="1"/>
          </p:cNvSpPr>
          <p:nvPr/>
        </p:nvSpPr>
        <p:spPr>
          <a:xfrm>
            <a:off x="2390775" y="1704975"/>
            <a:ext cx="39909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defRPr sz="1575" b="1">
                <a:solidFill>
                  <a:srgbClr val="156082"/>
                </a:solidFill>
              </a:defRPr>
            </a:pPr>
            <a:r>
              <a:rPr sz="1575" b="1">
                <a:solidFill>
                  <a:srgbClr val="156082"/>
                </a:solidFill>
              </a:rPr>
              <a:t>현재 확인 내용</a:t>
            </a:r>
          </a:p>
        </p:txBody>
      </p:sp>
      <p:sp>
        <p:nvSpPr>
          <p:cNvPr id="10" name="check-header">
            <a:extLst>
              <a:ext uri="{FF2B5EF4-FFF2-40B4-BE49-F238E27FC236}">
                <a16:creationId xmlns:a16="http://schemas.microsoft.com/office/drawing/2014/main" id="{2CA492DB-CFA1-4230-ABCE-ED7443458C09}"/>
              </a:ext>
            </a:extLst>
          </p:cNvPr>
          <p:cNvSpPr>
            <a:spLocks noGrp="1"/>
          </p:cNvSpPr>
          <p:nvPr/>
        </p:nvSpPr>
        <p:spPr>
          <a:xfrm>
            <a:off x="6762750" y="1704975"/>
            <a:ext cx="4857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575" b="1">
                <a:solidFill>
                  <a:srgbClr val="156082"/>
                </a:solidFill>
              </a:defRPr>
            </a:defPPr>
          </a:lstStyle>
          <a:p>
            <a:pPr algn="l">
              <a:defRPr sz="1575" b="1">
                <a:solidFill>
                  <a:srgbClr val="156082"/>
                </a:solidFill>
              </a:defRPr>
            </a:pPr>
            <a:r>
              <a:rPr sz="1575" b="1">
                <a:solidFill>
                  <a:srgbClr val="156082"/>
                </a:solidFill>
              </a:rPr>
              <a:t>추가 결정·확인 사항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2A05B6-CCEE-4DC7-BC32-193F9EC8B5F9}"/>
              </a:ext>
            </a:extLst>
          </p:cNvPr>
          <p:cNvSpPr>
            <a:spLocks noGrp="1"/>
          </p:cNvSpPr>
          <p:nvPr/>
        </p:nvSpPr>
        <p:spPr>
          <a:xfrm>
            <a:off x="571500" y="2200275"/>
            <a:ext cx="1657350" cy="781050"/>
          </a:xfrm>
          <a:prstGeom prst="rect">
            <a:avLst/>
          </a:prstGeom>
          <a:solidFill>
            <a:srgbClr val="DCEB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category-1">
            <a:extLst>
              <a:ext uri="{FF2B5EF4-FFF2-40B4-BE49-F238E27FC236}">
                <a16:creationId xmlns:a16="http://schemas.microsoft.com/office/drawing/2014/main" id="{CC2BF61D-4EED-4000-8D77-878E9AE89ACE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14668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425" b="1">
                <a:solidFill>
                  <a:srgbClr val="156082"/>
                </a:solidFill>
              </a:defRPr>
            </a:defPPr>
          </a:lstStyle>
          <a:p>
            <a:pPr algn="ctr">
              <a:defRPr sz="1425" b="1">
                <a:solidFill>
                  <a:srgbClr val="156082"/>
                </a:solidFill>
              </a:defRPr>
            </a:pPr>
            <a:r>
              <a:rPr sz="1425" b="1">
                <a:solidFill>
                  <a:srgbClr val="156082"/>
                </a:solidFill>
              </a:rPr>
              <a:t>시나리오 범위</a:t>
            </a:r>
          </a:p>
        </p:txBody>
      </p:sp>
      <p:sp>
        <p:nvSpPr>
          <p:cNvPr id="13" name="current-1">
            <a:extLst>
              <a:ext uri="{FF2B5EF4-FFF2-40B4-BE49-F238E27FC236}">
                <a16:creationId xmlns:a16="http://schemas.microsoft.com/office/drawing/2014/main" id="{C73E2234-4E11-4B72-B684-DFB91BC48AD3}"/>
              </a:ext>
            </a:extLst>
          </p:cNvPr>
          <p:cNvSpPr>
            <a:spLocks noGrp="1"/>
          </p:cNvSpPr>
          <p:nvPr/>
        </p:nvSpPr>
        <p:spPr>
          <a:xfrm>
            <a:off x="2390775" y="2381250"/>
            <a:ext cx="39909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425" b="0">
                <a:solidFill>
                  <a:srgbClr val="1A1A2E"/>
                </a:solidFill>
              </a:defRPr>
            </a:defPPr>
          </a:lstStyle>
          <a:p>
            <a:pPr algn="l">
              <a:defRPr sz="1425" b="0">
                <a:solidFill>
                  <a:srgbClr val="1A1A2E"/>
                </a:solidFill>
              </a:defRPr>
            </a:pPr>
            <a:r>
              <a:rPr sz="1425" b="0">
                <a:solidFill>
                  <a:srgbClr val="1A1A2E"/>
                </a:solidFill>
              </a:rPr>
              <a:t>HCP 중심 총 3개, 내용은 미확정</a:t>
            </a:r>
          </a:p>
        </p:txBody>
      </p:sp>
      <p:sp>
        <p:nvSpPr>
          <p:cNvPr id="14" name="mapping-1">
            <a:extLst>
              <a:ext uri="{FF2B5EF4-FFF2-40B4-BE49-F238E27FC236}">
                <a16:creationId xmlns:a16="http://schemas.microsoft.com/office/drawing/2014/main" id="{2F4591B2-CE0E-4C47-ACCF-393DA29286FD}"/>
              </a:ext>
            </a:extLst>
          </p:cNvPr>
          <p:cNvSpPr>
            <a:spLocks noGrp="1"/>
          </p:cNvSpPr>
          <p:nvPr/>
        </p:nvSpPr>
        <p:spPr>
          <a:xfrm>
            <a:off x="6448425" y="2371725"/>
            <a:ext cx="238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7CA7BB"/>
                </a:solidFill>
              </a:defRPr>
            </a:defPPr>
          </a:lstStyle>
          <a:p>
            <a:pPr algn="ctr">
              <a:defRPr sz="2550" b="1">
                <a:solidFill>
                  <a:srgbClr val="7CA7BB"/>
                </a:solidFill>
              </a:defRPr>
            </a:pPr>
            <a:r>
              <a:rPr sz="2550" b="1">
                <a:solidFill>
                  <a:srgbClr val="7CA7BB"/>
                </a:solidFill>
              </a:rPr>
              <a:t>›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052B74-84A5-4226-B1C2-23FBCADA376A}"/>
              </a:ext>
            </a:extLst>
          </p:cNvPr>
          <p:cNvSpPr>
            <a:spLocks noGrp="1"/>
          </p:cNvSpPr>
          <p:nvPr/>
        </p:nvSpPr>
        <p:spPr>
          <a:xfrm>
            <a:off x="6762750" y="2200275"/>
            <a:ext cx="4857750" cy="781050"/>
          </a:xfrm>
          <a:prstGeom prst="rect">
            <a:avLst/>
          </a:prstGeom>
          <a:solidFill>
            <a:srgbClr val="F0F6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check-1">
            <a:extLst>
              <a:ext uri="{FF2B5EF4-FFF2-40B4-BE49-F238E27FC236}">
                <a16:creationId xmlns:a16="http://schemas.microsoft.com/office/drawing/2014/main" id="{2E08443E-1E83-4519-90C0-ABB75E340630}"/>
              </a:ext>
            </a:extLst>
          </p:cNvPr>
          <p:cNvSpPr>
            <a:spLocks noGrp="1"/>
          </p:cNvSpPr>
          <p:nvPr/>
        </p:nvSpPr>
        <p:spPr>
          <a:xfrm>
            <a:off x="6924675" y="2381250"/>
            <a:ext cx="45243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425" b="1">
                <a:solidFill>
                  <a:srgbClr val="156082"/>
                </a:solidFill>
              </a:defRPr>
            </a:defPPr>
          </a:lstStyle>
          <a:p>
            <a:pPr algn="l">
              <a:defRPr sz="1425" b="1">
                <a:solidFill>
                  <a:srgbClr val="156082"/>
                </a:solidFill>
              </a:defRPr>
            </a:pPr>
            <a:r>
              <a:rPr sz="1425" b="1">
                <a:solidFill>
                  <a:srgbClr val="156082"/>
                </a:solidFill>
              </a:rPr>
              <a:t>우선순위 및 시작·종료·분기 범위 확인 필요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7845727-D7CB-4DC6-90B6-A58A368C8ECA}"/>
              </a:ext>
            </a:extLst>
          </p:cNvPr>
          <p:cNvSpPr>
            <a:spLocks noGrp="1"/>
          </p:cNvSpPr>
          <p:nvPr/>
        </p:nvSpPr>
        <p:spPr>
          <a:xfrm>
            <a:off x="571500" y="3105150"/>
            <a:ext cx="1657350" cy="781050"/>
          </a:xfrm>
          <a:prstGeom prst="rect">
            <a:avLst/>
          </a:prstGeom>
          <a:solidFill>
            <a:srgbClr val="DCEB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category-2">
            <a:extLst>
              <a:ext uri="{FF2B5EF4-FFF2-40B4-BE49-F238E27FC236}">
                <a16:creationId xmlns:a16="http://schemas.microsoft.com/office/drawing/2014/main" id="{1C4F3ED0-A32A-4C16-9C12-06D3C26E2FBD}"/>
              </a:ext>
            </a:extLst>
          </p:cNvPr>
          <p:cNvSpPr>
            <a:spLocks noGrp="1"/>
          </p:cNvSpPr>
          <p:nvPr/>
        </p:nvSpPr>
        <p:spPr>
          <a:xfrm>
            <a:off x="666750" y="3362325"/>
            <a:ext cx="14668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425" b="1">
                <a:solidFill>
                  <a:srgbClr val="156082"/>
                </a:solidFill>
              </a:defRPr>
            </a:defPPr>
          </a:lstStyle>
          <a:p>
            <a:pPr algn="ctr">
              <a:defRPr sz="1425" b="1">
                <a:solidFill>
                  <a:srgbClr val="156082"/>
                </a:solidFill>
              </a:defRPr>
            </a:pPr>
            <a:r>
              <a:rPr sz="1425" b="1">
                <a:solidFill>
                  <a:srgbClr val="156082"/>
                </a:solidFill>
              </a:rPr>
              <a:t>팁 구매 데이터</a:t>
            </a:r>
          </a:p>
        </p:txBody>
      </p:sp>
      <p:sp>
        <p:nvSpPr>
          <p:cNvPr id="19" name="current-2">
            <a:extLst>
              <a:ext uri="{FF2B5EF4-FFF2-40B4-BE49-F238E27FC236}">
                <a16:creationId xmlns:a16="http://schemas.microsoft.com/office/drawing/2014/main" id="{95467BE8-95AA-4607-9085-4A3666288A67}"/>
              </a:ext>
            </a:extLst>
          </p:cNvPr>
          <p:cNvSpPr>
            <a:spLocks noGrp="1"/>
          </p:cNvSpPr>
          <p:nvPr/>
        </p:nvSpPr>
        <p:spPr>
          <a:xfrm>
            <a:off x="2390775" y="3286125"/>
            <a:ext cx="39909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425" b="0">
                <a:solidFill>
                  <a:srgbClr val="1A1A2E"/>
                </a:solidFill>
              </a:defRPr>
            </a:defPPr>
          </a:lstStyle>
          <a:p>
            <a:pPr algn="l">
              <a:defRPr sz="1425" b="0">
                <a:solidFill>
                  <a:srgbClr val="1A1A2E"/>
                </a:solidFill>
              </a:defRPr>
            </a:pPr>
            <a:r>
              <a:rPr sz="1425" b="0">
                <a:solidFill>
                  <a:srgbClr val="1A1A2E"/>
                </a:solidFill>
              </a:rPr>
              <a:t>총판 매출이며 SFDC에는 없음</a:t>
            </a:r>
          </a:p>
        </p:txBody>
      </p:sp>
      <p:sp>
        <p:nvSpPr>
          <p:cNvPr id="20" name="mapping-2">
            <a:extLst>
              <a:ext uri="{FF2B5EF4-FFF2-40B4-BE49-F238E27FC236}">
                <a16:creationId xmlns:a16="http://schemas.microsoft.com/office/drawing/2014/main" id="{83D9502A-6915-4B19-999D-A16027CD3F1F}"/>
              </a:ext>
            </a:extLst>
          </p:cNvPr>
          <p:cNvSpPr>
            <a:spLocks noGrp="1"/>
          </p:cNvSpPr>
          <p:nvPr/>
        </p:nvSpPr>
        <p:spPr>
          <a:xfrm>
            <a:off x="6448425" y="3276600"/>
            <a:ext cx="238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7CA7BB"/>
                </a:solidFill>
              </a:defRPr>
            </a:defPPr>
          </a:lstStyle>
          <a:p>
            <a:pPr algn="ctr">
              <a:defRPr sz="2550" b="1">
                <a:solidFill>
                  <a:srgbClr val="7CA7BB"/>
                </a:solidFill>
              </a:defRPr>
            </a:pPr>
            <a:r>
              <a:rPr sz="2550" b="1">
                <a:solidFill>
                  <a:srgbClr val="7CA7BB"/>
                </a:solidFill>
              </a:rPr>
              <a:t>›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13EF0BC-789E-446E-9949-4986CFC08829}"/>
              </a:ext>
            </a:extLst>
          </p:cNvPr>
          <p:cNvSpPr>
            <a:spLocks noGrp="1"/>
          </p:cNvSpPr>
          <p:nvPr/>
        </p:nvSpPr>
        <p:spPr>
          <a:xfrm>
            <a:off x="6762750" y="3105150"/>
            <a:ext cx="4857750" cy="781050"/>
          </a:xfrm>
          <a:prstGeom prst="rect">
            <a:avLst/>
          </a:prstGeom>
          <a:solidFill>
            <a:srgbClr val="F0F6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check-2">
            <a:extLst>
              <a:ext uri="{FF2B5EF4-FFF2-40B4-BE49-F238E27FC236}">
                <a16:creationId xmlns:a16="http://schemas.microsoft.com/office/drawing/2014/main" id="{043F7CE1-AF8E-4174-94D0-F8B8D95C5FFE}"/>
              </a:ext>
            </a:extLst>
          </p:cNvPr>
          <p:cNvSpPr>
            <a:spLocks noGrp="1"/>
          </p:cNvSpPr>
          <p:nvPr/>
        </p:nvSpPr>
        <p:spPr>
          <a:xfrm>
            <a:off x="6924675" y="3286125"/>
            <a:ext cx="45243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425" b="1">
                <a:solidFill>
                  <a:srgbClr val="156082"/>
                </a:solidFill>
              </a:defRPr>
            </a:defPPr>
          </a:lstStyle>
          <a:p>
            <a:pPr algn="l">
              <a:defRPr sz="1425" b="1">
                <a:solidFill>
                  <a:srgbClr val="156082"/>
                </a:solidFill>
              </a:defRPr>
            </a:pPr>
            <a:r>
              <a:rPr sz="1425" b="1">
                <a:solidFill>
                  <a:srgbClr val="156082"/>
                </a:solidFill>
              </a:rPr>
              <a:t>데이터 확보 경로·항목·활용 가능 수준 확인 필요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371FE6A-F7AF-452D-BE1A-FC6CBF91CACF}"/>
              </a:ext>
            </a:extLst>
          </p:cNvPr>
          <p:cNvSpPr>
            <a:spLocks noGrp="1"/>
          </p:cNvSpPr>
          <p:nvPr/>
        </p:nvSpPr>
        <p:spPr>
          <a:xfrm>
            <a:off x="571500" y="4010025"/>
            <a:ext cx="1657350" cy="781050"/>
          </a:xfrm>
          <a:prstGeom prst="rect">
            <a:avLst/>
          </a:prstGeom>
          <a:solidFill>
            <a:srgbClr val="DCEB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category-3">
            <a:extLst>
              <a:ext uri="{FF2B5EF4-FFF2-40B4-BE49-F238E27FC236}">
                <a16:creationId xmlns:a16="http://schemas.microsoft.com/office/drawing/2014/main" id="{7C086323-D3F3-4A1C-998A-B89B991CBAC9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14668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425" b="1">
                <a:solidFill>
                  <a:srgbClr val="156082"/>
                </a:solidFill>
              </a:defRPr>
            </a:defPPr>
          </a:lstStyle>
          <a:p>
            <a:pPr algn="ctr">
              <a:defRPr sz="1425" b="1">
                <a:solidFill>
                  <a:srgbClr val="156082"/>
                </a:solidFill>
              </a:defRPr>
            </a:pPr>
            <a:r>
              <a:rPr sz="1425" b="1">
                <a:solidFill>
                  <a:srgbClr val="156082"/>
                </a:solidFill>
              </a:rPr>
              <a:t>웹사이트 DB</a:t>
            </a:r>
          </a:p>
        </p:txBody>
      </p:sp>
      <p:sp>
        <p:nvSpPr>
          <p:cNvPr id="25" name="current-3">
            <a:extLst>
              <a:ext uri="{FF2B5EF4-FFF2-40B4-BE49-F238E27FC236}">
                <a16:creationId xmlns:a16="http://schemas.microsoft.com/office/drawing/2014/main" id="{8760085E-0A22-422A-871C-06CABC99A712}"/>
              </a:ext>
            </a:extLst>
          </p:cNvPr>
          <p:cNvSpPr>
            <a:spLocks noGrp="1"/>
          </p:cNvSpPr>
          <p:nvPr/>
        </p:nvSpPr>
        <p:spPr>
          <a:xfrm>
            <a:off x="2390775" y="4191000"/>
            <a:ext cx="39909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425" b="0">
                <a:solidFill>
                  <a:srgbClr val="1A1A2E"/>
                </a:solidFill>
              </a:defRPr>
            </a:defPPr>
          </a:lstStyle>
          <a:p>
            <a:pPr algn="l">
              <a:defRPr sz="1425" b="0">
                <a:solidFill>
                  <a:srgbClr val="1A1A2E"/>
                </a:solidFill>
              </a:defRPr>
            </a:pPr>
            <a:r>
              <a:rPr sz="1425" b="0">
                <a:solidFill>
                  <a:srgbClr val="1A1A2E"/>
                </a:solidFill>
              </a:rPr>
              <a:t>고객·수신 동의 보유, Data Cloud 미연동</a:t>
            </a:r>
          </a:p>
        </p:txBody>
      </p:sp>
      <p:sp>
        <p:nvSpPr>
          <p:cNvPr id="26" name="mapping-3">
            <a:extLst>
              <a:ext uri="{FF2B5EF4-FFF2-40B4-BE49-F238E27FC236}">
                <a16:creationId xmlns:a16="http://schemas.microsoft.com/office/drawing/2014/main" id="{E20DE184-31DB-478A-A86A-1B75044E5F6F}"/>
              </a:ext>
            </a:extLst>
          </p:cNvPr>
          <p:cNvSpPr>
            <a:spLocks noGrp="1"/>
          </p:cNvSpPr>
          <p:nvPr/>
        </p:nvSpPr>
        <p:spPr>
          <a:xfrm>
            <a:off x="6448425" y="4181475"/>
            <a:ext cx="238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7CA7BB"/>
                </a:solidFill>
              </a:defRPr>
            </a:defPPr>
          </a:lstStyle>
          <a:p>
            <a:pPr algn="ctr">
              <a:defRPr sz="2550" b="1">
                <a:solidFill>
                  <a:srgbClr val="7CA7BB"/>
                </a:solidFill>
              </a:defRPr>
            </a:pPr>
            <a:r>
              <a:rPr sz="2550" b="1">
                <a:solidFill>
                  <a:srgbClr val="7CA7BB"/>
                </a:solidFill>
              </a:rPr>
              <a:t>›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FD1CA78-5359-45F0-9F22-3E17F37AD663}"/>
              </a:ext>
            </a:extLst>
          </p:cNvPr>
          <p:cNvSpPr>
            <a:spLocks noGrp="1"/>
          </p:cNvSpPr>
          <p:nvPr/>
        </p:nvSpPr>
        <p:spPr>
          <a:xfrm>
            <a:off x="6762750" y="4010025"/>
            <a:ext cx="4857750" cy="781050"/>
          </a:xfrm>
          <a:prstGeom prst="rect">
            <a:avLst/>
          </a:prstGeom>
          <a:solidFill>
            <a:srgbClr val="F0F6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check-3">
            <a:extLst>
              <a:ext uri="{FF2B5EF4-FFF2-40B4-BE49-F238E27FC236}">
                <a16:creationId xmlns:a16="http://schemas.microsoft.com/office/drawing/2014/main" id="{E9DC909C-3585-4A30-A8FA-0890E7600F7C}"/>
              </a:ext>
            </a:extLst>
          </p:cNvPr>
          <p:cNvSpPr>
            <a:spLocks noGrp="1"/>
          </p:cNvSpPr>
          <p:nvPr/>
        </p:nvSpPr>
        <p:spPr>
          <a:xfrm>
            <a:off x="6924675" y="4191000"/>
            <a:ext cx="45243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425" b="1">
                <a:solidFill>
                  <a:srgbClr val="156082"/>
                </a:solidFill>
              </a:defRPr>
            </a:defPPr>
          </a:lstStyle>
          <a:p>
            <a:pPr algn="l">
              <a:defRPr sz="1425" b="1">
                <a:solidFill>
                  <a:srgbClr val="156082"/>
                </a:solidFill>
              </a:defRPr>
            </a:pPr>
            <a:r>
              <a:rPr sz="1425" b="1">
                <a:solidFill>
                  <a:srgbClr val="156082"/>
                </a:solidFill>
              </a:rPr>
              <a:t>고객 매칭·동의 전달·갱신·연동 방식 확인 필요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1205113-8128-491D-9703-F765C8796F8A}"/>
              </a:ext>
            </a:extLst>
          </p:cNvPr>
          <p:cNvSpPr>
            <a:spLocks noGrp="1"/>
          </p:cNvSpPr>
          <p:nvPr/>
        </p:nvSpPr>
        <p:spPr>
          <a:xfrm>
            <a:off x="571500" y="4914900"/>
            <a:ext cx="1657350" cy="781050"/>
          </a:xfrm>
          <a:prstGeom prst="rect">
            <a:avLst/>
          </a:prstGeom>
          <a:solidFill>
            <a:srgbClr val="DCEB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category-4">
            <a:extLst>
              <a:ext uri="{FF2B5EF4-FFF2-40B4-BE49-F238E27FC236}">
                <a16:creationId xmlns:a16="http://schemas.microsoft.com/office/drawing/2014/main" id="{94476BE5-2C3C-4454-A493-6A92AFEE6376}"/>
              </a:ext>
            </a:extLst>
          </p:cNvPr>
          <p:cNvSpPr>
            <a:spLocks noGrp="1"/>
          </p:cNvSpPr>
          <p:nvPr/>
        </p:nvSpPr>
        <p:spPr>
          <a:xfrm>
            <a:off x="666750" y="5172075"/>
            <a:ext cx="14668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425" b="1">
                <a:solidFill>
                  <a:srgbClr val="156082"/>
                </a:solidFill>
              </a:defRPr>
            </a:defPPr>
          </a:lstStyle>
          <a:p>
            <a:pPr algn="ctr">
              <a:defRPr sz="1425" b="1">
                <a:solidFill>
                  <a:srgbClr val="156082"/>
                </a:solidFill>
              </a:defRPr>
            </a:pPr>
            <a:r>
              <a:rPr sz="1425" b="1">
                <a:solidFill>
                  <a:srgbClr val="156082"/>
                </a:solidFill>
              </a:rPr>
              <a:t>심의</a:t>
            </a:r>
          </a:p>
        </p:txBody>
      </p:sp>
      <p:sp>
        <p:nvSpPr>
          <p:cNvPr id="31" name="current-4">
            <a:extLst>
              <a:ext uri="{FF2B5EF4-FFF2-40B4-BE49-F238E27FC236}">
                <a16:creationId xmlns:a16="http://schemas.microsoft.com/office/drawing/2014/main" id="{5CFBC2FC-4A6A-4189-9E3B-305942F1ABEC}"/>
              </a:ext>
            </a:extLst>
          </p:cNvPr>
          <p:cNvSpPr>
            <a:spLocks noGrp="1"/>
          </p:cNvSpPr>
          <p:nvPr/>
        </p:nvSpPr>
        <p:spPr>
          <a:xfrm>
            <a:off x="2390775" y="5095875"/>
            <a:ext cx="39909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425" b="0">
                <a:solidFill>
                  <a:srgbClr val="1A1A2E"/>
                </a:solidFill>
              </a:defRPr>
            </a:defPPr>
          </a:lstStyle>
          <a:p>
            <a:pPr algn="l">
              <a:defRPr sz="1425" b="0">
                <a:solidFill>
                  <a:srgbClr val="1A1A2E"/>
                </a:solidFill>
              </a:defRPr>
            </a:pPr>
            <a:r>
              <a:rPr sz="1425" b="0">
                <a:solidFill>
                  <a:srgbClr val="1A1A2E"/>
                </a:solidFill>
              </a:rPr>
              <a:t>콘텐츠 제작 후 심의 완료까지 소요시간 3-4주</a:t>
            </a:r>
          </a:p>
        </p:txBody>
      </p:sp>
      <p:sp>
        <p:nvSpPr>
          <p:cNvPr id="32" name="mapping-4">
            <a:extLst>
              <a:ext uri="{FF2B5EF4-FFF2-40B4-BE49-F238E27FC236}">
                <a16:creationId xmlns:a16="http://schemas.microsoft.com/office/drawing/2014/main" id="{436AA83F-7ADF-4E38-A150-4A05EB09612C}"/>
              </a:ext>
            </a:extLst>
          </p:cNvPr>
          <p:cNvSpPr>
            <a:spLocks noGrp="1"/>
          </p:cNvSpPr>
          <p:nvPr/>
        </p:nvSpPr>
        <p:spPr>
          <a:xfrm>
            <a:off x="6448425" y="5086350"/>
            <a:ext cx="238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7CA7BB"/>
                </a:solidFill>
              </a:defRPr>
            </a:defPPr>
          </a:lstStyle>
          <a:p>
            <a:pPr algn="ctr">
              <a:defRPr sz="2550" b="1">
                <a:solidFill>
                  <a:srgbClr val="7CA7BB"/>
                </a:solidFill>
              </a:defRPr>
            </a:pPr>
            <a:r>
              <a:rPr sz="2550" b="1">
                <a:solidFill>
                  <a:srgbClr val="7CA7BB"/>
                </a:solidFill>
              </a:rPr>
              <a:t>›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251FFC3-DC26-449E-B9C7-E532C71A7AE8}"/>
              </a:ext>
            </a:extLst>
          </p:cNvPr>
          <p:cNvSpPr>
            <a:spLocks noGrp="1"/>
          </p:cNvSpPr>
          <p:nvPr/>
        </p:nvSpPr>
        <p:spPr>
          <a:xfrm>
            <a:off x="6762750" y="4914900"/>
            <a:ext cx="4857750" cy="781050"/>
          </a:xfrm>
          <a:prstGeom prst="rect">
            <a:avLst/>
          </a:prstGeom>
          <a:solidFill>
            <a:srgbClr val="F0F6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check-4">
            <a:extLst>
              <a:ext uri="{FF2B5EF4-FFF2-40B4-BE49-F238E27FC236}">
                <a16:creationId xmlns:a16="http://schemas.microsoft.com/office/drawing/2014/main" id="{80AB4CE8-583B-4AB5-BE8E-AD00DA6F445C}"/>
              </a:ext>
            </a:extLst>
          </p:cNvPr>
          <p:cNvSpPr>
            <a:spLocks noGrp="1"/>
          </p:cNvSpPr>
          <p:nvPr/>
        </p:nvSpPr>
        <p:spPr>
          <a:xfrm>
            <a:off x="6924675" y="5095875"/>
            <a:ext cx="45243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425" b="1">
                <a:solidFill>
                  <a:srgbClr val="156082"/>
                </a:solidFill>
              </a:defRPr>
            </a:defPPr>
          </a:lstStyle>
          <a:p>
            <a:pPr algn="l">
              <a:defRPr sz="1425" b="1">
                <a:solidFill>
                  <a:srgbClr val="156082"/>
                </a:solidFill>
              </a:defRPr>
            </a:pPr>
            <a:r>
              <a:rPr sz="1425" b="1">
                <a:solidFill>
                  <a:srgbClr val="156082"/>
                </a:solidFill>
              </a:rPr>
              <a:t>해당 일정을 고려한 콘텐츠 기획 및 제작</a:t>
            </a:r>
          </a:p>
        </p:txBody>
      </p:sp>
    </p:spTree>
    <p:extLst>
      <p:ext uri="{BB962C8B-B14F-4D97-AF65-F5344CB8AC3E}">
        <p14:creationId xmlns:p14="http://schemas.microsoft.com/office/powerpoint/2010/main" val="319922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23;p1">
            <a:extLst>
              <a:ext uri="{FF2B5EF4-FFF2-40B4-BE49-F238E27FC236}">
                <a16:creationId xmlns:a16="http://schemas.microsoft.com/office/drawing/2014/main" id="{3401D6AA-78B7-4DDA-A265-AC72B45639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2336" y="1383927"/>
            <a:ext cx="1447206" cy="41278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1348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  <a:font script="Armn" typeface="Noto Sans KR"/>
        <a:font script="Bugi" typeface="Noto Sans KR"/>
        <a:font script="Bopo" typeface="Noto Sans KR"/>
        <a:font script="Java" typeface="Noto Sans KR"/>
        <a:font script="Lisu" typeface="Noto Sans KR"/>
        <a:font script="Mymr" typeface="Noto Sans KR"/>
        <a:font script="Nkoo" typeface="Noto Sans KR"/>
        <a:font script="Olck" typeface="Noto Sans KR"/>
        <a:font script="Osma" typeface="Noto Sans KR"/>
        <a:font script="Phag" typeface="Noto Sans KR"/>
        <a:font script="Syrn" typeface="Noto Sans KR"/>
        <a:font script="Syrj" typeface="Noto Sans KR"/>
        <a:font script="Syre" typeface="Noto Sans KR"/>
        <a:font script="Sora" typeface="Noto Sans KR"/>
        <a:font script="Tale" typeface="Noto Sans KR"/>
        <a:font script="Talu" typeface="Noto Sans KR"/>
        <a:font script="Tfng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  <a:font script="Armn" typeface="Noto Sans KR"/>
        <a:font script="Bugi" typeface="Noto Sans KR"/>
        <a:font script="Bopo" typeface="Noto Sans KR"/>
        <a:font script="Java" typeface="Noto Sans KR"/>
        <a:font script="Lisu" typeface="Noto Sans KR"/>
        <a:font script="Mymr" typeface="Noto Sans KR"/>
        <a:font script="Nkoo" typeface="Noto Sans KR"/>
        <a:font script="Olck" typeface="Noto Sans KR"/>
        <a:font script="Osma" typeface="Noto Sans KR"/>
        <a:font script="Phag" typeface="Noto Sans KR"/>
        <a:font script="Syrn" typeface="Noto Sans KR"/>
        <a:font script="Syrj" typeface="Noto Sans KR"/>
        <a:font script="Syre" typeface="Noto Sans KR"/>
        <a:font script="Sora" typeface="Noto Sans KR"/>
        <a:font script="Tale" typeface="Noto Sans KR"/>
        <a:font script="Talu" typeface="Noto Sans KR"/>
        <a:font script="Tfng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  <a:font script="Armn" typeface="Noto Sans KR"/>
        <a:font script="Bugi" typeface="Noto Sans KR"/>
        <a:font script="Bopo" typeface="Noto Sans KR"/>
        <a:font script="Java" typeface="Noto Sans KR"/>
        <a:font script="Lisu" typeface="Noto Sans KR"/>
        <a:font script="Mymr" typeface="Noto Sans KR"/>
        <a:font script="Nkoo" typeface="Noto Sans KR"/>
        <a:font script="Olck" typeface="Noto Sans KR"/>
        <a:font script="Osma" typeface="Noto Sans KR"/>
        <a:font script="Phag" typeface="Noto Sans KR"/>
        <a:font script="Syrn" typeface="Noto Sans KR"/>
        <a:font script="Syrj" typeface="Noto Sans KR"/>
        <a:font script="Syre" typeface="Noto Sans KR"/>
        <a:font script="Sora" typeface="Noto Sans KR"/>
        <a:font script="Tale" typeface="Noto Sans KR"/>
        <a:font script="Talu" typeface="Noto Sans KR"/>
        <a:font script="Tfng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  <a:font script="Armn" typeface="Noto Sans KR"/>
        <a:font script="Bugi" typeface="Noto Sans KR"/>
        <a:font script="Bopo" typeface="Noto Sans KR"/>
        <a:font script="Java" typeface="Noto Sans KR"/>
        <a:font script="Lisu" typeface="Noto Sans KR"/>
        <a:font script="Mymr" typeface="Noto Sans KR"/>
        <a:font script="Nkoo" typeface="Noto Sans KR"/>
        <a:font script="Olck" typeface="Noto Sans KR"/>
        <a:font script="Osma" typeface="Noto Sans KR"/>
        <a:font script="Phag" typeface="Noto Sans KR"/>
        <a:font script="Syrn" typeface="Noto Sans KR"/>
        <a:font script="Syrj" typeface="Noto Sans KR"/>
        <a:font script="Syre" typeface="Noto Sans KR"/>
        <a:font script="Sora" typeface="Noto Sans KR"/>
        <a:font script="Tale" typeface="Noto Sans KR"/>
        <a:font script="Talu" typeface="Noto Sans KR"/>
        <a:font script="Tfng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F91263-6674-497C-B706-A084DF9D8AE2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3534</Words>
  <Application>Microsoft Office PowerPoint</Application>
  <DocSecurity>0</DocSecurity>
  <PresentationFormat>와이드스크린</PresentationFormat>
  <Paragraphs>347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5" baseType="lpstr">
      <vt:lpstr>Noto Sans KR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crm6 crm6</cp:lastModifiedBy>
  <cp:revision>3</cp:revision>
  <dcterms:created xsi:type="dcterms:W3CDTF">2026-10-15T07:57:00Z</dcterms:created>
  <dcterms:modified xsi:type="dcterms:W3CDTF">2026-10-15T08:14:16Z</dcterms:modified>
</cp:coreProperties>
</file>