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1A6DCEB-908B-8A08-F3C3-9ECAACAEEB44}">
          <p14:sldIdLst>
            <p14:sldId id="256"/>
          </p14:sldIdLst>
        </p14:section>
        <p14:section name="Summary" id="{441A0803-1E12-55BC-9B89-5E9206798BE2}">
          <p14:sldIdLst>
            <p14:sldId id="257"/>
          </p14:sldIdLst>
        </p14:section>
        <p14:section name="인터뷰 개요" id="{F5BC1E38-5724-45A1-1371-76C8DA2AEED3}">
          <p14:sldIdLst>
            <p14:sldId id="258"/>
          </p14:sldIdLst>
        </p14:section>
        <p14:section name="인터뷰 결과" id="{97547A37-1D51-FB19-C977-1CAF40CE489C}">
          <p14:sldIdLst>
            <p14:sldId id="259"/>
            <p14:sldId id="260"/>
            <p14:sldId id="261"/>
          </p14:sldIdLst>
        </p14:section>
        <p14:section name="방향성" id="{8ED7684C-5495-BAEE-6514-A4432764AC60}">
          <p14:sldIdLst>
            <p14:sldId id="263"/>
            <p14:sldId id="265"/>
          </p14:sldIdLst>
        </p14:section>
        <p14:section name="다음 단계" id="{801F708C-025D-0BB3-03EA-43350D4922A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3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1800" dirty="0">
                <a:solidFill>
                  <a:schemeClr val="accent6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2800" b="1" dirty="0">
                <a:solidFill>
                  <a:schemeClr val="tx2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1500" dirty="0">
                <a:solidFill>
                  <a:schemeClr val="accent5"/>
                </a:solidFill>
              </a:defRPr>
            </a:lvl1pPr>
          </a:lstStyle>
          <a:p>
            <a:pPr marL="0" indent="0" algn="l" eaLnBrk="0" latinLnBrk="0">
              <a:buNone/>
            </a:pPr>
            <a:endParaRPr lang="ko-KR" alt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 latinLnBrk="0">
              <a:buNone/>
            </a:pPr>
            <a:r>
              <a:rPr lang="ko-KR" altLang="en-US" sz="1000" dirty="0">
                <a:solidFill>
                  <a:srgbClr val="5B6B82"/>
                </a:solidFill>
              </a:rPr>
              <a:t>솔타메디칼 코리아 · 현업 인터뷰 결과 보고 · 밀버스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 eaLnBrk="0" latin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현업 인터뷰 결과 보고 및</a:t>
            </a:r>
            <a:endParaRPr lang="ko-KR" altLang="en-US" sz="4000" dirty="0"/>
          </a:p>
          <a:p>
            <a:pPr marL="0" indent="0" algn="l" eaLnBrk="0" latinLnBrk="0">
              <a:buNone/>
            </a:pPr>
            <a:r>
              <a:rPr lang="ko-KR" altLang="en-US" sz="4000" b="1" dirty="0">
                <a:solidFill>
                  <a:schemeClr val="bg1"/>
                </a:solidFill>
              </a:rPr>
              <a:t>프로젝트 방향성</a:t>
            </a:r>
            <a:endParaRPr lang="ko-KR" alt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49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 eaLnBrk="0" latinLnBrk="0">
              <a:buNone/>
            </a:pPr>
            <a:r>
              <a:rPr lang="ko-KR" altLang="en-US" sz="1800" dirty="0">
                <a:solidFill>
                  <a:schemeClr val="accent6"/>
                </a:solidFill>
              </a:rPr>
              <a:t>Solta Medical Korea · Salesforce Marketing Campaign Design</a:t>
            </a:r>
            <a:endParaRPr lang="ko-KR" altLang="en-US" sz="1800" dirty="0"/>
          </a:p>
          <a:p>
            <a:pPr marL="0" indent="0" algn="l" eaLnBrk="0" latinLnBrk="0">
              <a:buNone/>
            </a:pPr>
            <a:r>
              <a:rPr lang="ko-KR" altLang="en-US" sz="1800" dirty="0">
                <a:solidFill>
                  <a:schemeClr val="accent6"/>
                </a:solidFill>
              </a:rPr>
              <a:t>2026.10 · 밀버스 · V0.1 (초안)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 latinLnBrk="0">
              <a:buNone/>
            </a:pPr>
            <a:r>
              <a:rPr lang="ko-KR" altLang="en-US" sz="2800" b="1" dirty="0">
                <a:solidFill>
                  <a:schemeClr val="tx2"/>
                </a:solidFill>
              </a:rPr>
              <a:t>프로젝트 방향성 Summary</a:t>
            </a: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 latin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재구매 성장을 위한 자동화 시나리오 3개를 설계합니다</a:t>
            </a:r>
            <a:r>
              <a:rPr lang="en-US" altLang="ko-KR" sz="1500" dirty="0">
                <a:solidFill>
                  <a:schemeClr val="accent5"/>
                </a:solidFill>
              </a:rPr>
              <a:t>.</a:t>
            </a:r>
            <a:endParaRPr lang="ko-KR" alt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20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</a:t>
            </a:r>
            <a:endParaRPr lang="ko-KR" alt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설치는 포화, 다음 성장 동력은 소모품(팁) 재구매</a:t>
            </a:r>
            <a:endParaRPr lang="ko-KR" altLang="en-US" sz="14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세그먼트별 메시지로 세일즈를 끌어올리는 CRM 마케팅이 최우선 과제</a:t>
            </a:r>
            <a:endParaRPr lang="ko-KR" alt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alt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1965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20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</a:t>
            </a:r>
            <a:endParaRPr lang="ko-KR" alt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데이터가 홈페이지 </a:t>
            </a:r>
            <a:r>
              <a:rPr lang="ko-KR" altLang="en-US" sz="1400" dirty="0" err="1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DB·Salesforce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4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Salescloud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·D365·엑셀에 흩어져 있고 Data Cloud와 미연동</a:t>
            </a:r>
            <a:endParaRPr lang="ko-KR" altLang="en-US" sz="14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수신 동의 HCP 약 300~400명, 팁 판매는 대리점 엑셀로만 관리</a:t>
            </a:r>
            <a:endParaRPr lang="ko-KR" alt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alt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20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</a:t>
            </a:r>
            <a:endParaRPr lang="ko-KR" alt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846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en-US" altLang="ko-KR" sz="14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B2B 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시나리오 3개 설계 프로젝트</a:t>
            </a:r>
            <a:endParaRPr lang="en-US" altLang="ko-KR" sz="1400" dirty="0">
              <a:solidFill>
                <a:schemeClr val="tx1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latin typeface="맑은 고딕" pitchFamily="34" charset="0"/>
                <a:ea typeface="맑은 고딕" pitchFamily="34" charset="-122"/>
              </a:rPr>
              <a:t>캠페인 내용은 </a:t>
            </a:r>
            <a:r>
              <a:rPr lang="ko-KR" altLang="en-US" sz="1400" dirty="0" err="1">
                <a:latin typeface="맑은 고딕" pitchFamily="34" charset="0"/>
                <a:ea typeface="맑은 고딕" pitchFamily="34" charset="-122"/>
              </a:rPr>
              <a:t>솔타메디칼</a:t>
            </a:r>
            <a:r>
              <a:rPr lang="ko-KR" altLang="en-US" sz="1400" dirty="0">
                <a:latin typeface="맑은 고딕" pitchFamily="34" charset="0"/>
                <a:ea typeface="맑은 고딕" pitchFamily="34" charset="-122"/>
              </a:rPr>
              <a:t> 코리아 내부 협의 후 전달</a:t>
            </a:r>
            <a:endParaRPr lang="ko-KR" alt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46520" y="42519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alt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251960"/>
            <a:ext cx="42062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20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ko-KR" alt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846320"/>
            <a:ext cx="493776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3개 우선순위 결정 (10/17 제안)</a:t>
            </a:r>
            <a:endParaRPr lang="ko-KR" altLang="en-US" sz="14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심의 3~4주 소요</a:t>
            </a:r>
            <a:r>
              <a:rPr lang="ko-KR" altLang="en-US" sz="14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되므로</a:t>
            </a:r>
            <a:r>
              <a:rPr lang="en-US" altLang="ko-KR" sz="14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4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</a:t>
            </a:r>
            <a:r>
              <a:rPr lang="en-US" altLang="ko-KR" sz="14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Assets </a:t>
            </a:r>
            <a:r>
              <a:rPr lang="ko-KR" altLang="en-US" sz="14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 전달 필요</a:t>
            </a:r>
            <a:endParaRPr lang="ko-KR" alt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 latinLnBrk="0">
              <a:buNone/>
            </a:pPr>
            <a:r>
              <a:rPr lang="ko-KR" altLang="en-US" sz="2800" b="1" dirty="0">
                <a:solidFill>
                  <a:schemeClr val="tx2"/>
                </a:solidFill>
              </a:rPr>
              <a:t>인터뷰 개요</a:t>
            </a: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 latin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4개 부서를 2일에 걸쳐 인터뷰했고, 사전 배포한 질문지에 솔타가 답을 달아 진행했습니다</a:t>
            </a:r>
            <a:endParaRPr lang="ko-KR" alt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737360"/>
          <a:ext cx="832104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일자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10/8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RA/QA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콘텐츠 심의 프로세스 · 사용 불가 표현 · 소요 기간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10/8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데이터 생성 이벤트 · 시스템별 보유 데이터 · 유입 경로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10/12 오전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(HCP · 소비자)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 여정 · 채널 · 타겟 세그먼트 · 성과 지표 · 시나리오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10/12 오후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세일즈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Salesforce 입력 현황 · 리드 관리 · KPI 대시보드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3291840" y="4846320"/>
            <a:ext cx="8321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10/12 2부(소비자·정품 인증)는 녹음 없이 현장 메모로 정리</a:t>
            </a: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 latinLnBrk="0">
              <a:buNone/>
            </a:pPr>
            <a:r>
              <a:rPr lang="ko-KR" altLang="en-US" sz="2800" b="1" dirty="0">
                <a:solidFill>
                  <a:schemeClr val="tx2"/>
                </a:solidFill>
              </a:rPr>
              <a:t>HCP 고객 여정과 접점</a:t>
            </a: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 latin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장비를 도입한 뒤에도 팁(소모품)을 계속 사야 유지되는 구조 — 반복 구매의 중심은 팁</a:t>
            </a:r>
            <a:endParaRPr lang="ko-KR" alt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인식</a:t>
            </a:r>
            <a:endParaRPr lang="ko-KR" alt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학회 · 심포지엄 · 디지털·의료 매체 광고 · 브랜드 캠페인</a:t>
            </a:r>
            <a:endParaRPr lang="ko-KR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3317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 탐색</a:t>
            </a:r>
            <a:endParaRPr lang="ko-KR" alt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2402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홈페이지(HCP 로그인 자료) · 세미나 · 담당 영업사원</a:t>
            </a:r>
            <a:endParaRPr lang="ko-KR" alt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39319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ko-KR" alt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7490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38404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영업사원 방문 상담·데모 · 임상 자료·교육</a:t>
            </a:r>
            <a:endParaRPr lang="ko-KR" alt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492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5321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도입·구매</a:t>
            </a:r>
            <a:endParaRPr lang="ko-KR" alt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492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4406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 계약 · 설치 · 초기 제품 교육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1323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정착</a:t>
            </a:r>
            <a:endParaRPr lang="ko-KR" alt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0408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 유저 워크숍 · TTT · 학술 세미나</a:t>
            </a:r>
            <a:endParaRPr lang="ko-KR" alt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549640" y="1783080"/>
            <a:ext cx="1508760" cy="7315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325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구매</a:t>
            </a:r>
            <a:endParaRPr lang="ko-KR" alt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496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rgbClr val="FCE9E3"/>
          </a:solidFill>
          <a:ln w="12700">
            <a:solidFill>
              <a:srgbClr val="FCE9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6410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재구매 · 600→900샷 업셀 · 아이팁 크로스셀</a:t>
            </a:r>
            <a:endParaRPr lang="ko-KR" alt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149840" y="1783080"/>
            <a:ext cx="1508760" cy="731520"/>
          </a:xfrm>
          <a:prstGeom prst="chevron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10332720" y="17830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ko-KR" alt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149840" y="2697480"/>
            <a:ext cx="146304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0241280" y="2788920"/>
            <a:ext cx="128016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MTL 포럼 · KOL 관리 · 서티 카드</a:t>
            </a:r>
            <a:endParaRPr lang="ko-KR" alt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6F2F3"/>
          </a:solidFill>
          <a:ln w="12700">
            <a:solidFill>
              <a:srgbClr val="E6F2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 txBox="1"/>
          <p:nvPr/>
        </p:nvSpPr>
        <p:spPr>
          <a:xfrm>
            <a:off x="777240" y="4937760"/>
            <a:ext cx="10607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14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시점  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 — 관심은 보였으나 상담·데모로 이어지지 않음   |   도입 초기 — 사용법·교육 부족으로 팁 구매 저조   |   기존 고객 — 3~6개월 미구매는 이탈 위험, 6개월 이상은 휴면 (카피캣 제품으로 이동 우려)</a:t>
            </a:r>
            <a:endParaRPr lang="ko-KR" alt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 latinLnBrk="0">
              <a:buNone/>
            </a:pPr>
            <a:r>
              <a:rPr lang="ko-KR" altLang="en-US" sz="2800" b="1" dirty="0">
                <a:solidFill>
                  <a:schemeClr val="tx2"/>
                </a:solidFill>
              </a:rPr>
              <a:t>부서별 핵심 발견</a:t>
            </a: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 latin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마케팅은 행사·교육 운영의 수작업, 세일즈는 매출 데이터의 엑셀 의존이 가장 큰 불편</a:t>
            </a:r>
            <a:endParaRPr lang="ko-KR" alt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8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</a:t>
            </a:r>
            <a:endParaRPr lang="ko-KR" alt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행사·교육이 가장 반응 좋은 활동이지만 모객이 최대 과제 — 등록이 행사 하루 전에 몰림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디지털 채널은 카카오 채널이 메인, 고객 데이터와는 미연계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홍보는 최소 2개월 전부터 티저 → Save the Date → 초청장 → 리마인더 순</a:t>
            </a:r>
            <a:endParaRPr lang="ko-KR" alt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46520" y="182880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8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</a:t>
            </a:r>
            <a:endParaRPr lang="ko-KR" alt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28600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약 20명이 Salesforce에 Task·Opportunity·Contact 입력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매출·소모품 매출은 Salesforce에 없어 엑셀로 따로 보고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APAC과 같은 org를 써서 KR 담당자·거래처 정렬이 불편</a:t>
            </a:r>
            <a:endParaRPr lang="ko-KR" alt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8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</a:t>
            </a:r>
            <a:endParaRPr lang="ko-KR" alt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1772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 출고 → Install Base 등록이 현재 유일한 자동 연동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DB에 B2B·B2C 리드·수신 동의가 구분 적재, Data Cloud와 미연동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오더는 D365, Salesforce 연동은 내년 예정</a:t>
            </a:r>
            <a:endParaRPr lang="ko-KR" alt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977640"/>
            <a:ext cx="544068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644652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8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RA/QA</a:t>
            </a:r>
            <a:endParaRPr lang="ko-KR" alt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617720"/>
            <a:ext cx="49834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이메일·카카오·문자 발송물 모두 심의 대상 (문구 포함)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개인화 필드(고객명·병원명)는 바뀌어도 재심의 불필요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 약 12일, 에이전시 경유로 실제 3~4주</a:t>
            </a:r>
            <a:endParaRPr lang="ko-KR" alt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 latinLnBrk="0">
              <a:buNone/>
            </a:pPr>
            <a:r>
              <a:rPr lang="ko-KR" altLang="en-US" sz="2800" b="1" dirty="0">
                <a:solidFill>
                  <a:schemeClr val="tx2"/>
                </a:solidFill>
              </a:rPr>
              <a:t>고객 데이터 AS-IS</a:t>
            </a: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 latin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시나리오에 쓸 데이터가 4곳 이상에 흩어져 있어, 시나리오별로 '있는 데이터'를 먼저 확인해야 합니다</a:t>
            </a:r>
            <a:endParaRPr lang="ko-KR" alt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619363"/>
              </p:ext>
            </p:extLst>
          </p:nvPr>
        </p:nvGraphicFramePr>
        <p:xfrm>
          <a:off x="548640" y="1645920"/>
          <a:ext cx="11064240" cy="332841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위치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200" b="1" dirty="0">
                          <a:solidFill>
                            <a:schemeClr val="bg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활용</a:t>
                      </a:r>
                      <a:endParaRPr lang="ko-KR" alt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HCP 리드 · 마케팅 수신 동의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홈페이지 DB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b="1" dirty="0">
                          <a:solidFill>
                            <a:srgbClr val="B77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연동 필요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Account · Contact · Opportunity · Task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Salesforce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활용 가능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장비 출고 (시리얼 · 품목)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Salesforce Install Base (자동)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본사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b="1" dirty="0">
                          <a:solidFill>
                            <a:schemeClr val="accent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활용 가능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오더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D365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b="1" dirty="0">
                          <a:solidFill>
                            <a:srgbClr val="B77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연동 필요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소모품(팁) 병원별 판매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대리점 일 단위 엑셀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영업 · CO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데이터 없음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 이수 · 서티 · 행사 참석 · 설문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수기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eaLnBrk="0" latinLnBrk="0">
                        <a:buNone/>
                      </a:pPr>
                      <a:r>
                        <a:rPr lang="ko-KR" altLang="en-US" sz="1300" b="1" dirty="0">
                          <a:solidFill>
                            <a:schemeClr val="accent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데이터 없음</a:t>
                      </a:r>
                      <a:endParaRPr lang="ko-KR" alt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소비자 정품 인증 데이터도 홈페이지 DB에 있으나, 마케팅 의견에 따라 이번에는 B2B(HCP) 우선</a:t>
            </a: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 latinLnBrk="0">
              <a:buNone/>
            </a:pPr>
            <a:r>
              <a:rPr lang="ko-KR" altLang="en-US" sz="2800" b="1" dirty="0">
                <a:solidFill>
                  <a:schemeClr val="tx2"/>
                </a:solidFill>
              </a:rPr>
              <a:t>To-Be 아키텍처 (개요)</a:t>
            </a: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 latin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흩어진 고객 데이터를 Data Cloud로 모아 세그먼트를 만들고, Marketing Cloud에서 채널별로 발송합니다</a:t>
            </a:r>
            <a:endParaRPr lang="ko-KR" alt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원천</a:t>
            </a:r>
            <a:endParaRPr lang="ko-KR" alt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118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· 세그먼트</a:t>
            </a:r>
            <a:endParaRPr lang="ko-KR" alt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캠페인 · 저니</a:t>
            </a:r>
            <a:endParaRPr lang="ko-KR" alt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7325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endParaRPr lang="ko-KR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9436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 DB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HCP 리드 · 수신 동의</a:t>
            </a:r>
            <a:endParaRPr lang="ko-KR" alt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594360" y="288036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 Cloud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Account · Contact · Install Base</a:t>
            </a:r>
            <a:endParaRPr lang="ko-KR" alt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5875">
            <a:solidFill>
              <a:srgbClr val="5B6B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594360" y="374904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D365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오더 (SF 연동 내년 예정)</a:t>
            </a:r>
            <a:endParaRPr lang="ko-KR" alt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F3F5F8"/>
          </a:solidFill>
          <a:ln w="15875">
            <a:solidFill>
              <a:srgbClr val="5B6B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94360" y="4617720"/>
            <a:ext cx="22860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대리점 엑셀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판매 (확보 방안 검토)</a:t>
            </a:r>
            <a:endParaRPr lang="ko-KR" alt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11880" y="274320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365760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Cloud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프로필 · 세그먼트</a:t>
            </a:r>
            <a:endParaRPr lang="ko-KR" alt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274320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6217920" y="2743200"/>
            <a:ext cx="201168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Marketing Cloud Next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시나리오(저니) 3개</a:t>
            </a:r>
            <a:endParaRPr lang="ko-KR" alt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732520" y="201168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8778240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 · 친구톡</a:t>
            </a:r>
            <a:endParaRPr lang="ko-KR" alt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732520" y="283464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77824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SMS · LMS</a:t>
            </a:r>
            <a:endParaRPr lang="ko-KR" alt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32520" y="3657600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8778240" y="3657600"/>
            <a:ext cx="13716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</a:t>
            </a:r>
            <a:endParaRPr lang="ko-KR" alt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469880" y="2834640"/>
            <a:ext cx="11430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10515600" y="2834640"/>
            <a:ext cx="1051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HCP</a:t>
            </a:r>
            <a:endParaRPr lang="ko-KR" alt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926080" y="2377440"/>
            <a:ext cx="685800" cy="10058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926080" y="3246120"/>
            <a:ext cx="685800" cy="1371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 flipV="1">
            <a:off x="2926080" y="3383280"/>
            <a:ext cx="685800" cy="731520"/>
          </a:xfrm>
          <a:prstGeom prst="line">
            <a:avLst/>
          </a:prstGeom>
          <a:noFill/>
          <a:ln w="19050">
            <a:solidFill>
              <a:srgbClr val="5B6B82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 flipV="1">
            <a:off x="2926080" y="3383280"/>
            <a:ext cx="685800" cy="1600200"/>
          </a:xfrm>
          <a:prstGeom prst="line">
            <a:avLst/>
          </a:prstGeom>
          <a:noFill/>
          <a:ln w="19050">
            <a:solidFill>
              <a:srgbClr val="5B6B82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715000" y="3383280"/>
            <a:ext cx="45720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 flipV="1">
            <a:off x="8275320" y="2354580"/>
            <a:ext cx="457200" cy="102870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 flipV="1">
            <a:off x="8275320" y="3177540"/>
            <a:ext cx="457200" cy="2057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275320" y="3383280"/>
            <a:ext cx="457200" cy="6172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195560" y="3177540"/>
            <a:ext cx="274320" cy="914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172200" y="461772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E6F2F3"/>
          </a:solidFill>
          <a:ln w="15875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6217920" y="4617720"/>
            <a:ext cx="20116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 Cloud Task</a:t>
            </a:r>
            <a:endParaRPr lang="ko-KR" altLang="en-US" sz="1400" dirty="0"/>
          </a:p>
          <a:p>
            <a:pPr marL="0" indent="0" algn="ct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담당자 팔로업</a:t>
            </a:r>
            <a:endParaRPr lang="ko-KR" alt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223760" y="4023360"/>
            <a:ext cx="914" cy="59436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 txBox="1"/>
          <p:nvPr/>
        </p:nvSpPr>
        <p:spPr>
          <a:xfrm>
            <a:off x="361188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발송 · 반응 데이터 → Data Cloud</a:t>
            </a:r>
            <a:endParaRPr lang="ko-KR" alt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71500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E6F2F3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 txBox="1"/>
          <p:nvPr/>
        </p:nvSpPr>
        <p:spPr>
          <a:xfrm>
            <a:off x="100584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구성</a:t>
            </a:r>
            <a:endParaRPr lang="ko-KR" alt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651760" y="571500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310896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시스템</a:t>
            </a:r>
            <a:endParaRPr lang="ko-KR" alt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5715000"/>
            <a:ext cx="365760" cy="256032"/>
          </a:xfrm>
          <a:prstGeom prst="roundRect">
            <a:avLst>
              <a:gd name="adj" fmla="val 17857"/>
            </a:avLst>
          </a:prstGeom>
          <a:solidFill>
            <a:srgbClr val="F3F5F8"/>
          </a:solidFill>
          <a:ln w="12700">
            <a:solidFill>
              <a:srgbClr val="5B6B8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 txBox="1"/>
          <p:nvPr/>
        </p:nvSpPr>
        <p:spPr>
          <a:xfrm>
            <a:off x="5212080" y="5687568"/>
            <a:ext cx="1554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외 · 미확정</a:t>
            </a:r>
            <a:endParaRPr lang="ko-KR" alt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6949440" y="5687568"/>
            <a:ext cx="4663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r" eaLnBrk="0" latinLnBrk="0">
              <a:buNone/>
            </a:pPr>
            <a:r>
              <a:rPr lang="ko-KR" altLang="en-US" sz="1100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상세: 아키텍처 다이어그램 v3 · Web SDK·Power BI 범위 외</a:t>
            </a:r>
            <a:endParaRPr lang="ko-KR" altLang="en-US" sz="11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 latinLnBrk="0">
              <a:buNone/>
            </a:pPr>
            <a:r>
              <a:rPr lang="ko-KR" altLang="en-US" sz="2800" b="1" dirty="0">
                <a:solidFill>
                  <a:schemeClr val="tx2"/>
                </a:solidFill>
              </a:rPr>
              <a:t>추천 시나리오</a:t>
            </a:r>
            <a:endParaRPr lang="ko-KR" alt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 latinLnBrk="0">
              <a:buNone/>
            </a:pPr>
            <a:r>
              <a:rPr lang="ko-KR" altLang="en-US" sz="1500" dirty="0">
                <a:solidFill>
                  <a:schemeClr val="accent5"/>
                </a:solidFill>
              </a:rPr>
              <a:t>행사와 온보딩은 바로 설계 가능하고, 팁 리텐션은 데이터 확보 방안과 함께 결정이 필요합니다</a:t>
            </a:r>
            <a:endParaRPr lang="ko-KR" alt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alt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17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모객 · 참석 관리</a:t>
            </a:r>
            <a:endParaRPr lang="ko-KR" alt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트리거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D-60부터 사후 팔로업까지</a:t>
            </a:r>
            <a:endParaRPr lang="ko-KR" alt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108960"/>
            <a:ext cx="32004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티저 → Save the Date → 초청장(등록 CTA)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미등록자 리마인더 2회, 등록자 D-1 참석 리마인더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참석자 설문 → 다음 프로그램 / 불참자 자료 요약</a:t>
            </a:r>
            <a:endParaRPr lang="ko-KR" alt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5440680"/>
            <a:ext cx="3154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노쇼율 · 설문 회수율 · 등록률</a:t>
            </a:r>
            <a:endParaRPr lang="ko-KR" alt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26280" y="1828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5262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alt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17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장비 도입 90일 온보딩</a:t>
            </a:r>
            <a:endParaRPr lang="ko-KR" alt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트리거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Install Base 신규 장비 등록 시</a:t>
            </a:r>
            <a:endParaRPr lang="ko-KR" alt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3108960"/>
            <a:ext cx="32004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환영 · 담당 영업사원 안내 → 사용 가이드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 유저 워크숍 초대 (A와 연결)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D+90 팁 미구매 시 영업 담당자 Task 생성</a:t>
            </a:r>
            <a:endParaRPr lang="ko-KR" alt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5440680"/>
            <a:ext cx="3154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내 첫 팁 재구매율 · 워크숍 참석률</a:t>
            </a:r>
            <a:endParaRPr lang="ko-KR" alt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566160" cy="452628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8275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 latinLnBrk="0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alt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eaLnBrk="0" latinLnBrk="0">
              <a:buNone/>
            </a:pPr>
            <a:r>
              <a:rPr lang="ko-KR" altLang="en-US" sz="17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리텐션 · 윈백 (후보)</a:t>
            </a:r>
            <a:endParaRPr lang="ko-KR" alt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트리거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3~6개월 미구매 / 6개월 이상 휴면</a:t>
            </a:r>
            <a:endParaRPr lang="ko-KR" alt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108960"/>
            <a:ext cx="320040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카피캣 대응으로 우선순위 높음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병원별 팁 구매 데이터가 Salesforce에 없음</a:t>
            </a:r>
            <a:endParaRPr lang="ko-KR" altLang="en-US" sz="1300" dirty="0"/>
          </a:p>
          <a:p>
            <a:pPr marL="177800" indent="-177800" eaLnBrk="0" latinLnBrk="0">
              <a:spcAft>
                <a:spcPts val="400"/>
              </a:spcAft>
              <a:buSzPct val="100000"/>
              <a:buChar char="•"/>
            </a:pPr>
            <a:r>
              <a:rPr lang="ko-KR" alt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대리점 엑셀 정기 적재 가능 여부 확인 필요</a:t>
            </a:r>
            <a:endParaRPr lang="ko-KR" alt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5440680"/>
            <a:ext cx="31546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 eaLnBrk="0" latinLnBrk="0">
              <a:buNone/>
            </a:pPr>
            <a:r>
              <a:rPr lang="ko-KR" altLang="en-US" sz="1200" b="1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  </a:t>
            </a:r>
            <a:r>
              <a:rPr lang="ko-KR" alt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재구매율 · 휴면 전환율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r" eaLnBrk="0" latinLnBrk="0"/>
            <a:fld id="{F7021451-1387-4CA6-816F-3879F97B5CBC}" type="slidenum">
              <a:rPr lang="ko-KR" altLang="en-US" b="0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lta Interview">
  <a:themeElements>
    <a:clrScheme name="Solta Interview">
      <a:dk1>
        <a:srgbClr val="1F2937"/>
      </a:dk1>
      <a:lt1>
        <a:srgbClr val="FFFFFF"/>
      </a:lt1>
      <a:dk2>
        <a:srgbClr val="1B2A4A"/>
      </a:dk2>
      <a:lt2>
        <a:srgbClr val="F3F5F8"/>
      </a:lt2>
      <a:accent1>
        <a:srgbClr val="0E7C86"/>
      </a:accent1>
      <a:accent2>
        <a:srgbClr val="E4572E"/>
      </a:accent2>
      <a:accent3>
        <a:srgbClr val="8FA3BF"/>
      </a:accent3>
      <a:accent4>
        <a:srgbClr val="F2B134"/>
      </a:accent4>
      <a:accent5>
        <a:srgbClr val="5B6B82"/>
      </a:accent5>
      <a:accent6>
        <a:srgbClr val="C9D6E3"/>
      </a:accent6>
      <a:hlink>
        <a:srgbClr val="0E7C86"/>
      </a:hlink>
      <a:folHlink>
        <a:srgbClr val="5B6B82"/>
      </a:folHlink>
    </a:clrScheme>
    <a:fontScheme name="Solta Interview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946</Words>
  <Application>Microsoft Office PowerPoint</Application>
  <PresentationFormat>와이드스크린</PresentationFormat>
  <Paragraphs>174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Solta Interview</vt:lpstr>
      <vt:lpstr>현업 인터뷰 결과 보고 및 프로젝트 방향성</vt:lpstr>
      <vt:lpstr>프로젝트 방향성 Summary</vt:lpstr>
      <vt:lpstr>인터뷰 개요</vt:lpstr>
      <vt:lpstr>HCP 고객 여정과 접점</vt:lpstr>
      <vt:lpstr>부서별 핵심 발견</vt:lpstr>
      <vt:lpstr>고객 데이터 AS-IS</vt:lpstr>
      <vt:lpstr>To-Be 아키텍처 (개요)</vt:lpstr>
      <vt:lpstr>추천 시나리오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솔타메디칼 코리아 현업 인터뷰 결과 보고</dc:title>
  <dc:subject>PptxGenJS Presentation</dc:subject>
  <dc:creator>밀버스</dc:creator>
  <cp:lastModifiedBy>crm6 crm6</cp:lastModifiedBy>
  <cp:revision>2</cp:revision>
  <dcterms:created xsi:type="dcterms:W3CDTF">2026-10-13T05:07:08Z</dcterms:created>
  <dcterms:modified xsi:type="dcterms:W3CDTF">2026-10-15T06:46:40Z</dcterms:modified>
</cp:coreProperties>
</file>