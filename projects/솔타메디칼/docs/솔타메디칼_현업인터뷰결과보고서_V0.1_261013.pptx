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a1a6dceb-908b-8a08-f3c3-9ecaacaeeb44}">
          <p14:sldIdLst>
            <p14:sldId id="256"/>
          </p14:sldIdLst>
        </p14:section>
        <p14:section name="Summary" id="{441a0803-1e12-55bc-9b89-5e9206798be2}">
          <p14:sldIdLst>
            <p14:sldId id="257"/>
          </p14:sldIdLst>
        </p14:section>
        <p14:section name="인터뷰 개요" id="{f5bc1e38-5724-45a1-1371-76c8da2aeed3}">
          <p14:sldIdLst>
            <p14:sldId id="258"/>
          </p14:sldIdLst>
        </p14:section>
        <p14:section name="인터뷰 결과" id="{97547a37-1d51-fb19-c977-1caf40ce489c}">
          <p14:sldIdLst>
            <p14:sldId id="259"/>
            <p14:sldId id="260"/>
            <p14:sldId id="261"/>
            <p14:sldId id="262"/>
          </p14:sldIdLst>
        </p14:section>
        <p14:section name="방향성" id="{8ed7684c-5495-baee-6514-a4432764ac60}">
          <p14:sldIdLst>
            <p14:sldId id="263"/>
            <p14:sldId id="264"/>
            <p14:sldId id="265"/>
            <p14:sldId id="266"/>
          </p14:sldIdLst>
        </p14:section>
        <p14:section name="다음 단계" id="{801f708c-025d-0bb3-03ea-43350d4922a1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4000" b="1" dirty="0">
                <a:solidFill>
                  <a:schemeClr val="bg1"/>
                </a:solidFill>
              </a:defRPr>
            </a:lvl1pPr>
          </a:lstStyle>
          <a:p>
            <a:pPr eaLnBrk="0" latinLnBrk="0" algn="l" indent="0" marL="0">
              <a:buNone/>
            </a:pPr>
            <a:endParaRPr lang="ko-KR" alt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800" dirty="0">
                <a:solidFill>
                  <a:schemeClr val="accent6"/>
                </a:solidFill>
              </a:defRPr>
            </a:lvl1pPr>
          </a:lstStyle>
          <a:p>
            <a:pPr eaLnBrk="0" latinLnBrk="0" algn="l" indent="0" marL="0">
              <a:buNone/>
            </a:pPr>
            <a:endParaRPr lang="ko-KR" alt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800" b="1" dirty="0">
                <a:solidFill>
                  <a:schemeClr val="tx2"/>
                </a:solidFill>
              </a:defRPr>
            </a:lvl1pPr>
          </a:lstStyle>
          <a:p>
            <a:pPr eaLnBrk="0" latinLnBrk="0" algn="l" indent="0" marL="0">
              <a:buNone/>
            </a:pPr>
            <a:endParaRPr lang="ko-KR" alt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500" dirty="0">
                <a:solidFill>
                  <a:schemeClr val="accent5"/>
                </a:solidFill>
              </a:defRPr>
            </a:lvl1pPr>
          </a:lstStyle>
          <a:p>
            <a:pPr eaLnBrk="0" latinLnBrk="0" algn="l" indent="0" marL="0">
              <a:buNone/>
            </a:pPr>
            <a:endParaRPr lang="ko-KR" alt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00" dirty="0">
                <a:solidFill>
                  <a:srgbClr val="5B6B82"/>
                </a:solidFill>
              </a:rPr>
              <a:t>솔타메디칼 코리아 · 현업 인터뷰 결과 보고 · 밀버스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eaLnBrk="0" latinLnBrk="0" algn="r"/>
            <a:fld id="{F7021451-1387-4CA6-816F-3879F97B5CBC}" type="slidenum">
              <a:rPr b="0" lang="ko-KR" altLang="en-US"/>
              <a:t>1003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eaLnBrk="0" latinLnBrk="0" algn="r"/>
            <a:fld id="{F7021451-1387-4CA6-816F-3879F97B5CBC}" type="slidenum">
              <a:rPr b="0" lang="ko-KR" altLang="en-US"/>
              <a:t>null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eaLnBrk="0" latinLnBrk="0" algn="l" indent="0" marL="0">
              <a:buNone/>
            </a:pPr>
            <a:r>
              <a:rPr lang="ko-KR" altLang="en-US" sz="4000" b="1" dirty="0">
                <a:solidFill>
                  <a:schemeClr val="bg1"/>
                </a:solidFill>
              </a:rPr>
              <a:t>현업 인터뷰 결과 보고 및</a:t>
            </a:r>
            <a:endParaRPr lang="ko-KR" altLang="en-US" sz="4000" dirty="0"/>
          </a:p>
          <a:p>
            <a:pPr eaLnBrk="0" latinLnBrk="0" algn="l" indent="0" marL="0">
              <a:buNone/>
            </a:pPr>
            <a:r>
              <a:rPr lang="ko-KR" altLang="en-US" sz="4000" b="1" dirty="0">
                <a:solidFill>
                  <a:schemeClr val="bg1"/>
                </a:solidFill>
              </a:rPr>
              <a:t>프로젝트 방향성</a:t>
            </a:r>
            <a:endParaRPr lang="ko-KR" alt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eaLnBrk="0" latinLnBrk="0" algn="l" indent="0" marL="0">
              <a:buNone/>
            </a:pPr>
            <a:r>
              <a:rPr lang="ko-KR" altLang="en-US" sz="1800" dirty="0">
                <a:solidFill>
                  <a:schemeClr val="accent6"/>
                </a:solidFill>
              </a:rPr>
              <a:t>Solta Medical Korea · Salesforce Marketing Campaign Design</a:t>
            </a:r>
            <a:endParaRPr lang="ko-KR" altLang="en-US" sz="1800" dirty="0"/>
          </a:p>
          <a:p>
            <a:pPr eaLnBrk="0" latinLnBrk="0" algn="l" indent="0" marL="0">
              <a:buNone/>
            </a:pPr>
            <a:r>
              <a:rPr lang="ko-KR" altLang="en-US" sz="1800" dirty="0">
                <a:solidFill>
                  <a:schemeClr val="accent6"/>
                </a:solidFill>
              </a:rPr>
              <a:t>2026.10 · 밀버스 · V0.1 (초안)</a:t>
            </a:r>
            <a:endParaRPr lang="ko-KR" alt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l" indent="0" marL="0">
              <a:buNone/>
            </a:pPr>
            <a:r>
              <a:rPr lang="ko-KR" altLang="en-US" sz="2800" b="1" dirty="0">
                <a:solidFill>
                  <a:schemeClr val="tx2"/>
                </a:solidFill>
              </a:rPr>
              <a:t>프로젝트 방향성 Summary</a:t>
            </a:r>
            <a:endParaRPr lang="ko-KR" alt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l" indent="0" marL="0">
              <a:buNone/>
            </a:pPr>
            <a:r>
              <a:rPr lang="ko-KR" altLang="en-US" sz="1500" dirty="0">
                <a:solidFill>
                  <a:schemeClr val="accent5"/>
                </a:solidFill>
              </a:rPr>
              <a:t>재구매 성장을 위한 자동화 시나리오 3개를, 지금 쓸 수 있는 데이터부터 설계합니다</a:t>
            </a:r>
            <a:endParaRPr lang="ko-KR" alt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659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alt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965960"/>
            <a:ext cx="4206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</a:t>
            </a:r>
            <a:endParaRPr lang="ko-KR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560320"/>
            <a:ext cx="493776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 설치는 포화, 다음 성장 동력은 소모품(팁) 재구매</a:t>
            </a:r>
            <a:endParaRPr lang="ko-KR" altLang="en-US" sz="14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세그먼트별 메시지로 세일즈를 끌어올리는 CRM 마케팅이 최우선 과제</a:t>
            </a:r>
            <a:endParaRPr lang="ko-KR" alt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4406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196596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alt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965960"/>
            <a:ext cx="4206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현황</a:t>
            </a:r>
            <a:endParaRPr lang="ko-KR" alt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560320"/>
            <a:ext cx="493776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데이터가 홈페이지 DB·Salesforce·D365·엑셀에 흩어져 있고 Data Cloud와 미연동</a:t>
            </a:r>
            <a:endParaRPr lang="ko-KR" altLang="en-US" sz="14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마케팅 수신 동의 HCP 약 300~400명, 팁 판매는 대리점 엑셀로만 관리</a:t>
            </a:r>
            <a:endParaRPr lang="ko-KR" alt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54406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519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alt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251960"/>
            <a:ext cx="4206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</a:t>
            </a:r>
            <a:endParaRPr lang="ko-KR" alt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846320"/>
            <a:ext cx="493776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통합이 아닌 자동화 시나리오 3개 설계 프로젝트</a:t>
            </a:r>
            <a:endParaRPr lang="ko-KR" altLang="en-US" sz="14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'비즈니스 임팩트 × 데이터 준비도'로 선정 — 행사 모객·참석 관리, 신규 도입 90일 온보딩 우선 제안</a:t>
            </a:r>
            <a:endParaRPr lang="ko-KR" alt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72200" y="3977640"/>
            <a:ext cx="54406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46520" y="42519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alt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4251960"/>
            <a:ext cx="4206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ko-KR" alt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4846320"/>
            <a:ext cx="493776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3개 우선순위 결정 (10/17 제안)</a:t>
            </a:r>
            <a:endParaRPr lang="ko-KR" altLang="en-US" sz="14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콘텐츠 심의 3~4주 소요 — 결정이 늦어지면 10/30 Sign-off 일정 위험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eaLnBrk="0" latinLnBrk="0" algn="r"/>
            <a:fld id="{F7021451-1387-4CA6-816F-3879F97B5CBC}" type="slidenum">
              <a:rPr b="0" lang="ko-KR" altLang="en-US"/>
              <a:t>2</a:t>
            </a:fld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l" indent="0" marL="0">
              <a:buNone/>
            </a:pPr>
            <a:r>
              <a:rPr lang="ko-KR" altLang="en-US" sz="2800" b="1" dirty="0">
                <a:solidFill>
                  <a:schemeClr val="tx2"/>
                </a:solidFill>
              </a:rPr>
              <a:t>인터뷰 개요</a:t>
            </a:r>
            <a:endParaRPr lang="ko-KR" alt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l" indent="0" marL="0">
              <a:buNone/>
            </a:pPr>
            <a:r>
              <a:rPr lang="ko-KR" altLang="en-US" sz="1500" dirty="0">
                <a:solidFill>
                  <a:schemeClr val="accent5"/>
                </a:solidFill>
              </a:rPr>
              <a:t>4개 부서를 2일에 걸쳐 인터뷰했고, 사전 배포한 질문지에 솔타가 답을 달아 진행했습니다</a:t>
            </a:r>
            <a:endParaRPr lang="ko-KR" alt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4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alt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60320"/>
            <a:ext cx="23774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인터뷰 부서</a:t>
            </a:r>
            <a:endParaRPr lang="ko-KR" alt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4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2일</a:t>
            </a:r>
            <a:endParaRPr lang="ko-KR" alt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23360"/>
            <a:ext cx="23774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10/8 · 10/12</a:t>
            </a:r>
            <a:endParaRPr lang="ko-KR" alt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6344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4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4종</a:t>
            </a:r>
            <a:endParaRPr lang="ko-KR" alt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486400"/>
            <a:ext cx="23774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부서별 질문지</a:t>
            </a:r>
            <a:endParaRPr lang="ko-KR" alt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737360"/>
          <a:ext cx="83210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94560"/>
                <a:gridCol w="4754880"/>
              </a:tblGrid>
              <a:tr h="548640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일자</a:t>
                      </a:r>
                      <a:endParaRPr lang="ko-KR" alt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부서</a:t>
                      </a:r>
                      <a:endParaRPr lang="ko-KR" alt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주제</a:t>
                      </a:r>
                      <a:endParaRPr lang="ko-KR" alt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10/8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RA/QA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콘텐츠 심의 프로세스 · 사용 불가 표현 · 소요 기간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10/8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데이터 생성 이벤트 · 시스템별 보유 데이터 · 유입 경로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10/12 오전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마케팅 (HCP · 소비자)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여정 · 채널 · 타겟 세그먼트 · 성과 지표 · 시나리오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10/12 오후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세일즈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Salesforce 입력 현황 · 리드 관리 · KPI 대시보드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3291840" y="4846320"/>
            <a:ext cx="83210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10/12 2부(소비자·정품 인증)는 녹음 없이 현장 메모로 정리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eaLnBrk="0" latinLnBrk="0" algn="r"/>
            <a:fld id="{F7021451-1387-4CA6-816F-3879F97B5CBC}" type="slidenum">
              <a:rPr b="0" lang="ko-KR" altLang="en-US"/>
              <a:t>3</a:t>
            </a:fld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l" indent="0" marL="0">
              <a:buNone/>
            </a:pPr>
            <a:r>
              <a:rPr lang="ko-KR" altLang="en-US" sz="2800" b="1" dirty="0">
                <a:solidFill>
                  <a:schemeClr val="tx2"/>
                </a:solidFill>
              </a:rPr>
              <a:t>HCP 고객 여정과 접점</a:t>
            </a:r>
            <a:endParaRPr lang="ko-KR" alt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l" indent="0" marL="0">
              <a:buNone/>
            </a:pPr>
            <a:r>
              <a:rPr lang="ko-KR" altLang="en-US" sz="1500" dirty="0">
                <a:solidFill>
                  <a:schemeClr val="accent5"/>
                </a:solidFill>
              </a:rPr>
              <a:t>장비를 도입한 뒤에도 팁(소모품)을 계속 사야 유지되는 구조 — 반복 구매의 중심은 팁</a:t>
            </a:r>
            <a:endParaRPr lang="ko-KR" alt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508760" cy="7315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인식</a:t>
            </a:r>
            <a:endParaRPr lang="ko-KR" alt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146304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788920"/>
            <a:ext cx="128016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학회 · 심포지엄 · 디지털·의료 매체 광고 · 브랜드 캠페인</a:t>
            </a:r>
            <a:endParaRPr lang="ko-KR" alt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48840" y="1783080"/>
            <a:ext cx="1508760" cy="7315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17830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 탐색</a:t>
            </a:r>
            <a:endParaRPr lang="ko-KR" alt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148840" y="2697480"/>
            <a:ext cx="146304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40280" y="2788920"/>
            <a:ext cx="128016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홈페이지(HCP 로그인 자료) · 세미나 · 담당 영업사원</a:t>
            </a:r>
            <a:endParaRPr lang="ko-KR" alt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749040" y="1783080"/>
            <a:ext cx="1508760" cy="7315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31920" y="17830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ko-KR" alt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49040" y="2697480"/>
            <a:ext cx="146304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40480" y="2788920"/>
            <a:ext cx="128016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영업사원 방문 상담·데모 · 임상 자료·교육</a:t>
            </a:r>
            <a:endParaRPr lang="ko-KR" alt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349240" y="1783080"/>
            <a:ext cx="1508760" cy="7315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32120" y="17830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도입·구매</a:t>
            </a:r>
            <a:endParaRPr lang="ko-KR" alt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349240" y="2697480"/>
            <a:ext cx="146304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40680" y="2788920"/>
            <a:ext cx="128016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 계약 · 설치 · 초기 제품 교육</a:t>
            </a:r>
            <a:endParaRPr lang="ko-KR" alt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49440" y="1783080"/>
            <a:ext cx="1508760" cy="7315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0" y="17830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정착</a:t>
            </a:r>
            <a:endParaRPr lang="ko-KR" alt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949440" y="2697480"/>
            <a:ext cx="146304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40880" y="2788920"/>
            <a:ext cx="128016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 유저 워크숍 · TTT · 학술 세미나</a:t>
            </a:r>
            <a:endParaRPr lang="ko-KR" alt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549640" y="1783080"/>
            <a:ext cx="1508760" cy="73152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32520" y="17830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 구매</a:t>
            </a:r>
            <a:endParaRPr lang="ko-KR" alt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549640" y="2697480"/>
            <a:ext cx="1463040" cy="1828800"/>
          </a:xfrm>
          <a:prstGeom prst="roundRect">
            <a:avLst>
              <a:gd name="adj" fmla="val 5000"/>
            </a:avLst>
          </a:prstGeom>
          <a:solidFill>
            <a:srgbClr val="FCE9E3"/>
          </a:solidFill>
          <a:ln w="12700">
            <a:solidFill>
              <a:srgbClr val="FCE9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41080" y="2788920"/>
            <a:ext cx="128016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팁 재구매 · 600→900샷 업셀 · 아이팁 크로스셀</a:t>
            </a:r>
            <a:endParaRPr lang="ko-KR" alt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0149840" y="1783080"/>
            <a:ext cx="1508760" cy="7315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332720" y="178308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</a:t>
            </a:r>
            <a:endParaRPr lang="ko-KR" alt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10149840" y="2697480"/>
            <a:ext cx="146304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241280" y="2788920"/>
            <a:ext cx="128016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MTL 포럼 · KOL 관리 · 서티 카드</a:t>
            </a:r>
            <a:endParaRPr lang="ko-KR" alt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48463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6F2F3"/>
          </a:solidFill>
          <a:ln w="12700">
            <a:solidFill>
              <a:srgbClr val="E6F2F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937760"/>
            <a:ext cx="106070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이탈 시점  </a:t>
            </a:r>
            <a:pPr eaLnBrk="0" latinLnBrk="0" indent="0" marL="0">
              <a:buNone/>
            </a:pPr>
            <a:r>
              <a:rPr lang="ko-KR" alt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도입 전 — 관심은 보였으나 상담·데모로 이어지지 않음   |   도입 초기 — 사용법·교육 부족으로 팁 구매 저조   |   기존 고객 — 3~6개월 미구매는 이탈 위험, 6개월 이상은 휴면 (카피캣 제품으로 이동 우려)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eaLnBrk="0" latinLnBrk="0" algn="r"/>
            <a:fld id="{F7021451-1387-4CA6-816F-3879F97B5CBC}" type="slidenum">
              <a:rPr b="0" lang="ko-KR" altLang="en-US"/>
              <a:t>4</a:t>
            </a:fld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l" indent="0" marL="0">
              <a:buNone/>
            </a:pPr>
            <a:r>
              <a:rPr lang="ko-KR" altLang="en-US" sz="2800" b="1" dirty="0">
                <a:solidFill>
                  <a:schemeClr val="tx2"/>
                </a:solidFill>
              </a:rPr>
              <a:t>부서별 핵심 발견</a:t>
            </a:r>
            <a:endParaRPr lang="ko-KR" alt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l" indent="0" marL="0">
              <a:buNone/>
            </a:pPr>
            <a:r>
              <a:rPr lang="ko-KR" altLang="en-US" sz="1500" dirty="0">
                <a:solidFill>
                  <a:schemeClr val="accent5"/>
                </a:solidFill>
              </a:rPr>
              <a:t>마케팅은 행사·교육 운영의 수작업, 세일즈는 매출 데이터의 엑셀 의존이 가장 큰 불편</a:t>
            </a:r>
            <a:endParaRPr lang="ko-KR" alt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마케팅</a:t>
            </a:r>
            <a:endParaRPr lang="ko-KR" alt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498348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행사·교육이 가장 반응 좋은 활동이지만 모객이 최대 과제 — 등록이 행사 하루 전에 몰림</a:t>
            </a:r>
            <a:endParaRPr lang="ko-KR" altLang="en-US" sz="13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디지털 채널은 카카오 채널이 메인, 고객 데이터와는 미연계</a:t>
            </a:r>
            <a:endParaRPr lang="ko-KR" altLang="en-US" sz="13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홍보는 최소 2개월 전부터 티저 → Save the Date → 초청장 → 리마인더 순</a:t>
            </a:r>
            <a:endParaRPr lang="ko-KR" alt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64592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</a:t>
            </a:r>
            <a:endParaRPr lang="ko-KR" alt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286000"/>
            <a:ext cx="498348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약 20명이 Salesforce에 Task·Opportunity·Contact 입력</a:t>
            </a:r>
            <a:endParaRPr lang="ko-KR" altLang="en-US" sz="13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매출·소모품 매출은 Salesforce에 없어 엑셀로 따로 보고</a:t>
            </a:r>
            <a:endParaRPr lang="ko-KR" altLang="en-US" sz="13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APAC과 같은 org를 써서 KR 담당자·거래처 정렬이 불편</a:t>
            </a:r>
            <a:endParaRPr lang="ko-KR" alt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160520"/>
            <a:ext cx="48463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</a:t>
            </a:r>
            <a:endParaRPr lang="ko-KR" alt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617720"/>
            <a:ext cx="498348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 출고 → Install Base 등록이 현재 유일한 자동 연동</a:t>
            </a:r>
            <a:endParaRPr lang="ko-KR" altLang="en-US" sz="13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DB에 B2B·B2C 리드·수신 동의가 구분 적재, Data Cloud와 미연동</a:t>
            </a:r>
            <a:endParaRPr lang="ko-KR" altLang="en-US" sz="13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오더는 D365, Salesforce 연동은 내년 예정</a:t>
            </a:r>
            <a:endParaRPr lang="ko-KR" alt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3977640"/>
            <a:ext cx="54406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4160520"/>
            <a:ext cx="48463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RA/QA</a:t>
            </a:r>
            <a:endParaRPr lang="ko-KR" alt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617720"/>
            <a:ext cx="498348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이메일·카카오·문자 발송물 모두 심의 대상 (문구 포함)</a:t>
            </a:r>
            <a:endParaRPr lang="ko-KR" altLang="en-US" sz="13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개인화 필드(고객명·병원명)는 바뀌어도 재심의 불필요</a:t>
            </a:r>
            <a:endParaRPr lang="ko-KR" altLang="en-US" sz="13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행정 약 12일, 에이전시 경유로 실제 3~4주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eaLnBrk="0" latinLnBrk="0" algn="r"/>
            <a:fld id="{F7021451-1387-4CA6-816F-3879F97B5CBC}" type="slidenum">
              <a:rPr b="0" lang="ko-KR" altLang="en-US"/>
              <a:t>5</a:t>
            </a:fld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l" indent="0" marL="0">
              <a:buNone/>
            </a:pPr>
            <a:r>
              <a:rPr lang="ko-KR" altLang="en-US" sz="2800" b="1" dirty="0">
                <a:solidFill>
                  <a:schemeClr val="tx2"/>
                </a:solidFill>
              </a:rPr>
              <a:t>고객 데이터 AS-IS</a:t>
            </a:r>
            <a:endParaRPr lang="ko-KR" alt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l" indent="0" marL="0">
              <a:buNone/>
            </a:pPr>
            <a:r>
              <a:rPr lang="ko-KR" altLang="en-US" sz="1500" dirty="0">
                <a:solidFill>
                  <a:schemeClr val="accent5"/>
                </a:solidFill>
              </a:rPr>
              <a:t>시나리오에 쓸 데이터가 4곳 이상에 흩어져 있어, 시나리오별로 '있는 데이터'를 먼저 확인해야 합니다</a:t>
            </a:r>
            <a:endParaRPr lang="ko-KR" alt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566160"/>
                <a:gridCol w="1645920"/>
                <a:gridCol w="2194560"/>
              </a:tblGrid>
              <a:tr h="47548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</a:t>
                      </a:r>
                      <a:endParaRPr lang="ko-KR" alt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현재 위치</a:t>
                      </a:r>
                      <a:endParaRPr lang="ko-KR" alt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</a:t>
                      </a:r>
                      <a:endParaRPr lang="ko-KR" alt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마케팅 활용</a:t>
                      </a:r>
                      <a:endParaRPr lang="ko-KR" alt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HCP 리드 · 마케팅 수신 동의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홈페이지 DB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마케팅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779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연동 필요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Account · Contact · Opportunity · Task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Salesforce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영업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b="1" dirty="0">
                          <a:solidFill>
                            <a:schemeClr val="accent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활용 가능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장비 출고 (시리얼 · 품목)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Salesforce Install Base (자동)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본사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b="1" dirty="0">
                          <a:solidFill>
                            <a:schemeClr val="accent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활용 가능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오더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D365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779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연동 필요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소모품(팁) 병원별 판매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대리점 일 단위 엑셀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영업 · CO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b="1" dirty="0">
                          <a:solidFill>
                            <a:schemeClr val="accent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데이터 없음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 이수 · 서티 · 행사 참석 · 설문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수기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마케팅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b="1" dirty="0">
                          <a:solidFill>
                            <a:schemeClr val="accent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데이터 없음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카카오 채널 반응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카카오 (열람률만)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마케팅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b="1" dirty="0">
                          <a:solidFill>
                            <a:schemeClr val="accent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데이터 없음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60720"/>
            <a:ext cx="110642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소비자 정품 인증 데이터도 홈페이지 DB에 있으나, 마케팅 의견에 따라 이번에는 B2B(HCP) 우선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eaLnBrk="0" latinLnBrk="0" algn="r"/>
            <a:fld id="{F7021451-1387-4CA6-816F-3879F97B5CBC}" type="slidenum">
              <a:rPr b="0" lang="ko-KR" altLang="en-US"/>
              <a:t>6</a:t>
            </a:fld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l" indent="0" marL="0">
              <a:buNone/>
            </a:pPr>
            <a:r>
              <a:rPr lang="ko-KR" altLang="en-US" sz="2800" b="1" dirty="0">
                <a:solidFill>
                  <a:schemeClr val="tx2"/>
                </a:solidFill>
              </a:rPr>
              <a:t>숫자로 본 핵심 과제</a:t>
            </a:r>
            <a:endParaRPr lang="ko-KR" alt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l" indent="0" marL="0">
              <a:buNone/>
            </a:pPr>
            <a:r>
              <a:rPr lang="ko-KR" altLang="en-US" sz="1500" dirty="0">
                <a:solidFill>
                  <a:schemeClr val="accent5"/>
                </a:solidFill>
              </a:rPr>
              <a:t>행사 운영 지표와 마케팅 가능 고객 규모가 자동화의 출발점</a:t>
            </a:r>
            <a:endParaRPr lang="ko-KR" alt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35661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11680"/>
            <a:ext cx="22860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eaLnBrk="0" latinLnBrk="0" indent="0" marL="0">
              <a:buNone/>
            </a:pPr>
            <a:r>
              <a:rPr lang="ko-KR" altLang="en-US" sz="4400" b="1" dirty="0">
                <a:solidFill>
                  <a:schemeClr val="accent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20%</a:t>
            </a:r>
            <a:endParaRPr lang="ko-KR" alt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063240"/>
            <a:ext cx="22860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 평균 노쇼율</a:t>
            </a:r>
            <a:endParaRPr lang="ko-KR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840480"/>
            <a:ext cx="22860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100명 등록 시 약 80명 참석. 줄이는 것이 마케팅 내부 KPI</a:t>
            </a:r>
            <a:endParaRPr lang="ko-KR" alt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60420" y="1737360"/>
            <a:ext cx="2651760" cy="35661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89020" y="2011680"/>
            <a:ext cx="22860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chemeClr val="accent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20~30%</a:t>
            </a:r>
            <a:endParaRPr lang="ko-KR" alt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3589020" y="3063240"/>
            <a:ext cx="22860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피드백 설문 회수율</a:t>
            </a:r>
            <a:endParaRPr lang="ko-KR" alt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89020" y="3840480"/>
            <a:ext cx="22860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참석자 대비. 회수율과 만족도(5점 척도)를 모두 올리고 싶음</a:t>
            </a:r>
            <a:endParaRPr lang="ko-KR" alt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72200" y="1737360"/>
            <a:ext cx="2651760" cy="35661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2011680"/>
            <a:ext cx="22860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300~400명</a:t>
            </a:r>
            <a:endParaRPr lang="ko-KR" alt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063240"/>
            <a:ext cx="22860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마케팅 수신 동의 HCP</a:t>
            </a:r>
            <a:endParaRPr lang="ko-KR" alt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840480"/>
            <a:ext cx="22860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8/29부터 수집. Go-live까지 1,000명 이상 목표</a:t>
            </a:r>
            <a:endParaRPr lang="ko-KR" alt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983980" y="1737360"/>
            <a:ext cx="2651760" cy="35661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12580" y="2011680"/>
            <a:ext cx="22860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eaLnBrk="0" latinLnBrk="0" indent="0" marL="0">
              <a:buNone/>
            </a:pPr>
            <a:r>
              <a:rPr lang="ko-KR" altLang="en-US" sz="44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0건</a:t>
            </a:r>
            <a:endParaRPr lang="ko-KR" alt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212580" y="3063240"/>
            <a:ext cx="22860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Salesforce 내 팁 구매 이력</a:t>
            </a:r>
            <a:endParaRPr lang="ko-KR" alt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212580" y="3840480"/>
            <a:ext cx="22860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대리점 엑셀로만 보유 — 리텐션·업셀 시나리오의 선결 과제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eaLnBrk="0" latinLnBrk="0" algn="r"/>
            <a:fld id="{F7021451-1387-4CA6-816F-3879F97B5CBC}" type="slidenum">
              <a:rPr b="0" lang="ko-KR" altLang="en-US"/>
              <a:t>7</a:t>
            </a:fld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l" indent="0" marL="0">
              <a:buNone/>
            </a:pPr>
            <a:r>
              <a:rPr lang="ko-KR" altLang="en-US" sz="2800" b="1" dirty="0">
                <a:solidFill>
                  <a:schemeClr val="tx2"/>
                </a:solidFill>
              </a:rPr>
              <a:t>To-Be 아키텍처 (개요)</a:t>
            </a:r>
            <a:endParaRPr lang="ko-KR" alt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l" indent="0" marL="0">
              <a:buNone/>
            </a:pPr>
            <a:r>
              <a:rPr lang="ko-KR" altLang="en-US" sz="1500" dirty="0">
                <a:solidFill>
                  <a:schemeClr val="accent5"/>
                </a:solidFill>
              </a:rPr>
              <a:t>흩어진 고객 데이터를 Data Cloud로 모아 세그먼트를 만들고, Marketing Cloud에서 채널별로 발송합니다</a:t>
            </a:r>
            <a:endParaRPr lang="ko-KR" alt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원천</a:t>
            </a:r>
            <a:endParaRPr lang="ko-KR" alt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61188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 · 세그먼트</a:t>
            </a:r>
            <a:endParaRPr lang="ko-KR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캠페인 · 저니</a:t>
            </a:r>
            <a:endParaRPr lang="ko-KR" alt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732520" y="1600200"/>
            <a:ext cx="23774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</a:t>
            </a:r>
            <a:endParaRPr lang="ko-KR" alt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3774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5B6B8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01168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DB</a:t>
            </a:r>
            <a:endParaRPr lang="ko-KR" altLang="en-US" sz="1400" dirty="0"/>
          </a:p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HCP 리드 · 수신 동의</a:t>
            </a:r>
            <a:endParaRPr lang="ko-KR" alt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23774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5B6B8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88036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Sales Cloud</a:t>
            </a:r>
            <a:endParaRPr lang="ko-KR" altLang="en-US" sz="1400" dirty="0"/>
          </a:p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Account · Contact · Install Base</a:t>
            </a:r>
            <a:endParaRPr lang="ko-KR" alt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2377440" cy="73152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5875">
            <a:solidFill>
              <a:srgbClr val="5B6B82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594360" y="374904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D365</a:t>
            </a:r>
            <a:endParaRPr lang="ko-KR" altLang="en-US" sz="1400" dirty="0"/>
          </a:p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오더 (SF 연동 내년 예정)</a:t>
            </a:r>
            <a:endParaRPr lang="ko-KR" alt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617720"/>
            <a:ext cx="2377440" cy="73152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5875">
            <a:solidFill>
              <a:srgbClr val="5B6B82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594360" y="4617720"/>
            <a:ext cx="22860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대리점 엑셀</a:t>
            </a:r>
            <a:endParaRPr lang="ko-KR" altLang="en-US" sz="1400" dirty="0"/>
          </a:p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팁 판매 (확보 방안 검토)</a:t>
            </a:r>
            <a:endParaRPr lang="ko-KR" alt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11880" y="2743200"/>
            <a:ext cx="2103120" cy="1280160"/>
          </a:xfrm>
          <a:prstGeom prst="roundRect">
            <a:avLst>
              <a:gd name="adj" fmla="val 5714"/>
            </a:avLst>
          </a:prstGeom>
          <a:solidFill>
            <a:srgbClr val="E6F2F3"/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57600" y="2743200"/>
            <a:ext cx="201168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Data Cloud</a:t>
            </a:r>
            <a:endParaRPr lang="ko-KR" altLang="en-US" sz="1400" dirty="0"/>
          </a:p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 프로필 · 세그먼트</a:t>
            </a:r>
            <a:endParaRPr lang="ko-KR" alt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72200" y="2743200"/>
            <a:ext cx="2103120" cy="1280160"/>
          </a:xfrm>
          <a:prstGeom prst="roundRect">
            <a:avLst>
              <a:gd name="adj" fmla="val 5714"/>
            </a:avLst>
          </a:prstGeom>
          <a:solidFill>
            <a:srgbClr val="E6F2F3"/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0" y="2743200"/>
            <a:ext cx="201168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Marketing Cloud Next</a:t>
            </a:r>
            <a:endParaRPr lang="ko-KR" altLang="en-US" sz="1400" dirty="0"/>
          </a:p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시나리오(저니) 3개</a:t>
            </a:r>
            <a:endParaRPr lang="ko-KR" alt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732520" y="201168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E6F2F3"/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78240" y="2011680"/>
            <a:ext cx="1371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</a:t>
            </a:r>
            <a:endParaRPr lang="ko-KR" altLang="en-US" sz="1400" dirty="0"/>
          </a:p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· 친구톡</a:t>
            </a:r>
            <a:endParaRPr lang="ko-KR" alt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732520" y="283464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E6F2F3"/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78240" y="2834640"/>
            <a:ext cx="1371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SMS · LMS</a:t>
            </a:r>
            <a:endParaRPr lang="ko-KR" alt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732520" y="365760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E6F2F3"/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78240" y="3657600"/>
            <a:ext cx="1371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</a:t>
            </a:r>
            <a:endParaRPr lang="ko-KR" alt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0469880" y="2834640"/>
            <a:ext cx="11430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5B6B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515600" y="2834640"/>
            <a:ext cx="105156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HCP</a:t>
            </a:r>
            <a:endParaRPr lang="ko-KR" alt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926080" y="2377440"/>
            <a:ext cx="685800" cy="1005840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926080" y="3246120"/>
            <a:ext cx="685800" cy="137160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V="1">
            <a:off x="2926080" y="3383280"/>
            <a:ext cx="685800" cy="731520"/>
          </a:xfrm>
          <a:prstGeom prst="line">
            <a:avLst/>
          </a:prstGeom>
          <a:noFill/>
          <a:ln w="19050">
            <a:solidFill>
              <a:srgbClr val="5B6B82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2926080" y="3383280"/>
            <a:ext cx="685800" cy="1600200"/>
          </a:xfrm>
          <a:prstGeom prst="line">
            <a:avLst/>
          </a:prstGeom>
          <a:noFill/>
          <a:ln w="19050">
            <a:solidFill>
              <a:srgbClr val="5B6B82"/>
            </a:solidFill>
            <a:prstDash val="dash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715000" y="3383280"/>
            <a:ext cx="457200" cy="914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8275320" y="2354580"/>
            <a:ext cx="457200" cy="1028700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8275320" y="3177540"/>
            <a:ext cx="457200" cy="205740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275320" y="3383280"/>
            <a:ext cx="457200" cy="617220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195560" y="3177540"/>
            <a:ext cx="274320" cy="914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172200" y="4617720"/>
            <a:ext cx="2103120" cy="731520"/>
          </a:xfrm>
          <a:prstGeom prst="roundRect">
            <a:avLst>
              <a:gd name="adj" fmla="val 10000"/>
            </a:avLst>
          </a:prstGeom>
          <a:solidFill>
            <a:srgbClr val="E6F2F3"/>
          </a:solidFill>
          <a:ln w="15875">
            <a:solidFill>
              <a:srgbClr val="0E7C8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17920" y="4617720"/>
            <a:ext cx="201168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Sales Cloud Task</a:t>
            </a:r>
            <a:endParaRPr lang="ko-KR" altLang="en-US" sz="1400" dirty="0"/>
          </a:p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담당자 팔로업</a:t>
            </a:r>
            <a:endParaRPr lang="ko-KR" alt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223760" y="4023360"/>
            <a:ext cx="914" cy="594360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611880" y="4160520"/>
            <a:ext cx="23774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발송 · 반응 데이터 → Data Cloud</a:t>
            </a:r>
            <a:endParaRPr lang="ko-KR" alt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5715000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E6F2F3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05840" y="5687568"/>
            <a:ext cx="15544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구성</a:t>
            </a:r>
            <a:endParaRPr lang="ko-KR" alt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651760" y="5715000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8960" y="5687568"/>
            <a:ext cx="15544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시스템</a:t>
            </a:r>
            <a:endParaRPr lang="ko-KR" alt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754880" y="5715000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F3F5F8"/>
          </a:solidFill>
          <a:ln w="12700">
            <a:solidFill>
              <a:srgbClr val="5B6B82"/>
            </a:solidFill>
            <a:prstDash val="dash"/>
          </a:ln>
        </p:spPr>
      </p:sp>
      <p:sp>
        <p:nvSpPr>
          <p:cNvPr id="46" name="Text 44"/>
          <p:cNvSpPr txBox="1"/>
          <p:nvPr/>
        </p:nvSpPr>
        <p:spPr>
          <a:xfrm>
            <a:off x="5212080" y="5687568"/>
            <a:ext cx="15544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 외 · 미확정</a:t>
            </a:r>
            <a:endParaRPr lang="ko-KR" alt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949440" y="5687568"/>
            <a:ext cx="466344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algn="r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상세: 아키텍처 다이어그램 v3 · Web SDK·Power BI 범위 외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eaLnBrk="0" latinLnBrk="0" algn="r"/>
            <a:fld id="{F7021451-1387-4CA6-816F-3879F97B5CBC}" type="slidenum">
              <a:rPr b="0" lang="ko-KR" altLang="en-US"/>
              <a:t>8</a:t>
            </a:fld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l" indent="0" marL="0">
              <a:buNone/>
            </a:pPr>
            <a:r>
              <a:rPr lang="ko-KR" altLang="en-US" sz="2800" b="1" dirty="0">
                <a:solidFill>
                  <a:schemeClr val="tx2"/>
                </a:solidFill>
              </a:rPr>
              <a:t>시나리오 선정 기준</a:t>
            </a:r>
            <a:endParaRPr lang="ko-KR" alt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l" indent="0" marL="0">
              <a:buNone/>
            </a:pPr>
            <a:r>
              <a:rPr lang="ko-KR" altLang="en-US" sz="1500" dirty="0">
                <a:solidFill>
                  <a:schemeClr val="accent5"/>
                </a:solidFill>
              </a:rPr>
              <a:t>계약 범위는 KR 전체 3개 — 임팩트가 크고 지금 데이터로 바로 돌릴 수 있는 것부터</a:t>
            </a:r>
            <a:endParaRPr lang="ko-KR" alt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3291840" cy="2103120"/>
          </a:xfrm>
          <a:prstGeom prst="rect">
            <a:avLst/>
          </a:prstGeom>
          <a:solidFill>
            <a:srgbClr val="FCE9E3"/>
          </a:solidFill>
          <a:ln w="12700">
            <a:solidFill>
              <a:srgbClr val="FCE9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0" y="1737360"/>
            <a:ext cx="3291840" cy="2103120"/>
          </a:xfrm>
          <a:prstGeom prst="rect">
            <a:avLst/>
          </a:prstGeom>
          <a:solidFill>
            <a:srgbClr val="E6F2F3"/>
          </a:solidFill>
          <a:ln w="12700">
            <a:solidFill>
              <a:srgbClr val="E6F2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840480"/>
            <a:ext cx="6583680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100" b="1" dirty="0">
                <a:solidFill>
                  <a:schemeClr val="accent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임팩트 높음 · 데이터 준비 필요</a:t>
            </a:r>
            <a:endParaRPr lang="ko-KR" alt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5196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1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 설계 추천</a:t>
            </a:r>
            <a:endParaRPr lang="ko-KR" alt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989320"/>
            <a:ext cx="65836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algn="r" indent="0" marL="0">
              <a:buNone/>
            </a:pPr>
            <a:r>
              <a:rPr lang="ko-KR" altLang="en-US" sz="12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준비도 →</a:t>
            </a:r>
            <a:endParaRPr lang="ko-KR" altLang="en-US" sz="12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228600" y="3703320"/>
            <a:ext cx="1828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algn="ctr" indent="0" marL="0">
              <a:buNone/>
            </a:pPr>
            <a:r>
              <a:rPr lang="ko-KR" altLang="en-US" sz="12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비즈니스 임팩트 →</a:t>
            </a:r>
            <a:endParaRPr lang="ko-KR" alt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85970" y="2207362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87722" y="2143354"/>
            <a:ext cx="2331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algn="l" indent="0" marL="0">
              <a:buNone/>
            </a:pPr>
            <a:r>
              <a:rPr lang="ko-KR" altLang="en-US" sz="12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행사 모객·참석 관리</a:t>
            </a:r>
            <a:endParaRPr lang="ko-KR" alt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68542" y="2964485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772814" y="2900477"/>
            <a:ext cx="2331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algn="r" indent="0" marL="0">
              <a:buNone/>
            </a:pPr>
            <a:r>
              <a:rPr lang="ko-KR" altLang="en-US" sz="12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신규 도입 90일 온보딩</a:t>
            </a:r>
            <a:endParaRPr lang="ko-KR" alt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020824" y="2039112"/>
            <a:ext cx="237744" cy="23774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22576" y="1975104"/>
            <a:ext cx="2331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algn="l" indent="0" marL="0">
              <a:buNone/>
            </a:pPr>
            <a:r>
              <a:rPr lang="ko-KR" altLang="en-US" sz="12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팁 리텐션·윈백</a:t>
            </a:r>
            <a:endParaRPr lang="ko-KR" alt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152498" y="3048610"/>
            <a:ext cx="237744" cy="23774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54250" y="2984602"/>
            <a:ext cx="2331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algn="l" indent="0" marL="0">
              <a:buNone/>
            </a:pPr>
            <a:r>
              <a:rPr lang="ko-KR" altLang="en-US" sz="12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900샷·아이팁 업셀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37560" y="4226357"/>
            <a:ext cx="237744" cy="23774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39312" y="4162349"/>
            <a:ext cx="2331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algn="l" indent="0" marL="0">
              <a:buNone/>
            </a:pPr>
            <a:r>
              <a:rPr lang="ko-KR" altLang="en-US" sz="12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리드 너처링</a:t>
            </a:r>
            <a:endParaRPr lang="ko-KR" alt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691640" y="4983480"/>
            <a:ext cx="237744" cy="23774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993392" y="4919472"/>
            <a:ext cx="23317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algn="l" indent="0" marL="0">
              <a:buNone/>
            </a:pPr>
            <a:r>
              <a:rPr lang="ko-KR" altLang="en-US" sz="12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정품 인증 (소비자)</a:t>
            </a:r>
            <a:endParaRPr lang="ko-KR" alt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863840" y="1737360"/>
            <a:ext cx="3749040" cy="42062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92440" y="1874520"/>
            <a:ext cx="3291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기준</a:t>
            </a:r>
            <a:endParaRPr lang="ko-KR" alt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092440" y="2331720"/>
            <a:ext cx="333756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비즈니스 임팩트 — 재구매·이탈 방지, 수작업 절감</a:t>
            </a:r>
            <a:endParaRPr lang="ko-KR" altLang="en-US" sz="13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준비도 — Salesforce·Data Cloud에서 바로 쓸 수 있는가</a:t>
            </a:r>
            <a:endParaRPr lang="ko-KR" altLang="en-US" sz="13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콘텐츠·심의 부담 — 변수 템플릿으로 재사용 가능한가</a:t>
            </a:r>
            <a:endParaRPr lang="ko-KR" altLang="en-US" sz="13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확장성 — 솔타가 이후 직접 늘려갈 수 있는 구조인가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eaLnBrk="0" latinLnBrk="0" algn="r"/>
            <a:fld id="{F7021451-1387-4CA6-816F-3879F97B5CBC}" type="slidenum">
              <a:rPr b="0" lang="ko-KR" altLang="en-US"/>
              <a:t>9</a:t>
            </a:fld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l" indent="0" marL="0">
              <a:buNone/>
            </a:pPr>
            <a:r>
              <a:rPr lang="ko-KR" altLang="en-US" sz="2800" b="1" dirty="0">
                <a:solidFill>
                  <a:schemeClr val="tx2"/>
                </a:solidFill>
              </a:rPr>
              <a:t>추천 시나리오</a:t>
            </a:r>
            <a:endParaRPr lang="ko-KR" alt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l" indent="0" marL="0">
              <a:buNone/>
            </a:pPr>
            <a:r>
              <a:rPr lang="ko-KR" altLang="en-US" sz="1500" dirty="0">
                <a:solidFill>
                  <a:schemeClr val="accent5"/>
                </a:solidFill>
              </a:rPr>
              <a:t>행사와 온보딩은 바로 설계 가능하고, 팁 리텐션은 데이터 확보 방안과 함께 결정이 필요합니다</a:t>
            </a:r>
            <a:endParaRPr lang="ko-KR" alt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66160" cy="45262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alt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82880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indent="0" marL="0">
              <a:buNone/>
            </a:pPr>
            <a:r>
              <a:rPr lang="ko-KR" altLang="en-US" sz="17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 모객 · 참석 관리</a:t>
            </a:r>
            <a:endParaRPr lang="ko-KR" alt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68880"/>
            <a:ext cx="31546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트리거  </a:t>
            </a:r>
            <a:pPr eaLnBrk="0" latinLnBrk="0" indent="0" marL="0">
              <a:buNone/>
            </a:pPr>
            <a:r>
              <a:rPr lang="ko-KR" altLang="en-US" sz="12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 D-60부터 사후 팔로업까지</a:t>
            </a:r>
            <a:endParaRPr lang="ko-KR" alt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108960"/>
            <a:ext cx="32004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티저 → Save the Date → 초청장(등록 CTA)</a:t>
            </a:r>
            <a:endParaRPr lang="ko-KR" altLang="en-US" sz="13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미등록자 리마인더 2회, 등록자 D-1 참석 리마인더</a:t>
            </a:r>
            <a:endParaRPr lang="ko-KR" altLang="en-US" sz="13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참석자 설문 → 다음 프로그램 / 불참자 자료 요약</a:t>
            </a:r>
            <a:endParaRPr lang="ko-KR" alt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440680"/>
            <a:ext cx="31546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KPI  </a:t>
            </a:r>
            <a:pPr eaLnBrk="0" latinLnBrk="0" indent="0" marL="0">
              <a:buNone/>
            </a:pPr>
            <a:r>
              <a:rPr lang="ko-KR" altLang="en-US" sz="12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노쇼율 · 설문 회수율 · 등록률</a:t>
            </a:r>
            <a:endParaRPr lang="ko-KR" alt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645920"/>
            <a:ext cx="3566160" cy="45262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26280" y="18288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alt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182880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indent="0" marL="0">
              <a:buNone/>
            </a:pPr>
            <a:r>
              <a:rPr lang="ko-KR" altLang="en-US" sz="17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장비 도입 90일 온보딩</a:t>
            </a:r>
            <a:endParaRPr lang="ko-KR" alt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468880"/>
            <a:ext cx="31546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트리거  </a:t>
            </a:r>
            <a:pPr eaLnBrk="0" latinLnBrk="0" indent="0" marL="0">
              <a:buNone/>
            </a:pPr>
            <a:r>
              <a:rPr lang="ko-KR" altLang="en-US" sz="12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Install Base 신규 장비 등록 시</a:t>
            </a:r>
            <a:endParaRPr lang="ko-KR" alt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3108960"/>
            <a:ext cx="32004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환영 · 담당 영업사원 안내 → 사용 가이드</a:t>
            </a:r>
            <a:endParaRPr lang="ko-KR" altLang="en-US" sz="13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 유저 워크숍 초대 (A와 연결)</a:t>
            </a:r>
            <a:endParaRPr lang="ko-KR" altLang="en-US" sz="13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D+90 팁 미구매 시 영업 담당자 Task 생성</a:t>
            </a:r>
            <a:endParaRPr lang="ko-KR" alt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5440680"/>
            <a:ext cx="31546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KPI  </a:t>
            </a:r>
            <a:pPr eaLnBrk="0" latinLnBrk="0" indent="0" marL="0">
              <a:buNone/>
            </a:pPr>
            <a:r>
              <a:rPr lang="ko-KR" altLang="en-US" sz="12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90일 내 첫 팁 재구매율 · 워크숍 참석률</a:t>
            </a:r>
            <a:endParaRPr lang="ko-KR" alt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1645920"/>
            <a:ext cx="3566160" cy="452628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75320" y="18288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alt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869680" y="182880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indent="0" marL="0">
              <a:buNone/>
            </a:pPr>
            <a:r>
              <a:rPr lang="ko-KR" altLang="en-US" sz="17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팁 리텐션 · 윈백 (후보)</a:t>
            </a:r>
            <a:endParaRPr lang="ko-KR" alt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2468880"/>
            <a:ext cx="31546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트리거  </a:t>
            </a:r>
            <a:pPr eaLnBrk="0" latinLnBrk="0" indent="0" marL="0">
              <a:buNone/>
            </a:pPr>
            <a:r>
              <a:rPr lang="ko-KR" altLang="en-US" sz="12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3~6개월 미구매 / 6개월 이상 휴면</a:t>
            </a:r>
            <a:endParaRPr lang="ko-KR" alt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3108960"/>
            <a:ext cx="32004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카피캣 대응으로 우선순위 높음</a:t>
            </a:r>
            <a:endParaRPr lang="ko-KR" altLang="en-US" sz="13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병원별 팁 구매 데이터가 Salesforce에 없음</a:t>
            </a:r>
            <a:endParaRPr lang="ko-KR" altLang="en-US" sz="1300" dirty="0"/>
          </a:p>
          <a:p>
            <a:pPr eaLnBrk="0" latinLnBrk="0" marL="177800" indent="-177800">
              <a:spcAft>
                <a:spcPts val="400"/>
              </a:spcAft>
              <a:buSzPct val="100000"/>
              <a:buChar char="•"/>
            </a:pPr>
            <a:r>
              <a:rPr lang="ko-KR" altLang="en-US" sz="13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대리점 엑셀 정기 적재 가능 여부 확인 필요</a:t>
            </a:r>
            <a:endParaRPr lang="ko-KR" alt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5440680"/>
            <a:ext cx="31546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200" b="1" dirty="0">
                <a:solidFill>
                  <a:schemeClr val="accent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KPI  </a:t>
            </a:r>
            <a:pPr eaLnBrk="0" latinLnBrk="0" indent="0" marL="0">
              <a:buNone/>
            </a:pPr>
            <a:r>
              <a:rPr lang="ko-KR" altLang="en-US" sz="12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재구매율 · 휴면 전환율</a:t>
            </a:r>
            <a:endParaRPr lang="ko-KR" alt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eaLnBrk="0" latinLnBrk="0" algn="r"/>
            <a:fld id="{F7021451-1387-4CA6-816F-3879F97B5CBC}" type="slidenum">
              <a:rPr b="0" lang="ko-KR" altLang="en-US"/>
              <a:t>10</a:t>
            </a:fld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l" indent="0" marL="0">
              <a:buNone/>
            </a:pPr>
            <a:r>
              <a:rPr lang="ko-KR" altLang="en-US" sz="2800" b="1" dirty="0">
                <a:solidFill>
                  <a:schemeClr val="tx2"/>
                </a:solidFill>
              </a:rPr>
              <a:t>리스크와 대응 방안</a:t>
            </a:r>
            <a:endParaRPr lang="ko-KR" alt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l" indent="0" marL="0">
              <a:buNone/>
            </a:pPr>
            <a:r>
              <a:rPr lang="ko-KR" altLang="en-US" sz="1500" dirty="0">
                <a:solidFill>
                  <a:schemeClr val="accent5"/>
                </a:solidFill>
              </a:rPr>
              <a:t>데이터 연동과 심의 일정이 가장 큰 변수입니다</a:t>
            </a:r>
            <a:endParaRPr lang="ko-KR" alt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3291840"/>
                <a:gridCol w="3840480"/>
              </a:tblGrid>
              <a:tr h="56692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리스크</a:t>
                      </a:r>
                      <a:endParaRPr lang="ko-KR" alt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영향</a:t>
                      </a:r>
                      <a:endParaRPr lang="ko-KR" alt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대응 방안</a:t>
                      </a:r>
                      <a:endParaRPr lang="ko-KR" alt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병원별 팁 구매 데이터가 Salesforce에 없음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리텐션·업셀 시나리오 분기 불가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대리점 엑셀 정기 적재 검토 / 영업 Task로 대체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홈페이지 DB(수신 동의)와 Data Cloud 미연동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수신 동의 고객 대상 발송 불가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연동 주체·일정을 BHC IT·Accenture와 확인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수신 동의 HCP 300~400명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발송 규모·성과 측정 표본이 작음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수신 동의 확보 활동 병행 (목표 1,000명+)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콘텐츠 심의 3~4주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10/30 시나리오·콘텐츠 Sign-off 지연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시나리오 조기 확정, 변수 템플릿으로 재심의 최소화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카카오·SMS 발송 연동 리드타임 1~1.5개월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Go-live 시점 발송 불가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11월 말 완료 기준으로 즉시 착수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행사 등록·참석·설문 관리 방식 미정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행사 시나리오 분기 설계 불가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 경로·체크인·설문 도구 확정</a:t>
                      </a:r>
                      <a:endParaRPr lang="ko-KR" alt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eaLnBrk="0" latinLnBrk="0" algn="r"/>
            <a:fld id="{F7021451-1387-4CA6-816F-3879F97B5CBC}" type="slidenum">
              <a:rPr b="0" lang="ko-KR" altLang="en-US"/>
              <a:t>11</a:t>
            </a:fld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l" indent="0" marL="0">
              <a:buNone/>
            </a:pPr>
            <a:r>
              <a:rPr lang="ko-KR" altLang="en-US" sz="2800" b="1" dirty="0">
                <a:solidFill>
                  <a:schemeClr val="tx2"/>
                </a:solidFill>
              </a:rPr>
              <a:t>일정과 마일스톤</a:t>
            </a:r>
            <a:endParaRPr lang="ko-KR" alt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l" indent="0" marL="0">
              <a:buNone/>
            </a:pPr>
            <a:r>
              <a:rPr lang="ko-KR" altLang="en-US" sz="1500" dirty="0">
                <a:solidFill>
                  <a:schemeClr val="accent5"/>
                </a:solidFill>
              </a:rPr>
              <a:t>시나리오가 확정되어야 콘텐츠 제작과 심의(3~4주)를 시작할 수 있습니다</a:t>
            </a:r>
            <a:endParaRPr lang="ko-KR" alt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3291840"/>
            <a:ext cx="10515600" cy="0"/>
          </a:xfrm>
          <a:prstGeom prst="line">
            <a:avLst/>
          </a:prstGeom>
          <a:noFill/>
          <a:ln w="38100">
            <a:solidFill>
              <a:srgbClr val="C9D6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9264" y="316382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783080"/>
            <a:ext cx="14630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eaLnBrk="0" latinLnBrk="0" algn="ctr" indent="0" marL="0">
              <a:buNone/>
            </a:pPr>
            <a:r>
              <a:rPr lang="ko-KR" altLang="en-US" sz="1600" b="1" dirty="0">
                <a:solidFill>
                  <a:schemeClr val="accent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10/17</a:t>
            </a:r>
            <a:endParaRPr lang="ko-KR" altLang="en-US" sz="1600" dirty="0"/>
          </a:p>
          <a:p>
            <a:pPr eaLnBrk="0" latinLnBrk="0" algn="ctr" indent="0" marL="0">
              <a:buNone/>
            </a:pPr>
            <a:r>
              <a:rPr lang="ko-KR" altLang="en-US" sz="13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3개 확정</a:t>
            </a:r>
            <a:endParaRPr lang="ko-KR" altLang="en-US" sz="1600" dirty="0"/>
          </a:p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솔타 결정 요청</a:t>
            </a:r>
            <a:endParaRPr lang="ko-KR" alt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393115" y="316382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89611" y="3611880"/>
            <a:ext cx="14630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algn="ctr" indent="0" marL="0">
              <a:buNone/>
            </a:pPr>
            <a:r>
              <a:rPr lang="ko-KR" alt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10/20~</a:t>
            </a:r>
            <a:endParaRPr lang="ko-KR" altLang="en-US" sz="1600" dirty="0"/>
          </a:p>
          <a:p>
            <a:pPr eaLnBrk="0" latinLnBrk="0" algn="ctr" indent="0" marL="0">
              <a:buNone/>
            </a:pPr>
            <a:r>
              <a:rPr lang="ko-KR" altLang="en-US" sz="13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콘텐츠 제작 · 심의</a:t>
            </a:r>
            <a:endParaRPr lang="ko-KR" altLang="en-US" sz="1600" dirty="0"/>
          </a:p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3~4주</a:t>
            </a:r>
            <a:endParaRPr lang="ko-KR" alt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816967" y="316382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13463" y="1783080"/>
            <a:ext cx="14630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eaLnBrk="0" latinLnBrk="0" algn="ctr" indent="0" marL="0">
              <a:buNone/>
            </a:pPr>
            <a:r>
              <a:rPr lang="ko-KR" alt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10/30</a:t>
            </a:r>
            <a:endParaRPr lang="ko-KR" altLang="en-US" sz="1600" dirty="0"/>
          </a:p>
          <a:p>
            <a:pPr eaLnBrk="0" latinLnBrk="0" algn="ctr" indent="0" marL="0">
              <a:buNone/>
            </a:pPr>
            <a:r>
              <a:rPr lang="ko-KR" altLang="en-US" sz="13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시나리오·콘텐츠 Sign-off</a:t>
            </a:r>
            <a:endParaRPr lang="ko-KR" alt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240818" y="316382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37314" y="3611880"/>
            <a:ext cx="14630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algn="ctr" indent="0" marL="0">
              <a:buNone/>
            </a:pPr>
            <a:r>
              <a:rPr lang="ko-KR" altLang="en-US" sz="16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11/20</a:t>
            </a:r>
            <a:endParaRPr lang="ko-KR" altLang="en-US" sz="1600" dirty="0"/>
          </a:p>
          <a:p>
            <a:pPr eaLnBrk="0" latinLnBrk="0" algn="ctr" indent="0" marL="0">
              <a:buNone/>
            </a:pPr>
            <a:r>
              <a:rPr lang="ko-KR" altLang="en-US" sz="13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Design Handover</a:t>
            </a:r>
            <a:endParaRPr lang="ko-KR" altLang="en-US" sz="1600" dirty="0"/>
          </a:p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1 설계 종료</a:t>
            </a:r>
            <a:endParaRPr lang="ko-KR" alt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64670" y="316382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61166" y="1783080"/>
            <a:ext cx="14630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eaLnBrk="0" latinLnBrk="0" algn="ctr" indent="0" marL="0">
              <a:buNone/>
            </a:pPr>
            <a:r>
              <a:rPr lang="ko-KR" alt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말</a:t>
            </a:r>
            <a:endParaRPr lang="ko-KR" altLang="en-US" sz="1600" dirty="0"/>
          </a:p>
          <a:p>
            <a:pPr eaLnBrk="0" latinLnBrk="0" algn="ctr" indent="0" marL="0">
              <a:buNone/>
            </a:pPr>
            <a:r>
              <a:rPr lang="ko-KR" altLang="en-US" sz="13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카카오·SMS 연동 완료</a:t>
            </a:r>
            <a:endParaRPr lang="ko-KR" alt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88521" y="3163824"/>
            <a:ext cx="256032" cy="256032"/>
          </a:xfrm>
          <a:prstGeom prst="ellipse">
            <a:avLst/>
          </a:prstGeom>
          <a:solidFill>
            <a:schemeClr val="accent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85017" y="3611880"/>
            <a:ext cx="14630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algn="ctr" indent="0" marL="0">
              <a:buNone/>
            </a:pPr>
            <a:r>
              <a:rPr lang="ko-KR" altLang="en-US" sz="16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12~1월</a:t>
            </a:r>
            <a:endParaRPr lang="ko-KR" altLang="en-US" sz="1600" dirty="0"/>
          </a:p>
          <a:p>
            <a:pPr eaLnBrk="0" latinLnBrk="0" algn="ctr" indent="0" marL="0">
              <a:buNone/>
            </a:pPr>
            <a:r>
              <a:rPr lang="ko-KR" altLang="en-US" sz="13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 (Accenture)</a:t>
            </a:r>
            <a:endParaRPr lang="ko-KR" alt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512373" y="3163824"/>
            <a:ext cx="256032" cy="256032"/>
          </a:xfrm>
          <a:prstGeom prst="ellipse">
            <a:avLst/>
          </a:prstGeom>
          <a:solidFill>
            <a:schemeClr val="accent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08869" y="1783080"/>
            <a:ext cx="14630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b"/>
          <a:lstStyle/>
          <a:p>
            <a:pPr eaLnBrk="0" latinLnBrk="0" algn="ctr" indent="0" marL="0">
              <a:buNone/>
            </a:pPr>
            <a:r>
              <a:rPr lang="ko-KR" altLang="en-US" sz="16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</a:t>
            </a:r>
            <a:endParaRPr lang="ko-KR" altLang="en-US" sz="1600" dirty="0"/>
          </a:p>
          <a:p>
            <a:pPr eaLnBrk="0" latinLnBrk="0" algn="ctr" indent="0" marL="0">
              <a:buNone/>
            </a:pPr>
            <a:r>
              <a:rPr lang="ko-KR" altLang="en-US" sz="13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· 교육</a:t>
            </a:r>
            <a:endParaRPr lang="ko-KR" altLang="en-US" sz="1600" dirty="0"/>
          </a:p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 연휴 이후 UAT</a:t>
            </a:r>
            <a:endParaRPr lang="ko-KR" alt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0936224" y="316382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332720" y="3611880"/>
            <a:ext cx="14630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algn="ctr" indent="0" marL="0">
              <a:buNone/>
            </a:pPr>
            <a:r>
              <a:rPr lang="ko-KR" altLang="en-US" sz="1600" b="1" dirty="0">
                <a:solidFill>
                  <a:schemeClr val="accent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3/15</a:t>
            </a:r>
            <a:endParaRPr lang="ko-KR" altLang="en-US" sz="1600" dirty="0"/>
          </a:p>
          <a:p>
            <a:pPr eaLnBrk="0" latinLnBrk="0" algn="ctr" indent="0" marL="0">
              <a:buNone/>
            </a:pPr>
            <a:r>
              <a:rPr lang="ko-KR" altLang="en-US" sz="1300" b="1" dirty="0">
                <a:solidFill>
                  <a:schemeClr val="tx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Go-live</a:t>
            </a:r>
            <a:endParaRPr lang="ko-KR" alt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52120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CE9E3"/>
          </a:solidFill>
          <a:ln w="12700">
            <a:solidFill>
              <a:srgbClr val="FCE9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257800"/>
            <a:ext cx="106070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chemeClr val="accent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 </a:t>
            </a:r>
            <a:pPr eaLnBrk="0" latinLnBrk="0" indent="0" marL="0">
              <a:buNone/>
            </a:pPr>
            <a:r>
              <a:rPr lang="ko-KR" altLang="en-US" sz="14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10/20에 제작을 시작해도 심의 완료는 11월 중순 예상 — 10/30 Sign-off는 콘텐츠 초안 기준으로 진행할지 함께 확인이 필요합니다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eaLnBrk="0" latinLnBrk="0" algn="r"/>
            <a:fld id="{F7021451-1387-4CA6-816F-3879F97B5CBC}" type="slidenum">
              <a:rPr b="0" lang="ko-KR" altLang="en-US"/>
              <a:t>12</a:t>
            </a:fld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l" indent="0" marL="0">
              <a:buNone/>
            </a:pPr>
            <a:r>
              <a:rPr lang="ko-KR" altLang="en-US" sz="2800" b="1" dirty="0">
                <a:solidFill>
                  <a:schemeClr val="tx2"/>
                </a:solidFill>
              </a:rPr>
              <a:t>요청 사항</a:t>
            </a:r>
            <a:endParaRPr lang="ko-KR" alt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l" indent="0" marL="0">
              <a:buNone/>
            </a:pPr>
            <a:r>
              <a:rPr lang="ko-KR" altLang="en-US" sz="1500" dirty="0">
                <a:solidFill>
                  <a:schemeClr val="accent5"/>
                </a:solidFill>
              </a:rPr>
              <a:t>설계 착수를 위해 아래 사항을 요청드립니다</a:t>
            </a:r>
            <a:endParaRPr lang="ko-KR" alt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6492240"/>
                <a:gridCol w="2377440"/>
                <a:gridCol w="1645920"/>
              </a:tblGrid>
              <a:tr h="47548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ko-KR" alt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 사항</a:t>
                      </a:r>
                      <a:endParaRPr lang="ko-KR" alt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ko-KR" alt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기한 (안)</a:t>
                      </a:r>
                      <a:endParaRPr lang="ko-KR" alt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설계할 시나리오 3개 우선순위 결정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솔타 (경영진)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10/17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인터뷰 질문지 답변 파일 송부 (HCP + 소비자)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솔타 마케팅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10/15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데이터 샘플 공유 (실명 제거, 컬럼 템플릿)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솔타 마케팅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10/17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내부에서 정리한 캠페인·시나리오 목록 (20~30개) 공유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솔타 마케팅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10/17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행사 등록·참석 체크·설문 관리 방식 공유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솔타 마케팅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10/17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홈페이지 DB 연동 주체·일정 확인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솔타 IT · BHC IT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10/24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Salesforce 라이선스 사용 기간 확인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밀버스 → 글로벌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indent="0" marL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10/17</a:t>
                      </a:r>
                      <a:endParaRPr lang="ko-KR" alt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기한은 제안 일정이며 협의 후 확정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eaLnBrk="0" latinLnBrk="0" algn="r"/>
            <a:fld id="{F7021451-1387-4CA6-816F-3879F97B5CBC}" type="slidenum">
              <a:rPr b="0" lang="ko-KR" altLang="en-US"/>
              <a:t>13</a:t>
            </a:fld>
            <a:endParaRPr lang="ko-KR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lta Interview">
  <a:themeElements>
    <a:clrScheme name="Solta Interview">
      <a:dk1>
        <a:srgbClr val="1F2937"/>
      </a:dk1>
      <a:lt1>
        <a:srgbClr val="FFFFFF"/>
      </a:lt1>
      <a:dk2>
        <a:srgbClr val="1B2A4A"/>
      </a:dk2>
      <a:lt2>
        <a:srgbClr val="F3F5F8"/>
      </a:lt2>
      <a:accent1>
        <a:srgbClr val="0E7C86"/>
      </a:accent1>
      <a:accent2>
        <a:srgbClr val="E4572E"/>
      </a:accent2>
      <a:accent3>
        <a:srgbClr val="8FA3BF"/>
      </a:accent3>
      <a:accent4>
        <a:srgbClr val="F2B134"/>
      </a:accent4>
      <a:accent5>
        <a:srgbClr val="5B6B82"/>
      </a:accent5>
      <a:accent6>
        <a:srgbClr val="C9D6E3"/>
      </a:accent6>
      <a:hlink>
        <a:srgbClr val="0E7C86"/>
      </a:hlink>
      <a:folHlink>
        <a:srgbClr val="5B6B82"/>
      </a:folHlink>
    </a:clrScheme>
    <a:fontScheme name="Solta Interview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솔타메디칼 코리아 현업 인터뷰 결과 보고</dc:title>
  <dc:subject>PptxGenJS Presentation</dc:subject>
  <dc:creator>밀버스</dc:creator>
  <cp:lastModifiedBy>밀버스</cp:lastModifiedBy>
  <cp:revision>1</cp:revision>
  <dcterms:created xsi:type="dcterms:W3CDTF">2026-10-13T05:07:08Z</dcterms:created>
  <dcterms:modified xsi:type="dcterms:W3CDTF">2026-10-13T05:07:08Z</dcterms:modified>
</cp:coreProperties>
</file>