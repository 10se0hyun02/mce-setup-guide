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2f0b49535450c" /><Relationship Type="http://schemas.openxmlformats.org/officeDocument/2006/relationships/extended-properties" Target="/docProps/app.xml" Id="Rce29de0f35b34549" /><Relationship Type="http://schemas.openxmlformats.org/officeDocument/2006/relationships/officeDocument" Target="/ppt/presentation.xml" Id="Ra6813f9aa19040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2f241e27e94033"/>
  </p:sldMasterIdLst>
  <p:notesMasterIdLst>
    <p:notesMasterId xmlns:r="http://schemas.openxmlformats.org/officeDocument/2006/relationships" r:id="Re7faa457b0234421"/>
  </p:notesMasterIdLst>
  <p:sldIdLst>
    <p:sldId xmlns:r="http://schemas.openxmlformats.org/officeDocument/2006/relationships" id="256" r:id="Rc3776bb175a94519"/>
    <p:sldId xmlns:r="http://schemas.openxmlformats.org/officeDocument/2006/relationships" id="257" r:id="Ra9bd80eb4c0b4d75"/>
    <p:sldId xmlns:r="http://schemas.openxmlformats.org/officeDocument/2006/relationships" id="258" r:id="R73874386b7ec4b6e"/>
    <p:sldId xmlns:r="http://schemas.openxmlformats.org/officeDocument/2006/relationships" id="259" r:id="R0e971864bb624171"/>
    <p:sldId xmlns:r="http://schemas.openxmlformats.org/officeDocument/2006/relationships" id="260" r:id="R29a7d3b44d794153"/>
    <p:sldId xmlns:r="http://schemas.openxmlformats.org/officeDocument/2006/relationships" id="261" r:id="Rd63989c116144751"/>
    <p:sldId xmlns:r="http://schemas.openxmlformats.org/officeDocument/2006/relationships" id="262" r:id="R6cac4bee345b43cc"/>
    <p:sldId xmlns:r="http://schemas.openxmlformats.org/officeDocument/2006/relationships" id="263" r:id="Rd8256ade8a1a4ae2"/>
    <p:sldId xmlns:r="http://schemas.openxmlformats.org/officeDocument/2006/relationships" id="264" r:id="R078ff50db66e4856"/>
    <p:sldId xmlns:r="http://schemas.openxmlformats.org/officeDocument/2006/relationships" id="265" r:id="R1816836693ef4cb6"/>
    <p:sldId xmlns:r="http://schemas.openxmlformats.org/officeDocument/2006/relationships" id="266" r:id="R5d7d39d3c4e54d01"/>
    <p:sldId xmlns:r="http://schemas.openxmlformats.org/officeDocument/2006/relationships" id="267" r:id="Rafe6598ca4754d34"/>
    <p:sldId xmlns:r="http://schemas.openxmlformats.org/officeDocument/2006/relationships" id="268" r:id="Rad6567438e7846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397d80423b4ac3" /><Relationship Type="http://schemas.openxmlformats.org/officeDocument/2006/relationships/slideMaster" Target="/ppt/slideMasters/slideMaster1.xml" Id="R3a2f241e27e94033" /><Relationship Type="http://schemas.openxmlformats.org/officeDocument/2006/relationships/notesMaster" Target="/ppt/notesMasters/notesMaster1.xml" Id="Re7faa457b0234421" /><Relationship Type="http://schemas.openxmlformats.org/officeDocument/2006/relationships/presProps" Target="/ppt/presProps.xml" Id="Rc657c121a75c4b88" /><Relationship Type="http://schemas.openxmlformats.org/officeDocument/2006/relationships/tableStyles" Target="/ppt/tableStyles.xml" Id="Rf5ea4257252d4310" /><Relationship Type="http://schemas.openxmlformats.org/officeDocument/2006/relationships/slide" Target="/ppt/slides/slide1.xml" Id="Rc3776bb175a94519" /><Relationship Type="http://schemas.openxmlformats.org/officeDocument/2006/relationships/slide" Target="/ppt/slides/slide2.xml" Id="Ra9bd80eb4c0b4d75" /><Relationship Type="http://schemas.openxmlformats.org/officeDocument/2006/relationships/slide" Target="/ppt/slides/slide3.xml" Id="R73874386b7ec4b6e" /><Relationship Type="http://schemas.openxmlformats.org/officeDocument/2006/relationships/slide" Target="/ppt/slides/slide4.xml" Id="R0e971864bb624171" /><Relationship Type="http://schemas.openxmlformats.org/officeDocument/2006/relationships/slide" Target="/ppt/slides/slide5.xml" Id="R29a7d3b44d794153" /><Relationship Type="http://schemas.openxmlformats.org/officeDocument/2006/relationships/slide" Target="/ppt/slides/slide6.xml" Id="Rd63989c116144751" /><Relationship Type="http://schemas.openxmlformats.org/officeDocument/2006/relationships/slide" Target="/ppt/slides/slide7.xml" Id="R6cac4bee345b43cc" /><Relationship Type="http://schemas.openxmlformats.org/officeDocument/2006/relationships/slide" Target="/ppt/slides/slide8.xml" Id="Rd8256ade8a1a4ae2" /><Relationship Type="http://schemas.openxmlformats.org/officeDocument/2006/relationships/slide" Target="/ppt/slides/slide9.xml" Id="R078ff50db66e4856" /><Relationship Type="http://schemas.openxmlformats.org/officeDocument/2006/relationships/slide" Target="/ppt/slides/slide10.xml" Id="R1816836693ef4cb6" /><Relationship Type="http://schemas.openxmlformats.org/officeDocument/2006/relationships/slide" Target="/ppt/slides/slide11.xml" Id="R5d7d39d3c4e54d01" /><Relationship Type="http://schemas.openxmlformats.org/officeDocument/2006/relationships/slide" Target="/ppt/slides/slide12.xml" Id="Rafe6598ca4754d34" /><Relationship Type="http://schemas.openxmlformats.org/officeDocument/2006/relationships/slide" Target="/ppt/slides/slide13.xml" Id="Rad6567438e78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cfff1e70cf4a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a2414a9dff4e19" /><Relationship Type="http://schemas.openxmlformats.org/officeDocument/2006/relationships/notesMaster" Target="/ppt/notesMasters/notesMaster1.xml" Id="R364ca945dcf8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16217ca4e84c84" /><Relationship Type="http://schemas.openxmlformats.org/officeDocument/2006/relationships/notesMaster" Target="/ppt/notesMasters/notesMaster1.xml" Id="R1b8a3ef9bbba41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ebe1a2a2554c1e" /><Relationship Type="http://schemas.openxmlformats.org/officeDocument/2006/relationships/notesMaster" Target="/ppt/notesMasters/notesMaster1.xml" Id="Ra0a034eb759142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91451063124510" /><Relationship Type="http://schemas.openxmlformats.org/officeDocument/2006/relationships/notesMaster" Target="/ppt/notesMasters/notesMaster1.xml" Id="R1c4e3a1eca2441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3f096f6e2944ba" /><Relationship Type="http://schemas.openxmlformats.org/officeDocument/2006/relationships/notesMaster" Target="/ppt/notesMasters/notesMaster1.xml" Id="Rd6a112f2ff264c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fbc47a25d64ad5" /><Relationship Type="http://schemas.openxmlformats.org/officeDocument/2006/relationships/notesMaster" Target="/ppt/notesMasters/notesMaster1.xml" Id="R0e3361cdf22c4d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c2cbdedb59499c" /><Relationship Type="http://schemas.openxmlformats.org/officeDocument/2006/relationships/notesMaster" Target="/ppt/notesMasters/notesMaster1.xml" Id="Ra433147c2f9442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5fbf2ffc894d82" /><Relationship Type="http://schemas.openxmlformats.org/officeDocument/2006/relationships/notesMaster" Target="/ppt/notesMasters/notesMaster1.xml" Id="R060e907ff37341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0547529ae74c81" /><Relationship Type="http://schemas.openxmlformats.org/officeDocument/2006/relationships/notesMaster" Target="/ppt/notesMasters/notesMaster1.xml" Id="R278307d3c7284c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0f0d15d32b4e3e" /><Relationship Type="http://schemas.openxmlformats.org/officeDocument/2006/relationships/notesMaster" Target="/ppt/notesMasters/notesMaster1.xml" Id="Refb8e949b80143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0cd529165c48cc" /><Relationship Type="http://schemas.openxmlformats.org/officeDocument/2006/relationships/notesMaster" Target="/ppt/notesMasters/notesMaster1.xml" Id="R913d6e600ea54d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911d23ee674e4e" /><Relationship Type="http://schemas.openxmlformats.org/officeDocument/2006/relationships/notesMaster" Target="/ppt/notesMasters/notesMaster1.xml" Id="R2455128883084c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02c1b124ec4723" /><Relationship Type="http://schemas.openxmlformats.org/officeDocument/2006/relationships/notesMaster" Target="/ppt/notesMasters/notesMaster1.xml" Id="R92be8447f8834d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PPT 1장. 기존 Markdown의 13장 구성에 맞춰 재구성한 검토용 초안.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2장; 장표 순서: 솔타메디칼_현업인터뷰결과보고_장표구성_V0.1_261013.md. 제안 및 확인 필요 사항은 확정된 요건이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3장; 장표 순서: 솔타메디칼_현업인터뷰결과보고_장표구성_V0.1_261013.md. 제안 및 확인 필요 사항은 확정된 요건이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4장; 장표 순서: 솔타메디칼_현업인터뷰결과보고_장표구성_V0.1_261013.md. 제안 및 확인 필요 사항은 확정된 요건이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5장; 장표 순서: 솔타메디칼_현업인터뷰결과보고_장표구성_V0.1_261013.md. 제안 및 확인 필요 사항은 확정된 요건이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6장; 장표 순서: 솔타메디칼_현업인터뷰결과보고_장표구성_V0.1_261013.md. 제안 및 확인 필요 사항은 확정된 요건이 아님. 원본의 팁·교육 데이터 “데이터 없음”은 엑셀·수기 관리 설명과 함께 읽어야 하므로, 데이터 자체 부재로 단정하지 않고 확보·활용 방안 확인으로 표현.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2·4·5·6장 종합; 장표 순서: 솔타메디칼_현업인터뷰결과보고_장표구성_V0.1_261013.md. 제안 및 확인 필요 사항은 확정된 요건이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7장; 장표 순서: 솔타메디칼_현업인터뷰결과보고_장표구성_V0.1_261013.md. 제안 및 확인 필요 사항은 확정된 요건이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8장 및 구성안 9장; 장표 순서: 솔타메디칼_현업인터뷰결과보고_장표구성_V0.1_261013.md. 제안 및 확인 필요 사항은 확정된 요건이 아님. 비즈니스 효과×데이터 준비도는 구성안에 명시. 운영·성과 항목은 원본의 심의·채널·KPI를 바탕으로 정리한 검토 제안이며 평가 점수는 부여하지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8장; 장표 순서: 솔타메디칼_현업인터뷰결과보고_장표구성_V0.1_261013.md. 제안 및 확인 필요 사항은 확정된 요건이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2·5·6·7·8장 종합; 장표 순서: 솔타메디칼_현업인터뷰결과보고_장표구성_V0.1_261013.md. 제안 및 확인 필요 사항은 확정된 요건이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2·3·5장 및 구성안 12장; 장표 순서: 솔타메디칼_현업인터뷰결과보고_장표구성_V0.1_261013.md. 제안 및 확인 필요 사항은 확정된 요건이 아님. 2026년 10월 17일은 토요일. 기존 구성안의 금요일 표기는 사용하지 않음. 10/30은 구성안에 있는 목표이며 확정 일정으로 제시하지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솔타메디칼_현업인터뷰결과보고서_V0.1_261013.pptx 2·6·8장 및 구성안 13장; 장표 순서: 솔타메디칼_현업인터뷰결과보고_장표구성_V0.1_261013.md. 제안 및 확인 필요 사항은 확정된 요건이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61cd97d8540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c1132c7a541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1b3927b5c42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49d6812f94a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c48303cbd49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b4af5ecd74d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B722E0-ADED-4585-9F74-9A7A81A7F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5B40DA-D08A-4FC5-91C1-889922AA90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4CC71E-102B-4CA4-A898-E2B7451BCC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480C7F-78FE-43F0-87C5-05185CDBF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EDB3EF-1EEB-4716-B47F-0AB73BA861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F41504-7B08-4E4A-B94B-E10E6A755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D783D2-C898-4FA0-ACA3-9D5DB15670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A198D9-1D01-43EE-926E-A3D2C0C243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45C947-C7A8-4DCD-8D60-6A6A0E6C2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383F78-9C74-4EEA-A900-D5A4ED3644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68eae250e24020" /><Relationship Type="http://schemas.openxmlformats.org/officeDocument/2006/relationships/slideLayout" Target="/ppt/slideLayouts/slideLayout1.xml" Id="Re29e425346b144d8" /><Relationship Type="http://schemas.openxmlformats.org/officeDocument/2006/relationships/slideLayout" Target="/ppt/slideLayouts/slideLayout2.xml" Id="R6d6b2dab1c244653" /><Relationship Type="http://schemas.openxmlformats.org/officeDocument/2006/relationships/slideLayout" Target="/ppt/slideLayouts/slideLayout3.xml" Id="R947805eaaeda4bac" /><Relationship Type="http://schemas.openxmlformats.org/officeDocument/2006/relationships/slideLayout" Target="/ppt/slideLayouts/slideLayout4.xml" Id="Rfd6a93abacc54f5b" /><Relationship Type="http://schemas.openxmlformats.org/officeDocument/2006/relationships/slideLayout" Target="/ppt/slideLayouts/slideLayout5.xml" Id="Rfeb9f61b701646a2" /><Relationship Type="http://schemas.openxmlformats.org/officeDocument/2006/relationships/slideLayout" Target="/ppt/slideLayouts/slideLayout6.xml" Id="Rf0e03a6da3844c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9e425346b144d8"/>
    <p:sldLayoutId xmlns:r="http://schemas.openxmlformats.org/officeDocument/2006/relationships" id="2147483650" r:id="R6d6b2dab1c244653"/>
    <p:sldLayoutId xmlns:r="http://schemas.openxmlformats.org/officeDocument/2006/relationships" id="2147483651" r:id="R947805eaaeda4bac"/>
    <p:sldLayoutId xmlns:r="http://schemas.openxmlformats.org/officeDocument/2006/relationships" id="2147483652" r:id="Rfd6a93abacc54f5b"/>
    <p:sldLayoutId xmlns:r="http://schemas.openxmlformats.org/officeDocument/2006/relationships" id="2147483653" r:id="Rfeb9f61b701646a2"/>
    <p:sldLayoutId xmlns:r="http://schemas.openxmlformats.org/officeDocument/2006/relationships" id="2147483654" r:id="Rf0e03a6da3844c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a73d52dab41b6" /><Relationship Type="http://schemas.openxmlformats.org/officeDocument/2006/relationships/notesSlide" Target="/ppt/notesSlides/notesSlide1.xml" Id="R9a9d06025ce44e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1dbf8d75c452b" /><Relationship Type="http://schemas.openxmlformats.org/officeDocument/2006/relationships/notesSlide" Target="/ppt/notesSlides/notesSlide2.xml" Id="Ra5179caf53ab42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db0c9fcbbd478a" /><Relationship Type="http://schemas.openxmlformats.org/officeDocument/2006/relationships/notesSlide" Target="/ppt/notesSlides/notesSlide3.xml" Id="R3e78e198465d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bb7d8952d4f93" /><Relationship Type="http://schemas.openxmlformats.org/officeDocument/2006/relationships/notesSlide" Target="/ppt/notesSlides/notesSlide4.xml" Id="Rf9ad3d58b16544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7dab4e14c4ffa" /><Relationship Type="http://schemas.openxmlformats.org/officeDocument/2006/relationships/notesSlide" Target="/ppt/notesSlides/notesSlide5.xml" Id="Rbdeb75018ad04a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ca1d3b0c04b77" /><Relationship Type="http://schemas.openxmlformats.org/officeDocument/2006/relationships/notesSlide" Target="/ppt/notesSlides/notesSlide6.xml" Id="Ra9f515db33aa4e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1ecca0b734953" /><Relationship Type="http://schemas.openxmlformats.org/officeDocument/2006/relationships/notesSlide" Target="/ppt/notesSlides/notesSlide7.xml" Id="Rad302ed1df45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79145acf648ee" /><Relationship Type="http://schemas.openxmlformats.org/officeDocument/2006/relationships/notesSlide" Target="/ppt/notesSlides/notesSlide8.xml" Id="R99f7734e9f2640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4c5559417419b" /><Relationship Type="http://schemas.openxmlformats.org/officeDocument/2006/relationships/notesSlide" Target="/ppt/notesSlides/notesSlide9.xml" Id="R4f279f83f01641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90c25ad5548a7" /><Relationship Type="http://schemas.openxmlformats.org/officeDocument/2006/relationships/notesSlide" Target="/ppt/notesSlides/notesSlide10.xml" Id="R1f3f2a37f6644f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736a6cc0949d8" /><Relationship Type="http://schemas.openxmlformats.org/officeDocument/2006/relationships/notesSlide" Target="/ppt/notesSlides/notesSlide11.xml" Id="R6d91f88f196a44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6d697bbcf4820" /><Relationship Type="http://schemas.openxmlformats.org/officeDocument/2006/relationships/notesSlide" Target="/ppt/notesSlides/notesSlide12.xml" Id="R38b1091f391b45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0d3ddef8b4abe" /><Relationship Type="http://schemas.openxmlformats.org/officeDocument/2006/relationships/notesSlide" Target="/ppt/notesSlides/notesSlide13.xml" Id="R2477cb5294a14b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EE749-F07C-4058-807E-6EA5438C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BD0C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BD0C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BD0CB"/>
                </a:solidFill>
                <a:latin typeface="Malgun Gothic"/>
                <a:ea typeface="Malgun Gothic"/>
                <a:cs typeface="Malgun Gothic"/>
              </a:rPr>
              <a:t>SOLTA MEDICAL KOREA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439C2-42EC-4D0E-A392-3DF50F3F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현업 인터뷰 결과 보고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및 프로젝트 방향성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C5B26-C809-4607-874D-E653FCB6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3E2E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3E2E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3E2EA"/>
                </a:solidFill>
                <a:latin typeface="Malgun Gothic"/>
                <a:ea typeface="Malgun Gothic"/>
                <a:cs typeface="Malgun Gothic"/>
              </a:rPr>
              <a:t>Salesforce Marketing Campaign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BB940-4BDA-4A3E-B449-D2B4365B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3E2E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3E2E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3E2EA"/>
                </a:solidFill>
                <a:latin typeface="Malgun Gothic"/>
                <a:ea typeface="Malgun Gothic"/>
                <a:cs typeface="Malgun Gothic"/>
              </a:rPr>
              <a:t>2026.10  ·  밀버스  ·  V0.2 초안</a:t>
            </a:r>
          </a:p>
        </p:txBody>
      </p:sp>
    </p:spTree>
    <p:extLst>
      <p:ext uri="{BB962C8B-B14F-4D97-AF65-F5344CB8AC3E}">
        <p14:creationId xmlns:p14="http://schemas.microsoft.com/office/powerpoint/2010/main" val="125095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BC820-62A5-4070-B557-02B6CB1E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516F2-3207-4F8B-A97D-7EE35621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프로젝트 방향성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69B92-69F3-438B-BF9E-AEDF9622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팁 재구매를 늘리기 위한 B2B 자동화 시나리오 3개를 설계합니다.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67D88-C872-48FB-8270-9D96910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2FD35-7663-4384-A048-EE40D5E3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67403-F3FA-4AA2-9F80-42F9DFB7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CBF18-591E-4B52-89E9-79AECA92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장비 설치 이후 팁 재구매 확대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고객군에 맞는 메시지로 영업 활동 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2BE8F-0388-4158-9D5D-0F595B0E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8969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현황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B7726-753A-46A5-BE89-0384DCCD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8969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홈페이지 DB·Salesforce·D365·엑셀에 고객 데이터 분산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마케팅 수신 동의 HCP 약 300~400명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71E0F-89E2-48E8-9C88-18F44B4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9563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설계 방향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60BC7-9D2C-490C-B5F4-179EC998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9563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행사와 신규 고객 온보딩 우선 검토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팁 리텐션은 구매 데이터 확보 방안과 함께 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DE4FC-39DA-41C3-8C6F-E9A964B0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0156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요청 사항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3C41A-C60E-4F41-8E4E-93F32097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60156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시나리오 3개 우선순위 결정 및 콘텐츠 전달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10/17 결정 제안, 콘텐츠 심의에 3~4주 소요</a:t>
            </a:r>
          </a:p>
        </p:txBody>
      </p:sp>
    </p:spTree>
    <p:extLst>
      <p:ext uri="{BB962C8B-B14F-4D97-AF65-F5344CB8AC3E}">
        <p14:creationId xmlns:p14="http://schemas.microsoft.com/office/powerpoint/2010/main" val="1413963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FBF38-464A-4D64-853F-525849B6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01  인터뷰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A2BD5-0B9A-4D7F-A5D1-828B4D3B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인터뷰 일정과 대상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B54B1-DAA0-4AA8-B7F1-49B2F6B1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사전 질문지 답변을 바탕으로 4개 부서의 업무와 요구사항을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4727A-D161-4F88-BED8-409064C1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3AF3F-9F17-4186-90AC-5DE2BB7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98058-C7AA-4B63-829B-D2B5A3BBD304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190750"/>
                <a:gridCol w="6972300"/>
              </a:tblGrid>
              <a:tr h="6953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일자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확인 내용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10/8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RA/QA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콘텐츠 심의 절차, 사용 불가 표현, 소요 기간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10/8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생성 시점, 시스템별 보유 데이터, 유입 경로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10/12 오전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마케팅</a:t>
                      </a:r>
                    </a:p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HCP·소비자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여정, 채널, 타겟, 성과 지표, 시나리오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10/12 오후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세일즈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Salesforce 입력 현황, 리드 관리, KPI 대시보드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DF64E-2945-4202-BBCD-05DF1BE8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※ 10/12 소비자·정품 인증 관련 2부 인터뷰는 녹음 없이 현장 메모로 정리</a:t>
            </a:r>
          </a:p>
        </p:txBody>
      </p:sp>
    </p:spTree>
    <p:extLst>
      <p:ext uri="{BB962C8B-B14F-4D97-AF65-F5344CB8AC3E}">
        <p14:creationId xmlns:p14="http://schemas.microsoft.com/office/powerpoint/2010/main" val="124005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3E1DA-FBFB-4B4C-A7FC-9E038D10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02  인터뷰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7F0B7-3B55-407A-AFC2-57CE9DB0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HCP 고객 여정과 접점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9114E-9BA4-426C-9B94-9DD64D47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장비 도입 후 교육과 팁 재구매까지 이어지는 관리가 필요합니다.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DFBA6-F390-4C4E-990C-1397F637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01438-CE01-4269-B235-2D6EB63E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A128E-EE6C-4D44-9CC4-58BC74555677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782050"/>
              </a:tblGrid>
              <a:tr h="44529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접점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</a:tr>
              <a:tr h="4452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 인식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학회·심포지엄, 디지털·의료 매체 광고, 브랜드 캠페인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4452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탐색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홈페이지 HCP 자료, 세미나, 담당 영업사원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52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방문 상담·데모, 임상 자료·교육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4452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도입·구매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계약, 설치, 초기 제품 교육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52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정착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뉴 유저 워크숍, TTT, 학술 세미나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4452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구매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팁 재구매, 600→900샷 업셀, 아이팁 크로스셀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52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추천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MTL 포럼, KOL 관리, 서티 카드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58BB9-774E-4D68-B41D-ED2DF97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이탈 관리: 상담·데모 미연결 / 초기 교육 부족 / 3~6개월 미구매 / 6개월 이상 휴면</a:t>
            </a:r>
          </a:p>
        </p:txBody>
      </p:sp>
    </p:spTree>
    <p:extLst>
      <p:ext uri="{BB962C8B-B14F-4D97-AF65-F5344CB8AC3E}">
        <p14:creationId xmlns:p14="http://schemas.microsoft.com/office/powerpoint/2010/main" val="527747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F4DB5-804B-4B5A-BFF4-3B1161E6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02  인터뷰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0A0FE-4D10-46AC-B642-31C33A0E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부서별 주요 확인 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65933-1678-47A3-8CE2-5D26A738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행사 운영은 수작업이 많고, 매출 데이터는 엑셀에 의존하고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88A91-2330-4CC4-A81B-8050A036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2E394-1807-4A51-B6D0-08E5A95E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784D7-9653-495F-9D66-CB61DD8D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마케팅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03E78-DD67-41EF-8913-7E4ED60B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행사 등록이 전날에 집중돼 모객 예측이 어려움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카카오가 주 채널이나 고객 데이터와 미연계. 최소 2개월 전 홍보 시작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7C60E-B891-4B3D-B92F-92F973D6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8969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세일즈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BDB75-F299-4905-8E26-8A9422D1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8969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영업 약 20명이 Salesforce에 활동·기회·연락처 입력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매출·소모품 매출은 엑셀 보고. APAC 공용 org에서 KR 정보 정렬 불편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8F95A-7079-4CE0-AD0F-0BE0FB0A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9563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3E3FA-2D62-47FC-9339-D37FF734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9563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장비 출고 후 Install Base 등록만 자동 연동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홈페이지 DB와 Data Cloud 미연동. D365–Salesforce 연동은 내년 예정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B8CB2-5960-4A7C-9235-30EF3D6C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0156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RA/QA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60ADA-49FD-4300-A248-DB5C5344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60156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이메일·카카오·문자 문구 모두 심의 대상, 실제 3~4주 소요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고객명·병원명 등 개인화 필드 변경은 재심의 불필요</a:t>
            </a:r>
          </a:p>
        </p:txBody>
      </p:sp>
    </p:spTree>
    <p:extLst>
      <p:ext uri="{BB962C8B-B14F-4D97-AF65-F5344CB8AC3E}">
        <p14:creationId xmlns:p14="http://schemas.microsoft.com/office/powerpoint/2010/main" val="1274675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676F7-093C-4A0D-A006-CB52427A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02  인터뷰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212AD-0113-4BAE-8D54-E8D068E9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고객 데이터와 채널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F1E74-43A0-490A-8C9B-14601D05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현재 보유한 데이터와 자동화에 추가로 필요한 데이터를 구분해야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EDF08-1496-489A-BB51-0B88ED9C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3CC45-2603-493D-B76B-1B070DA9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3006A-8962-4A86-912B-87DCF491C1B1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2857500"/>
                <a:gridCol w="3448050"/>
              </a:tblGrid>
              <a:tr h="49666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위치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활용 시 확인 사항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HCP 리드·수신 동의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홈페이지 DB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 Cloud 연동 필요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Account·Contact·Opportunity·Task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Salesforce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시나리오별 필드 확인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 출고·시리얼·품목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Salesforce Install Base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자동 연동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오더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Salesforce 연동 내년 예정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병원별 팁 판매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대리점 일 단위 엑셀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정기 확보·적재 방안 필요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교육·서티·행사 참석·설문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수기 관리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 항목과 관리 방식 확인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169AD-FE55-41B4-B62F-0D5A51AA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카카오 채널과 고객 데이터는 미연계. 소비자 정품 인증 데이터도 있으나 이번 설계는 B2B(HCP) 우선.</a:t>
            </a:r>
          </a:p>
        </p:txBody>
      </p:sp>
    </p:spTree>
    <p:extLst>
      <p:ext uri="{BB962C8B-B14F-4D97-AF65-F5344CB8AC3E}">
        <p14:creationId xmlns:p14="http://schemas.microsoft.com/office/powerpoint/2010/main" val="300793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5E1C0-8E17-4A4D-A665-350618C7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02  인터뷰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6F6AA-FB3D-4818-A8E7-715A0069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자동화 설계에서 풀어야 할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A7049-366D-47D9-8832-4D76A1D3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행사 운영과 초기 고객 관리부터 정리하되, 데이터 확보를 함께 진행해야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3397D-0976-4CC7-9213-845CF265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F2CFF-89DF-46EF-B900-EA6137A3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A21AF-8705-4B7A-A428-29A548046C07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495800"/>
                <a:gridCol w="4476750"/>
              </a:tblGrid>
              <a:tr h="723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상황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시 검토할 사항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행사 운영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모객·참석 관리 수작업</a:t>
                      </a:r>
                    </a:p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등록이 행사 전날에 집중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여부에 따른 안내와 리마인더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도입 초기 관리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사용법·교육 부족 시 팁 구매 저조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이후 교육·워크숍 안내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팁 구매 이력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병원별 판매는 대리점 엑셀 관리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미구매 판단을 위한 정기 적재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동의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동의 HCP 약 300~400명</a:t>
                      </a:r>
                    </a:p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홈페이지 DB에 보관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동의 정보 연동 및 발송 대상 확인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938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44818-B6AB-4921-94BE-DBE5DC18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03  프로젝트 방향성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F94EF-0E79-4FE2-8977-7430E1BD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To-Be 아키텍처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FC58F-DB60-47D4-BA3C-1E9AD765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Data Cloud에서 고객을 구분하고 Marketing Cloud Next에서 채널별로 발송합니다.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32B5A-46BB-4301-ADEC-E97EC4B9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81C8E-BC05-405D-8D8C-704B82ED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3AD1A-C185-435C-88C7-DDE69FAEAD6C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76750"/>
                <a:gridCol w="4400550"/>
              </a:tblGrid>
              <a:tr h="5953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원천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홈페이지 DB / Sales Cloud</a:t>
                      </a:r>
                    </a:p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D365 / 대리점 엑셀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HCP·동의·장비·오더·팁 판매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통합·세그먼트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 Cloud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프로필 통합 및 발송 대상 구분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캠페인·저니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Marketing Cloud Next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 시나리오 3개 설계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채널·영업 대응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카카오 / SMS·LMS / 이메일</a:t>
                      </a:r>
                    </a:p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Sales Cloud Task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메시지 발송 및 영업 담당자 후속 대응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반영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발송·반응 데이터 → Data Cloud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세그먼트 구성에 활용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E1969-F2A6-4423-95D1-78553BBE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D365·팁 데이터 연계는 미확정. Web SDK·Power BI는 범위 외. 상세 구성은 아키텍처 v3 참조.</a:t>
            </a:r>
          </a:p>
        </p:txBody>
      </p:sp>
    </p:spTree>
    <p:extLst>
      <p:ext uri="{BB962C8B-B14F-4D97-AF65-F5344CB8AC3E}">
        <p14:creationId xmlns:p14="http://schemas.microsoft.com/office/powerpoint/2010/main" val="11142118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70A8D-0A4B-4413-8CEC-5F99698E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03  프로젝트 방향성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6C20D-96DE-4F18-BF7A-C6DDF7A1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시나리오 선정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816E6-6D56-47E2-BB05-1E9B9BFD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비즈니스 효과와 데이터 준비도를 함께 보고 우선순위를 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407E2-6166-4B20-AB79-E5588F11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02C12-47D0-47B9-82D4-0A1C388B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083BC-E3BC-4733-8BC1-ED5705AC4BA0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기준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비즈니스 효과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행사 참여, 초기 고객 정착, 팁 재구매 중 어떤 과제를 해결하는가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준비도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고객과 시작 조건을 구분할 데이터가 있는가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가능 여부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콘텐츠, 발송 채널, 심의, 영업 후속 대응을 준비할 수 있는가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 측정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등록률·참석률·재구매율 등 결과를 확인할 수 있는가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4000F-0777-417F-8DD1-7DB4E6A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검토 방향: 행사·온보딩 우선 제안 / 팁 리텐션은 구매 이력 확보 방안 확인 후 판단</a:t>
            </a:r>
          </a:p>
        </p:txBody>
      </p:sp>
    </p:spTree>
    <p:extLst>
      <p:ext uri="{BB962C8B-B14F-4D97-AF65-F5344CB8AC3E}">
        <p14:creationId xmlns:p14="http://schemas.microsoft.com/office/powerpoint/2010/main" val="11834822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BB9FA-FD33-43E3-A6F9-A0E6A03A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03 프로젝트 방향성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8EE5D-34EA-4423-AEFC-B069CF6C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추천 시나리오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84372-8C73-402B-BC51-A1343A38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행사·온보딩 2개를 우선 제안하며, 팁 리텐션·윈백은 데이터 확보 후 판단합니다.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CB4AE-102E-4B94-92B5-EF638A08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2D36E-10C0-4AEB-9DBA-4FC6CE33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98-8BEE-45D1-9877-BFA8C35D474B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209925"/>
                <a:gridCol w="3209925"/>
                <a:gridCol w="3219450"/>
              </a:tblGrid>
              <a:tr h="8572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 행사 모객·참석 관리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 신규 도입 90일 온보딩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 팁 리텐션·윈백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조건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행사 D-60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Install Base 신규 장비 등록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3~6개월 미구매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6개월 이상 휴면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내용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티저·Save the Date·초청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미등록자 리마인더 2회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등록자 D-1 안내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참석자 설문·불참자 자료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환영·담당 영업사원 안내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가이드·워크숍 초대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D+90 팁 미구매 시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 담당자 Task 생성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미구매·휴면 고객 관리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카피캣 이동 우려 대응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대리점 엑셀의 정기 적재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 여부 확인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노쇼율·설문 회수율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등록률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90일 내 첫 팁 재구매율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워크숍 참석률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재구매율</a:t>
                      </a:r>
                    </a:p>
                    <a:p>
                      <a:r>
                        <a:rPr sz="142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전환율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1FB8F-C8BA-4C70-803A-E8E078F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온보딩의 D+90 미구매 판단에도 병원별 팁 구매 이력이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1105534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7379C-A2CB-4FFB-9863-804263EA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03 프로젝트 방향성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12F5E-3DB5-4DA9-95EA-176949FE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리스크와 확인 필요 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C2EE1-1B0A-457C-9D39-60FC97A8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시나리오를 확정하기 전에 데이터·채널·심의 조건을 확인해야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D4990-2C3E-4CA4-B722-D7D46FF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920F0-2E88-457D-8C13-88A25EF0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C3C7B-D1E7-4DCA-A53A-43FCDAD37A0F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429250"/>
                <a:gridCol w="3924300"/>
              </a:tblGrid>
              <a:tr h="6953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사항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설계에 미치는 영향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병원별 팁 구매 이력 확보·적재</a:t>
                      </a:r>
                    </a:p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동의·교육·참석 이력 연동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미구매 판단과 발송 대상 구분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카카오 고객 정보 연계</a:t>
                      </a:r>
                    </a:p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카카오·문자·이메일 발송 준비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채널별 저니 설계와 실행 조건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심의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콘텐츠·문구 심의 3~4주</a:t>
                      </a:r>
                    </a:p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개인화 필드 변경 범위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콘텐츠 제출 일정 선행 필요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 결정일과 콘텐츠 전달일</a:t>
                      </a:r>
                    </a:p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10/30 Sign-off 일정 재확인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심의 소요 기간을 반영한 일정 조율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8877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DB3CB-54E9-4506-BD3C-72E0AB3C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04  다음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A3C08-DAB5-4D2C-B098-8B2092D3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일정과 마일스톤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B5357-6CFE-4F52-8BD3-61A901D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시나리오 결정과 콘텐츠 준비를 함께 진행해야 심의 일정을 맞출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FCC4F-19C7-41FA-AA26-51416B75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1CA20-FEB5-4062-9D82-B6D1473C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BD734-BB02-4BE3-B2BB-0D71E2B32021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  <a:gridCol w="4305300"/>
              </a:tblGrid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시점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내용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상태·확인 사항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T w="5715">
                      <a:solidFill>
                        <a:srgbClr val="DCE5EA"/>
                      </a:solidFill>
                    </a:lnT>
                    <a:lnB w="5715">
                      <a:solidFill>
                        <a:srgbClr val="DCE5EA"/>
                      </a:solidFill>
                    </a:lnB>
                    <a:solidFill>
                      <a:srgbClr val="1630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10/8 · 10/12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현업 인터뷰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10/17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 3개 우선순위 결정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PPT의 제안일, 확정 필요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 협의와 병행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콘텐츠 전달 및 심의 준비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시점과 자료 범위 협의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심의 접수 후 3~4주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콘텐츠 심의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인터뷰 기준 소요 기간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10/30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E5EA"/>
                      </a:solidFill>
                    </a:lnL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시나리오·콘텐츠 Sign-off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0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구성안의 목표 일정, 재확인 필요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E5EA"/>
                      </a:solidFill>
                    </a:lnR>
                    <a:lnB w="5715">
                      <a:solidFill>
                        <a:srgbClr val="DCE5EA"/>
                      </a:solidFill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B4660-9834-48C6-8D20-621C2387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10/17 이후 심의를 시작하면 10/30까지 3~4주를 확보하기 어렵습니다. 제출일과 승인 범위 조율이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3114616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DD3E8-6967-46C1-B119-6247DBA9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04  다음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989FF-F97C-4191-86C7-1528544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솔타메디칼 요청 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0DB31-D95D-43FD-9EF3-D2752477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시나리오 결정에 필요한 자료와 내부 검토 결과를 공유해 주세요.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B1B71-DC24-4894-BFD7-75F49791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SOLTA MEDICAL KOREA  ·  현업 인터뷰 결과 보고  ·  V0.2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77A45-98EA-48A1-AF8B-EC187452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1616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828A1-8F67-41F0-AB0F-F635B38F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시나리오 우선순위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7BA20-588C-43C1-9FA9-B02D9B77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설계할 시나리오 3개 및 우선순위 결정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행사·온보딩 제안과 팁 리텐션 후보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90295-B202-43E5-B89D-A8B3E3F9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8969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데이터 샘플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DEAFF-9B5A-4BBB-9B9E-B17538E4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8969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홈페이지 HCP·수신 동의, 장비 등록, 병원별 팁 판매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교육·행사 참석 이력의 보유 항목과 제공 가능 여부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3BC3B-0F15-49B7-B70A-C39B2F7B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9563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캠페인 목록·콘텐츠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526C6-21AC-4549-967B-C926F220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9563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예정 행사·교육 및 캠페인 목록 공유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사용 가능한 콘텐츠와 심의 대상 자료 우선 전달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75115-C469-4832-860E-1CA36A67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0156"/>
            <a:ext cx="2095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7F82"/>
                </a:solidFill>
                <a:latin typeface="Malgun Gothic"/>
                <a:ea typeface="Malgun Gothic"/>
                <a:cs typeface="Malgun Gothic"/>
              </a:rPr>
              <a:t>일정 협의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79CA0-2F01-4532-8942-5EE0E30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60156"/>
            <a:ext cx="8572500" cy="84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10/17 결정 제안일과 자료 전달 일정 확인</a:t>
            </a:r>
          </a:p>
          <a:p xmlns:a="http://schemas.openxmlformats.org/drawingml/2006/main">
            <a:pPr>
              <a:def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047"/>
                </a:solidFill>
                <a:latin typeface="Malgun Gothic"/>
                <a:ea typeface="Malgun Gothic"/>
                <a:cs typeface="Malgun Gothic"/>
              </a:rPr>
              <a:t>심의 기간을 반영해 10/30 Sign-off 가능 여부 협의</a:t>
            </a:r>
          </a:p>
        </p:txBody>
      </p:sp>
    </p:spTree>
    <p:extLst>
      <p:ext uri="{BB962C8B-B14F-4D97-AF65-F5344CB8AC3E}">
        <p14:creationId xmlns:p14="http://schemas.microsoft.com/office/powerpoint/2010/main" val="1821507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2026-10-15T07:00:07.5310000Z</dcterms:created>
  <dcterms:modified xsi:type="dcterms:W3CDTF">2026-10-15T07:00:07.5310000Z</dcterms:modified>
</coreProperties>
</file>