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54" r:id="rId2"/>
    <p:sldId id="455" r:id="rId8"/>
    <p:sldId id="456" r:id="rId7"/>
    <p:sldId id="457" r:id="rId6"/>
    <p:sldId id="458" r:id="rId5"/>
    <p:sldId id="459" r:id="rId4"/>
    <p:sldId id="460" r:id="rId15"/>
    <p:sldId id="461" r:id="rId16"/>
    <p:sldId id="28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1" userDrawn="1">
          <p15:clr>
            <a:srgbClr val="A4A3A4"/>
          </p15:clr>
        </p15:guide>
        <p15:guide id="3" orient="horz" pos="913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6ECC"/>
    <a:srgbClr val="009DDD"/>
    <a:srgbClr val="0072BC"/>
    <a:srgbClr val="DE463D"/>
    <a:srgbClr val="FFD401"/>
    <a:srgbClr val="2772BD"/>
    <a:srgbClr val="BFBFBF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21" autoAdjust="0"/>
    <p:restoredTop sz="95090" autoAdjust="0"/>
  </p:normalViewPr>
  <p:slideViewPr>
    <p:cSldViewPr snapToGrid="0" showGuides="1">
      <p:cViewPr varScale="1">
        <p:scale>
          <a:sx n="115" d="100"/>
          <a:sy n="115" d="100"/>
        </p:scale>
        <p:origin x="576" y="192"/>
      </p:cViewPr>
      <p:guideLst>
        <p:guide pos="211"/>
        <p:guide orient="horz" pos="913"/>
        <p:guide pos="7469"/>
        <p:guide orient="horz" pos="397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6B753-053D-5449-9810-F50E561B6C5D}" type="datetimeFigureOut">
              <a:rPr kumimoji="1" lang="ko-KR" altLang="en-US" smtClean="0"/>
              <a:t>2026. 9. 23.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88BCD-17F2-DB41-BDB0-79A8E18BD7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321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26b420ab460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26b420ab460_0_116:notes"/>
          <p:cNvSpPr txBox="1">
            <a:spLocks noGrp="1"/>
          </p:cNvSpPr>
          <p:nvPr>
            <p:ph type="body" idx="1"/>
          </p:nvPr>
        </p:nvSpPr>
        <p:spPr>
          <a:xfrm>
            <a:off x="407987" y="4415789"/>
            <a:ext cx="6194400" cy="41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5 - Graphic Footer - 3 Column" userDrawn="1">
  <p:cSld name="B5 - Graphic Footer - 3 Column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69"/>
          <p:cNvPicPr preferRelativeResize="0"/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673"/>
          <a:stretch/>
        </p:blipFill>
        <p:spPr>
          <a:xfrm>
            <a:off x="10716123" y="5634948"/>
            <a:ext cx="1476000" cy="122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9"/>
          <p:cNvSpPr txBox="1">
            <a:spLocks noGrp="1"/>
          </p:cNvSpPr>
          <p:nvPr>
            <p:ph type="body" idx="1"/>
          </p:nvPr>
        </p:nvSpPr>
        <p:spPr>
          <a:xfrm>
            <a:off x="8031233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sp>
        <p:nvSpPr>
          <p:cNvPr id="685" name="Google Shape;685;p69"/>
          <p:cNvSpPr txBox="1">
            <a:spLocks noGrp="1"/>
          </p:cNvSpPr>
          <p:nvPr>
            <p:ph type="body" idx="2"/>
          </p:nvPr>
        </p:nvSpPr>
        <p:spPr>
          <a:xfrm>
            <a:off x="4258312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sp>
        <p:nvSpPr>
          <p:cNvPr id="686" name="Google Shape;686;p69"/>
          <p:cNvSpPr txBox="1">
            <a:spLocks noGrp="1"/>
          </p:cNvSpPr>
          <p:nvPr>
            <p:ph type="body" idx="3"/>
          </p:nvPr>
        </p:nvSpPr>
        <p:spPr>
          <a:xfrm>
            <a:off x="485391" y="1679890"/>
            <a:ext cx="3488408" cy="43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accent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  <a:sym typeface="Salesforce Sans"/>
              </a:defRPr>
            </a:lvl1pPr>
            <a:lvl2pPr marL="914400" marR="0" lvl="1" indent="-342900" algn="l" rtl="0">
              <a:lnSpc>
                <a:spcPct val="9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2pPr>
            <a:lvl3pPr marL="1371600" marR="0" lvl="2" indent="-3302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3pPr>
            <a:lvl4pPr marL="1828800" marR="0" lvl="3" indent="-31750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4pPr>
            <a:lvl5pPr marL="2286000" marR="0" lvl="4" indent="-317500" algn="l" rtl="0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5pPr>
            <a:lvl6pPr marL="2743200" marR="0" lvl="5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6pPr>
            <a:lvl7pPr marL="3200400" marR="0" lvl="6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7pPr>
            <a:lvl8pPr marL="3657600" marR="0" lvl="7" indent="-355600" algn="l" rtl="0">
              <a:lnSpc>
                <a:spcPct val="103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○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8pPr>
            <a:lvl9pPr marL="4114800" marR="0" lvl="8" indent="-355600" algn="l" rtl="0">
              <a:lnSpc>
                <a:spcPct val="103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2000"/>
              <a:buChar char="■"/>
              <a:defRPr sz="2000" i="0" u="none" strike="noStrike" cap="none">
                <a:solidFill>
                  <a:schemeClr val="accent2"/>
                </a:solidFill>
                <a:latin typeface="Salesforce Sans"/>
                <a:ea typeface="Salesforce Sans"/>
                <a:cs typeface="Salesforce Sans"/>
                <a:sym typeface="Salesforce Sans"/>
              </a:defRPr>
            </a:lvl9pPr>
          </a:lstStyle>
          <a:p>
            <a:endParaRPr/>
          </a:p>
        </p:txBody>
      </p:sp>
      <p:pic>
        <p:nvPicPr>
          <p:cNvPr id="687" name="Google Shape;687;p69" descr="pasted-image.pdf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6078" y="580990"/>
            <a:ext cx="525274" cy="367664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69"/>
          <p:cNvSpPr txBox="1">
            <a:spLocks noGrp="1"/>
          </p:cNvSpPr>
          <p:nvPr>
            <p:ph type="subTitle" idx="5"/>
          </p:nvPr>
        </p:nvSpPr>
        <p:spPr>
          <a:xfrm>
            <a:off x="576231" y="1089004"/>
            <a:ext cx="10399508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160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  <a:lvl2pPr lvl="1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2pPr>
            <a:lvl3pPr lvl="2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3pPr>
            <a:lvl4pPr lvl="3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4pPr>
            <a:lvl5pPr lvl="4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5pPr>
            <a:lvl6pPr lvl="5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6pPr>
            <a:lvl7pPr lvl="6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7pPr>
            <a:lvl8pPr lvl="7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8pPr>
            <a:lvl9pPr lvl="8" rtl="0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9pPr>
          </a:lstStyle>
          <a:p>
            <a:endParaRPr dirty="0"/>
          </a:p>
        </p:txBody>
      </p:sp>
      <p:pic>
        <p:nvPicPr>
          <p:cNvPr id="690" name="Google Shape;690;p6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3324" y="6246884"/>
            <a:ext cx="223446" cy="223388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9"/>
          <p:cNvSpPr txBox="1">
            <a:spLocks noGrp="1"/>
          </p:cNvSpPr>
          <p:nvPr>
            <p:ph type="title"/>
          </p:nvPr>
        </p:nvSpPr>
        <p:spPr>
          <a:xfrm>
            <a:off x="576228" y="-6730"/>
            <a:ext cx="10400108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 SemiBold"/>
              <a:buNone/>
              <a:defRPr sz="3200" b="1" i="0">
                <a:solidFill>
                  <a:srgbClr val="0072BC"/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pic>
        <p:nvPicPr>
          <p:cNvPr id="2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E91A1019-1299-4438-347B-FF8B1966D380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266947" y="580990"/>
            <a:ext cx="939823" cy="2680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813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6 - Thank You">
  <p:cSld name="N6 - Thank You">
    <p:bg>
      <p:bgPr>
        <a:solidFill>
          <a:srgbClr val="CFE9FE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7"/>
          <p:cNvSpPr txBox="1"/>
          <p:nvPr/>
        </p:nvSpPr>
        <p:spPr>
          <a:xfrm>
            <a:off x="578607" y="2312975"/>
            <a:ext cx="5884532" cy="26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Avant Garde Demi SFDC"/>
              <a:buNone/>
            </a:pPr>
            <a:r>
              <a:rPr lang="en" sz="7500">
                <a:solidFill>
                  <a:schemeClr val="accent1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Avant Garde Demi SFDC"/>
                <a:sym typeface="Avant Garde Demi SFDC"/>
              </a:rPr>
              <a:t>Thank you</a:t>
            </a:r>
            <a:endParaRPr sz="7500">
              <a:solidFill>
                <a:schemeClr val="accent1"/>
              </a:solidFill>
              <a:latin typeface="Noto Sans KR" panose="020B0200000000000000" pitchFamily="34" charset="-128"/>
              <a:ea typeface="Noto Sans KR" panose="020B0200000000000000" pitchFamily="34" charset="-128"/>
              <a:cs typeface="Avant Garde Demi SFDC"/>
              <a:sym typeface="Avant Garde Demi SFDC"/>
            </a:endParaRPr>
          </a:p>
        </p:txBody>
      </p:sp>
      <p:sp>
        <p:nvSpPr>
          <p:cNvPr id="565" name="Google Shape;565;p57" title="alt=&quot;&quot;"/>
          <p:cNvSpPr/>
          <p:nvPr/>
        </p:nvSpPr>
        <p:spPr>
          <a:xfrm>
            <a:off x="5922178" y="4229412"/>
            <a:ext cx="414708" cy="262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grpSp>
        <p:nvGrpSpPr>
          <p:cNvPr id="566" name="Google Shape;566;p57"/>
          <p:cNvGrpSpPr/>
          <p:nvPr/>
        </p:nvGrpSpPr>
        <p:grpSpPr>
          <a:xfrm>
            <a:off x="-114" y="501624"/>
            <a:ext cx="12185826" cy="6352464"/>
            <a:chOff x="774562" y="3721525"/>
            <a:chExt cx="3851248" cy="2008176"/>
          </a:xfrm>
        </p:grpSpPr>
        <p:pic>
          <p:nvPicPr>
            <p:cNvPr id="567" name="Google Shape;567;p57" title="alt=&quot;&quot;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4562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p57" title="alt=&quot;&quot;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99887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69" name="Google Shape;569;p57" title="Group of Salesforce characters waving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2282" y="1734000"/>
            <a:ext cx="6140602" cy="449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7" title="Salesforce logo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0477" y="1275800"/>
            <a:ext cx="982440" cy="687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146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solidFill>
          <a:srgbClr val="CFE9FE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7" title="alt=&quot;&quot;"/>
          <p:cNvSpPr/>
          <p:nvPr/>
        </p:nvSpPr>
        <p:spPr>
          <a:xfrm>
            <a:off x="5922178" y="4229412"/>
            <a:ext cx="414708" cy="262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grpSp>
        <p:nvGrpSpPr>
          <p:cNvPr id="566" name="Google Shape;566;p57"/>
          <p:cNvGrpSpPr/>
          <p:nvPr/>
        </p:nvGrpSpPr>
        <p:grpSpPr>
          <a:xfrm>
            <a:off x="-114" y="501624"/>
            <a:ext cx="12185826" cy="6352464"/>
            <a:chOff x="774562" y="3721525"/>
            <a:chExt cx="3851248" cy="2008176"/>
          </a:xfrm>
        </p:grpSpPr>
        <p:pic>
          <p:nvPicPr>
            <p:cNvPr id="567" name="Google Shape;567;p57" title="alt=&quot;&quot;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4562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p57" title="alt=&quot;&quot;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99887" y="3721525"/>
              <a:ext cx="1925923" cy="20081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69" name="Google Shape;569;p57" title="Group of Salesforce characters waving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2282" y="1734000"/>
            <a:ext cx="6140602" cy="4490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7" title="Salesforce logo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0477" y="1275800"/>
            <a:ext cx="982440" cy="687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1463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D610E7-1D45-81D2-80DD-D327467B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5A0FB5-44D1-4FC8-9211-B7C92EE2F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9A887E-13EC-4E06-A085-EF9FE7275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fld id="{CA99D3F4-A9E9-6647-9687-B3F9E161E921}" type="datetimeFigureOut">
              <a:rPr kumimoji="1" lang="ko-KR" altLang="en-US" smtClean="0"/>
              <a:pPr/>
              <a:t>2026. 9. 23.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68C298-1DD4-470F-F776-F5A88B321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4E1A3-80C9-4B20-FEA7-5F36E3FFF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fld id="{DC2E8705-8B15-1B46-BC9F-F7E0854FBA0C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6158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34" charset="-128"/>
          <a:ea typeface="Noto Sans KR" panose="020B0200000000000000" pitchFamily="34" charset="-128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57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5000"/>
              </a:lnSpc>
            </a:pPr>
            <a:r>
              <a:rPr lang="ko-KR" altLang="en-US" sz="1600" b="1">
                <a:solidFill>
                  <a:srgbClr val="2E75B6"/>
                </a:solidFill>
                <a:latin typeface="Noto Sans KR"/>
                <a:ea typeface="Noto Sans KR"/>
                <a:cs typeface="Noto Sans KR"/>
              </a:rPr>
              <a:t>Solta Medical Korea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lang="ko-KR" altLang="en-US" sz="2400" b="1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>현업 인터뷰 결과 보고 및 프로젝트 방향성</a:t>
            </a:r>
          </a:p>
          <a:p>
            <a:pPr algn="l">
              <a:lnSpc>
                <a:spcPct val="105000"/>
              </a:lnSpc>
            </a:pPr>
            <a:r>
              <a:rPr lang="ko-KR" altLang="en-US" sz="2400" b="1">
                <a:solidFill>
                  <a:srgbClr val="1F3864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3794760"/>
            <a:ext cx="1097279" cy="0"/>
          </a:xfrm>
          <a:prstGeom prst="line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131FE561-EC1F-C720-BCF7-C727FB1F13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52336" y="1383927"/>
            <a:ext cx="1447206" cy="41278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48640" y="39319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lang="ko-KR" altLang="en-US" sz="1400" b="0">
                <a:solidFill>
                  <a:srgbClr val="404040"/>
                </a:solidFill>
                <a:latin typeface="Noto Sans KR"/>
                <a:ea typeface="Noto Sans KR"/>
                <a:cs typeface="Noto Sans KR"/>
              </a:rPr>
              <a:t>2026.10</a:t>
            </a:r>
          </a:p>
          <a:p>
            <a:pPr algn="l">
              <a:lnSpc>
                <a:spcPct val="105000"/>
              </a:lnSpc>
            </a:pPr>
            <a:r>
              <a:rPr lang="ko-KR" altLang="en-US" sz="1200" b="0">
                <a:solidFill>
                  <a:srgbClr val="7F7F7F"/>
                </a:solidFill>
                <a:latin typeface="Noto Sans KR"/>
                <a:ea typeface="Noto Sans KR"/>
                <a:cs typeface="Noto Sans KR"/>
              </a:rPr>
              <a:t>MILVUS Co., Ltd.  CRM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23;p1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131FE561-EC1F-C720-BCF7-C727FB1F13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2336" y="1383927"/>
            <a:ext cx="1447206" cy="412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>
                <a:latin typeface="Noto Sans KR"/>
              </a:rPr>
              <a:t>재구매 성장을 위한 자동화 시나리오 3개를 설계합니다.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프로젝트 방향성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360" y="1620000"/>
            <a:ext cx="5109840" cy="2051999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360" y="1835999"/>
            <a:ext cx="432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8360" y="1854000"/>
            <a:ext cx="4101840" cy="39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1" i="0">
                <a:solidFill>
                  <a:srgbClr val="1A1A2E"/>
                </a:solidFill>
                <a:latin typeface="Noto Sans KR"/>
              </a:rPr>
              <a:t>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360" y="2412000"/>
            <a:ext cx="4749840" cy="1043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장비 설치는 포화, 다음 성장 동력은 소모품(팁) 재구매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세그먼트별 메시지로 세일즈를 끌어올리는 CRM 마케팅이 최우선 과제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66200" y="1620000"/>
            <a:ext cx="5109840" cy="2051999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2200" y="1835999"/>
            <a:ext cx="432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8200" y="1854000"/>
            <a:ext cx="4101840" cy="39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1" i="0">
                <a:solidFill>
                  <a:srgbClr val="1A1A2E"/>
                </a:solidFill>
                <a:latin typeface="Noto Sans KR"/>
              </a:rPr>
              <a:t>현황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8200" y="2412000"/>
            <a:ext cx="4749840" cy="1043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고객 데이터가 홈페이지 DB · Salesforce · D365 · 엑셀에 흩어져 있고 Data Cloud와 미연동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마케팅 수신 동의 HCP 약 300~400명, 팁 판매는 대리점 엑셀로만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360" y="3851999"/>
            <a:ext cx="5109840" cy="2051999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2360" y="4067999"/>
            <a:ext cx="432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FFFFFF"/>
                </a:solidFill>
                <a:latin typeface="Noto Sans K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8360" y="4086000"/>
            <a:ext cx="4101840" cy="39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1" i="0">
                <a:solidFill>
                  <a:srgbClr val="1A1A2E"/>
                </a:solidFill>
                <a:latin typeface="Noto Sans KR"/>
              </a:rPr>
              <a:t>방향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360" y="4643999"/>
            <a:ext cx="4749840" cy="1043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B2B 자동화 시나리오 3개 설계 프로젝트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캠페인 내용은 솔타메디칼 코리아 내부 협의 후 전달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66200" y="3851999"/>
            <a:ext cx="5109840" cy="2051999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2200" y="4067999"/>
            <a:ext cx="432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FFFFFF"/>
                </a:solidFill>
                <a:latin typeface="Noto Sans K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8200" y="4086000"/>
            <a:ext cx="4101840" cy="39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1" i="0">
                <a:solidFill>
                  <a:srgbClr val="1A1A2E"/>
                </a:solidFill>
                <a:latin typeface="Noto Sans KR"/>
              </a:rPr>
              <a:t>요청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8200" y="4643999"/>
            <a:ext cx="4749840" cy="1043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시나리오 3개 우선순위 결정 (10/17 제안)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콘텐츠 심의 3~4주 소요되므로, 콘텐츠 Assets 우선 전달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>
                <a:latin typeface="Noto Sans KR"/>
              </a:rPr>
              <a:t>4개 부서를 2일에 걸쳐 인터뷰했고, 사전 배포한 질문지에 솔타가 답을 달아 진행했습니다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인터뷰 개요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360" y="1620000"/>
          <a:ext cx="10399679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952"/>
                <a:gridCol w="2391926"/>
                <a:gridCol w="6447801"/>
              </a:tblGrid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일자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부서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주제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10/8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RA/QA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콘텐츠 심의 프로세스 · 사용 불가 표현 · 소요 기간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10/8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IT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고객 데이터 생성 이벤트 · 시스템별 보유 데이터 · 유입 경로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10/12 오전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마케팅 (HCP · 소비자)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고객 여정 · 채널 · 타겟 세그먼트 · 성과 지표 · 시나리오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10/12 오후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세일즈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Salesforce 입력 현황 · 리드 관리 · KPI 대시보드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6360" y="5148000"/>
            <a:ext cx="1039968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00" b="0" i="1">
                <a:solidFill>
                  <a:srgbClr val="555577"/>
                </a:solidFill>
                <a:latin typeface="Noto Sans KR"/>
              </a:rPr>
              <a:t>※ 10/12 2부(소비자·정품 인증)는 녹음 없이 현장 메모로 정리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>
                <a:latin typeface="Noto Sans KR"/>
              </a:rPr>
              <a:t>장비를 도입한 뒤에도 팁(소모품)을 계속 사야 유지되는 구조 — 반복 구매의 중심은 팁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HCP 고객 여정과 접점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360" y="1620000"/>
            <a:ext cx="1439382" cy="666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문제 인식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360" y="2340000"/>
            <a:ext cx="1439382" cy="208800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학회 · 심포지엄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디지털·의료 매체 광고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브랜드 캠페인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2069742" y="1620000"/>
            <a:ext cx="1439382" cy="666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정보 탐색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69742" y="2340000"/>
            <a:ext cx="1439382" cy="208800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홈페이지 (HCP 로그인)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세미나 · 담당 영업사원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3125" y="1620000"/>
            <a:ext cx="1439382" cy="666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평가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3125" y="2340000"/>
            <a:ext cx="1439382" cy="208800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영업사원 방문 상담·데모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임상 자료·교육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6508" y="1620000"/>
            <a:ext cx="1439382" cy="666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도입·구매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508" y="2340000"/>
            <a:ext cx="1439382" cy="208800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세일즈 계약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설치 · 초기 제품 교육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49891" y="1620000"/>
            <a:ext cx="1439382" cy="666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정착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49891" y="2340000"/>
            <a:ext cx="1439382" cy="208800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뉴 유저 워크숍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TTT · 학술 세미나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3274" y="1620000"/>
            <a:ext cx="1439382" cy="666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반복 구매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3274" y="2340000"/>
            <a:ext cx="1439382" cy="2088000"/>
          </a:xfrm>
          <a:prstGeom prst="rect">
            <a:avLst/>
          </a:prstGeom>
          <a:solidFill>
            <a:srgbClr val="FCE9E3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팁 재구매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600→900샷 업셀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아이팁 크로스셀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36657" y="1620000"/>
            <a:ext cx="1439382" cy="66600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추천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36657" y="2340000"/>
            <a:ext cx="1439382" cy="2088000"/>
          </a:xfrm>
          <a:prstGeom prst="rect">
            <a:avLst/>
          </a:prstGeom>
          <a:solidFill>
            <a:srgbClr val="E6F2F3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MTL 포럼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KOL 관리 · 서티 카드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360" y="4536000"/>
            <a:ext cx="10399680" cy="90000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2519" rIns="42519" tIns="42519" bIns="42519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이탈 시점    도입 전 — 관심은 보였으나 상담·데모로 이어지지 않음   ·   도입 초기 — 사용법·교육 부족으로 팁 구매 저조   ·   기존 고객 — 3~6개월 미구매는 이탈 위험, 6개월 이상은 휴면 (카피캣 제품으로 이동 우려)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>
                <a:latin typeface="Noto Sans KR"/>
              </a:rPr>
              <a:t>마케팅은 행사·교육 운영의 수작업, 세일즈는 매출 데이터의 엑셀 의존이 가장 큰 불편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부서별 핵심 발견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360" y="1620000"/>
            <a:ext cx="5109840" cy="2051999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360" y="1710000"/>
            <a:ext cx="4929840" cy="36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FFFFFF"/>
                </a:solidFill>
                <a:latin typeface="Noto Sans KR"/>
              </a:rPr>
              <a:t>마케팅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360" y="2142000"/>
            <a:ext cx="4857840" cy="1439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행사·교육이 가장 반응 좋은 활동이지만 모객이 최대 과제 — 등록이 행사 하루 전에 몰림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디지털 채널은 카카오 채널이 메인, 고객 데이터와는 미연계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홍보는 최소 2개월 전부터 티저 → Save the Date → 초청장 → 리마인더 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66200" y="1620000"/>
            <a:ext cx="5109840" cy="2051999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56200" y="1710000"/>
            <a:ext cx="4929840" cy="360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FFFFFF"/>
                </a:solidFill>
                <a:latin typeface="Noto Sans KR"/>
              </a:rPr>
              <a:t>세일즈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2200" y="2142000"/>
            <a:ext cx="4857840" cy="1439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영업 약 20명이 Salesforce에 Task · Opportunity · Contact 입력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매출·소모품 매출은 Salesforce에 없어 엑셀로 따로 보고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APAC과 같은 org를 써서 KR 담당자·거래처 정렬이 불편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360" y="3851999"/>
            <a:ext cx="5109840" cy="2051999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6360" y="3941999"/>
            <a:ext cx="4929840" cy="360000"/>
          </a:xfrm>
          <a:prstGeom prst="rect">
            <a:avLst/>
          </a:prstGeom>
          <a:solidFill>
            <a:srgbClr val="0D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FFFFFF"/>
                </a:solidFill>
                <a:latin typeface="Noto Sans KR"/>
              </a:rPr>
              <a:t>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360" y="4373999"/>
            <a:ext cx="4857840" cy="1439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장비 출고 → Install Base 등록이 현재 유일한 자동 연동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홈페이지 DB에 B2B·B2C 리드·수신 동의가 구분 적재, Data Cloud와 미연동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오더는 D365, Salesforce 연동은 내년 예정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66200" y="3851999"/>
            <a:ext cx="5109840" cy="2051999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56200" y="3941999"/>
            <a:ext cx="4929840" cy="36000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FFFFFF"/>
                </a:solidFill>
                <a:latin typeface="Noto Sans KR"/>
              </a:rPr>
              <a:t>RA/QA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2200" y="4373999"/>
            <a:ext cx="4857840" cy="1439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이메일·카카오·문자 발송물 모두 심의 대상 (문구 포함)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개인화 필드(고객명·병원명)는 바뀌어도 재심의 불필요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행정 약 12일, 에이전시 경유로 실제 3~4주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>
                <a:latin typeface="Noto Sans KR"/>
              </a:rPr>
              <a:t>시나리오에 쓸 데이터가 4곳 이상에 흩어져 있어, 시나리오별로 '있는 데이터'를 먼저 확인해야 합니다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고객 데이터 AS-IS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360" y="1620000"/>
          <a:ext cx="1039968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9904"/>
                <a:gridCol w="3119904"/>
                <a:gridCol w="1559952"/>
                <a:gridCol w="2599920"/>
              </a:tblGrid>
              <a:tr h="462857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데이터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현재 위치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관리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마케팅 활용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</a:tr>
              <a:tr h="46285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HCP 리드 · 마케팅 수신 동의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홈페이지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마케팅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● 연동 필요</a:t>
                      </a:r>
                    </a:p>
                  </a:txBody>
                  <a:tcPr>
                    <a:solidFill>
                      <a:srgbClr val="E97132"/>
                    </a:solidFill>
                  </a:tcPr>
                </a:tc>
              </a:tr>
              <a:tr h="46285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Account · Contact · Opportunity · Task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Salesforce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영업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● 활용 가능</a:t>
                      </a:r>
                    </a:p>
                  </a:txBody>
                  <a:tcPr>
                    <a:solidFill>
                      <a:srgbClr val="196B24"/>
                    </a:solidFill>
                  </a:tcPr>
                </a:tc>
              </a:tr>
              <a:tr h="46285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장비 출고 (시리얼 · 품목)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Salesforce Install Base (자동)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본사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● 활용 가능</a:t>
                      </a:r>
                    </a:p>
                  </a:txBody>
                  <a:tcPr>
                    <a:solidFill>
                      <a:srgbClr val="196B24"/>
                    </a:solidFill>
                  </a:tcPr>
                </a:tc>
              </a:tr>
              <a:tr h="46285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오더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D365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—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● 연동 필요</a:t>
                      </a:r>
                    </a:p>
                  </a:txBody>
                  <a:tcPr>
                    <a:solidFill>
                      <a:srgbClr val="E97132"/>
                    </a:solidFill>
                  </a:tcPr>
                </a:tc>
              </a:tr>
              <a:tr h="46285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소모품(팁) 병원별 판매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대리점 일 단위 엑셀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영업 · 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● 데이터 없음</a:t>
                      </a:r>
                    </a:p>
                  </a:txBody>
                  <a:tcPr>
                    <a:solidFill>
                      <a:srgbClr val="D0D5DD"/>
                    </a:solidFill>
                  </a:tcPr>
                </a:tc>
              </a:tr>
              <a:tr h="46285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교육 이수 · 서티 · 행사 참석 · 설문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수기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Noto Sans KR"/>
                        </a:rPr>
                        <a:t>마케팅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● 데이터 없음</a:t>
                      </a:r>
                    </a:p>
                  </a:txBody>
                  <a:tcPr>
                    <a:solidFill>
                      <a:srgbClr val="D0D5D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6360" y="4950000"/>
            <a:ext cx="1039968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00" b="0" i="1">
                <a:solidFill>
                  <a:srgbClr val="555577"/>
                </a:solidFill>
                <a:latin typeface="Noto Sans KR"/>
              </a:rPr>
              <a:t>※ 소비자 정품 인증 데이터도 홈페이지 DB에 있으나, 마케팅 의견에 따라 이번에는 B2B(HCP) 우선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>
                <a:latin typeface="Noto Sans KR"/>
              </a:rPr>
              <a:t>흩어진 고객 데이터를 Data Cloud로 모아 세그먼트를 만들고, Marketing Cloud에서 채널별로 발송합니다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To-Be 아키텍처 (개요)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360" y="1655999"/>
            <a:ext cx="2160000" cy="234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259" rIns="21259" tIns="21259" bIns="21259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1" i="0">
                <a:solidFill>
                  <a:srgbClr val="FFFFFF"/>
                </a:solidFill>
                <a:latin typeface="Noto Sans KR"/>
              </a:rPr>
              <a:t>데이터 원천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4360" y="1655999"/>
            <a:ext cx="1800000" cy="234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259" rIns="21259" tIns="21259" bIns="21259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1" i="0">
                <a:solidFill>
                  <a:srgbClr val="FFFFFF"/>
                </a:solidFill>
                <a:latin typeface="Noto Sans KR"/>
              </a:rPr>
              <a:t>통합·세그먼트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5112360" y="1655999"/>
            <a:ext cx="1800000" cy="234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259" rIns="21259" tIns="21259" bIns="21259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1" i="0">
                <a:solidFill>
                  <a:srgbClr val="FFFFFF"/>
                </a:solidFill>
                <a:latin typeface="Noto Sans KR"/>
              </a:rPr>
              <a:t>캠페인·저니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359" y="1655999"/>
            <a:ext cx="4388400" cy="234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259" rIns="21259" tIns="21259" bIns="21259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1" i="0">
                <a:solidFill>
                  <a:srgbClr val="FFFFFF"/>
                </a:solidFill>
                <a:latin typeface="Noto Sans KR"/>
              </a:rPr>
              <a:t>채널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360" y="1998000"/>
            <a:ext cx="2160000" cy="895499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홈페이지 DB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HCP 리드 · 수신 동의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360" y="3001499"/>
            <a:ext cx="2160000" cy="895499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Sales Cloud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Account · Contact · Install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360" y="4004999"/>
            <a:ext cx="2160000" cy="895499"/>
          </a:xfrm>
          <a:prstGeom prst="rect">
            <a:avLst/>
          </a:prstGeom>
          <a:solidFill>
            <a:srgbClr val="F3F5F8"/>
          </a:solidFill>
          <a:ln w="63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D365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오더 (SF 연동 내년 예정)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360" y="5008499"/>
            <a:ext cx="2160000" cy="895499"/>
          </a:xfrm>
          <a:prstGeom prst="rect">
            <a:avLst/>
          </a:prstGeom>
          <a:solidFill>
            <a:srgbClr val="F3F5F8"/>
          </a:solidFill>
          <a:ln w="63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대리점 엑셀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팁 판매 (확보 방안 검토)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2360" y="3554999"/>
            <a:ext cx="2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600" b="1" i="0">
                <a:solidFill>
                  <a:srgbClr val="555577"/>
                </a:solidFill>
                <a:latin typeface="Noto Sans K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2360" y="3950999"/>
            <a:ext cx="2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600" b="1" i="0">
                <a:solidFill>
                  <a:srgbClr val="E97132"/>
                </a:solidFill>
                <a:latin typeface="Noto Sans KR"/>
              </a:rPr>
              <a:t>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24360" y="1998000"/>
            <a:ext cx="1800000" cy="3905999"/>
          </a:xfrm>
          <a:prstGeom prst="rect">
            <a:avLst/>
          </a:prstGeom>
          <a:solidFill>
            <a:srgbClr val="E6F2F3"/>
          </a:solidFill>
          <a:ln w="6350">
            <a:solidFill>
              <a:srgbClr val="0D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2519" rIns="42519" tIns="42519" bIns="42519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1A1A2E"/>
                </a:solidFill>
                <a:latin typeface="Noto Sans KR"/>
              </a:rPr>
              <a:t>Data Cloud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1A1A2E"/>
                </a:solidFill>
                <a:latin typeface="Noto Sans KR"/>
              </a:rPr>
              <a:t>통합 프로필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1A1A2E"/>
                </a:solidFill>
                <a:latin typeface="Noto Sans KR"/>
              </a:rPr>
              <a:t>세그먼트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2360" y="3842999"/>
            <a:ext cx="251999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600" b="1" i="0">
                <a:solidFill>
                  <a:srgbClr val="555577"/>
                </a:solidFill>
                <a:latin typeface="Noto Sans KR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12360" y="1998000"/>
            <a:ext cx="1800000" cy="2538899"/>
          </a:xfrm>
          <a:prstGeom prst="rect">
            <a:avLst/>
          </a:prstGeom>
          <a:solidFill>
            <a:srgbClr val="E6F2F3"/>
          </a:solidFill>
          <a:ln w="6350">
            <a:solidFill>
              <a:srgbClr val="0D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2519" rIns="42519" tIns="42519" bIns="42519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1A1A2E"/>
                </a:solidFill>
                <a:latin typeface="Noto Sans KR"/>
              </a:rPr>
              <a:t>Marketing Cloud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1A1A2E"/>
                </a:solidFill>
                <a:latin typeface="Noto Sans KR"/>
              </a:rPr>
              <a:t>Next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1A1A2E"/>
                </a:solidFill>
                <a:latin typeface="Noto Sans KR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1A1A2E"/>
                </a:solidFill>
                <a:latin typeface="Noto Sans KR"/>
              </a:rPr>
              <a:t>시나리오(저니) 3개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12360" y="4644900"/>
            <a:ext cx="1800000" cy="1259099"/>
          </a:xfrm>
          <a:prstGeom prst="rect">
            <a:avLst/>
          </a:prstGeom>
          <a:solidFill>
            <a:srgbClr val="E6F2F3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Sales Cloud Task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영업 담당자 팔로업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0360" y="3061799"/>
            <a:ext cx="251999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600" b="1" i="0">
                <a:solidFill>
                  <a:srgbClr val="555577"/>
                </a:solidFill>
                <a:latin typeface="Noto Sans KR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359" y="1998000"/>
            <a:ext cx="2340000" cy="1229999"/>
          </a:xfrm>
          <a:prstGeom prst="rect">
            <a:avLst/>
          </a:prstGeom>
          <a:solidFill>
            <a:srgbClr val="E6F2F3"/>
          </a:solidFill>
          <a:ln w="6350">
            <a:solidFill>
              <a:srgbClr val="0D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카카오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알림톡·친구톡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359" y="3335999"/>
            <a:ext cx="2340000" cy="1229999"/>
          </a:xfrm>
          <a:prstGeom prst="rect">
            <a:avLst/>
          </a:prstGeom>
          <a:solidFill>
            <a:srgbClr val="E6F2F3"/>
          </a:solidFill>
          <a:ln w="6350">
            <a:solidFill>
              <a:srgbClr val="0D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SMS · LMS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359" y="4673999"/>
            <a:ext cx="2340000" cy="1229999"/>
          </a:xfrm>
          <a:prstGeom prst="rect">
            <a:avLst/>
          </a:prstGeom>
          <a:solidFill>
            <a:srgbClr val="E6F2F3"/>
          </a:solidFill>
          <a:ln w="6350">
            <a:solidFill>
              <a:srgbClr val="0D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이메일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8360" y="3842999"/>
            <a:ext cx="180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600" b="1" i="0">
                <a:solidFill>
                  <a:srgbClr val="555577"/>
                </a:solidFill>
                <a:latin typeface="Noto Sans KR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84360" y="3590999"/>
            <a:ext cx="1868400" cy="7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2519" rIns="42519" tIns="42519" bIns="42519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300" b="1" i="0">
                <a:solidFill>
                  <a:srgbClr val="1A1A2E"/>
                </a:solidFill>
                <a:latin typeface="Noto Sans KR"/>
              </a:rPr>
              <a:t>HCP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4360" y="5615999"/>
            <a:ext cx="37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00" b="0" i="1">
                <a:solidFill>
                  <a:srgbClr val="555577"/>
                </a:solidFill>
                <a:latin typeface="Noto Sans KR"/>
              </a:rPr>
              <a:t>← 발송·반응 데이터 → Data Cloud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360" y="5957999"/>
            <a:ext cx="1728000" cy="216000"/>
          </a:xfrm>
          <a:prstGeom prst="rect">
            <a:avLst/>
          </a:prstGeom>
          <a:solidFill>
            <a:srgbClr val="E6F2F3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259" rIns="21259" tIns="21259" bIns="21259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00" b="0" i="0">
                <a:solidFill>
                  <a:srgbClr val="0D6E79"/>
                </a:solidFill>
                <a:latin typeface="Noto Sans KR"/>
              </a:rPr>
              <a:t>■ 신규 구성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56360" y="5957999"/>
            <a:ext cx="1728000" cy="21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259" rIns="21259" tIns="21259" bIns="21259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00" b="0" i="0">
                <a:solidFill>
                  <a:srgbClr val="1A1A2E"/>
                </a:solidFill>
                <a:latin typeface="Noto Sans KR"/>
              </a:rPr>
              <a:t>■ 기존 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36360" y="5957999"/>
            <a:ext cx="1728000" cy="21600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259" rIns="21259" tIns="21259" bIns="21259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00" b="0" i="0">
                <a:solidFill>
                  <a:srgbClr val="555577"/>
                </a:solidFill>
                <a:latin typeface="Noto Sans KR"/>
              </a:rPr>
              <a:t>■ 범위 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>
                <a:latin typeface="Noto Sans KR"/>
              </a:rPr>
              <a:t>행사와 온보딩은 바로 설계 가능하고, 팁 리텐션은 데이터 확보 방안과 함께 결정이 필요합니다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"/>
              </a:rPr>
              <a:t>추천 시나리오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360" y="1620000"/>
            <a:ext cx="3346560" cy="4283999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6360" y="1800000"/>
            <a:ext cx="432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2360" y="1800000"/>
            <a:ext cx="2410560" cy="39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Noto Sans KR"/>
              </a:rPr>
              <a:t>행사 모객 · 참석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4360" y="2322000"/>
            <a:ext cx="313056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360" y="2376000"/>
            <a:ext cx="309456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30000"/>
              </a:lnSpc>
            </a:pPr>
            <a:r>
              <a:rPr sz="1000" b="1" i="0">
                <a:solidFill>
                  <a:srgbClr val="156082"/>
                </a:solidFill>
                <a:latin typeface="Noto Sans KR"/>
              </a:rPr>
              <a:t>트리거  행사 D-60부터 사후 팔로업까지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360" y="2916000"/>
            <a:ext cx="313056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360" y="2988000"/>
            <a:ext cx="3094560" cy="2195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티저 → Save the Date → 초청장 (등록 CTA)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미등록자 리마인더 2회, 등록자 D-1 참석 리마인더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참석자 설문 → 다음 프로그램 / 불참자 자료 요약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4360" y="5255999"/>
            <a:ext cx="313056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360" y="5309999"/>
            <a:ext cx="309456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30000"/>
              </a:lnSpc>
            </a:pPr>
            <a:r>
              <a:rPr sz="1000" b="1" i="0">
                <a:solidFill>
                  <a:srgbClr val="0E2841"/>
                </a:solidFill>
                <a:latin typeface="Noto Sans KR"/>
              </a:rPr>
              <a:t>KPI  노쇼율 · 설문 회수율 · 등록률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02920" y="1620000"/>
            <a:ext cx="3346560" cy="4283999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2920" y="1800000"/>
            <a:ext cx="432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8920" y="1800000"/>
            <a:ext cx="2410560" cy="39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Noto Sans KR"/>
              </a:rPr>
              <a:t>신규 장비 도입 90일 온보딩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10920" y="2322000"/>
            <a:ext cx="313056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82920" y="2376000"/>
            <a:ext cx="309456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30000"/>
              </a:lnSpc>
            </a:pPr>
            <a:r>
              <a:rPr sz="1000" b="1" i="0">
                <a:solidFill>
                  <a:srgbClr val="156082"/>
                </a:solidFill>
                <a:latin typeface="Noto Sans KR"/>
              </a:rPr>
              <a:t>트리거  Install Base 신규 장비 등록 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10920" y="2916000"/>
            <a:ext cx="313056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2920" y="2988000"/>
            <a:ext cx="3094560" cy="2195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환영 · 담당 영업사원 안내 → 사용 가이드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뉴 유저 워크숍 초대 (A와 연결)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D+90 팁 미구매 시 영업 담당자 Task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10920" y="5255999"/>
            <a:ext cx="313056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82920" y="5309999"/>
            <a:ext cx="309456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30000"/>
              </a:lnSpc>
            </a:pPr>
            <a:r>
              <a:rPr sz="1000" b="1" i="0">
                <a:solidFill>
                  <a:srgbClr val="0E2841"/>
                </a:solidFill>
                <a:latin typeface="Noto Sans KR"/>
              </a:rPr>
              <a:t>KPI  90일 내 첫 팁 재구매율 · 워크숍 참석률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9480" y="1620000"/>
            <a:ext cx="3346560" cy="4283999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09480" y="1800000"/>
            <a:ext cx="432000" cy="432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480" y="1800000"/>
            <a:ext cx="2410560" cy="39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Noto Sans KR"/>
              </a:rPr>
              <a:t>팁 리텐션 · 윈백 (후보)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37480" y="2322000"/>
            <a:ext cx="313056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9480" y="2376000"/>
            <a:ext cx="309456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30000"/>
              </a:lnSpc>
            </a:pPr>
            <a:r>
              <a:rPr sz="1000" b="1" i="0">
                <a:solidFill>
                  <a:srgbClr val="156082"/>
                </a:solidFill>
                <a:latin typeface="Noto Sans KR"/>
              </a:rPr>
              <a:t>트리거  3~6개월 미구매 / 6개월 이상 휴면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37480" y="2916000"/>
            <a:ext cx="313056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09480" y="2988000"/>
            <a:ext cx="3094560" cy="2195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카피캣 대응으로 우선순위 높음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병원별 팁 구매 데이터가 Salesforce에 없음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대리점 엑셀 정기 적재 가능 여부 확인 필요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37480" y="5255999"/>
            <a:ext cx="313056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9480" y="5309999"/>
            <a:ext cx="309456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30000"/>
              </a:lnSpc>
            </a:pPr>
            <a:r>
              <a:rPr sz="1000" b="1" i="0">
                <a:solidFill>
                  <a:srgbClr val="0E2841"/>
                </a:solidFill>
                <a:latin typeface="Noto Sans KR"/>
              </a:rPr>
              <a:t>KPI  재구매율 · 휴면 전환율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5818</TotalTime>
  <Words>1057</Words>
  <Application>Microsoft Macintosh PowerPoint</Application>
  <PresentationFormat>와이드스크린</PresentationFormat>
  <Paragraphs>196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맑은 고딕</vt:lpstr>
      <vt:lpstr>Avant Garde Demi SFDC</vt:lpstr>
      <vt:lpstr>Noto Sans KR</vt:lpstr>
      <vt:lpstr>Salesforce Sans</vt:lpstr>
      <vt:lpstr>Arial</vt:lpstr>
      <vt:lpstr>Poppins</vt:lpstr>
      <vt:lpstr>Poppins SemiBold</vt:lpstr>
      <vt:lpstr>Office 테마</vt:lpstr>
      <vt:lpstr>PowerPoint 프레젠테이션</vt:lpstr>
      <vt:lpstr>Contents</vt:lpstr>
      <vt:lpstr>프로젝트 개요</vt:lpstr>
      <vt:lpstr>프로젝트 범위</vt:lpstr>
      <vt:lpstr>프로젝트 추진 체계</vt:lpstr>
      <vt:lpstr>프로젝트 일정</vt:lpstr>
      <vt:lpstr>프로젝트 수행 조직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MILVUS MCI 관련 보유역량 및 Reference</dc:title>
  <dc:creator>KANG henry</dc:creator>
  <cp:lastModifiedBy>crm5 crm5</cp:lastModifiedBy>
  <cp:revision>240</cp:revision>
  <dcterms:created xsi:type="dcterms:W3CDTF">2024-03-13T12:32:44Z</dcterms:created>
  <dcterms:modified xsi:type="dcterms:W3CDTF">2026-09-23T03:49:35Z</dcterms:modified>
</cp:coreProperties>
</file>