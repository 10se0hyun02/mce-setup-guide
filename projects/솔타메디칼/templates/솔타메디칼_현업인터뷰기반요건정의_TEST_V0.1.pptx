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54" r:id="rId2"/>
    <p:sldId id="455" r:id="rId8"/>
    <p:sldId id="456" r:id="rId7"/>
    <p:sldId id="457" r:id="rId6"/>
    <p:sldId id="458" r:id="rId5"/>
    <p:sldId id="459" r:id="rId4"/>
    <p:sldId id="28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1" userDrawn="1">
          <p15:clr>
            <a:srgbClr val="A4A3A4"/>
          </p15:clr>
        </p15:guide>
        <p15:guide id="3" orient="horz" pos="913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6ECC"/>
    <a:srgbClr val="009DDD"/>
    <a:srgbClr val="0072BC"/>
    <a:srgbClr val="DE463D"/>
    <a:srgbClr val="FFD401"/>
    <a:srgbClr val="2772BD"/>
    <a:srgbClr val="BFBFBF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21" autoAdjust="0"/>
    <p:restoredTop sz="95090" autoAdjust="0"/>
  </p:normalViewPr>
  <p:slideViewPr>
    <p:cSldViewPr snapToGrid="0" showGuides="1">
      <p:cViewPr varScale="1">
        <p:scale>
          <a:sx n="115" d="100"/>
          <a:sy n="115" d="100"/>
        </p:scale>
        <p:origin x="576" y="192"/>
      </p:cViewPr>
      <p:guideLst>
        <p:guide pos="211"/>
        <p:guide orient="horz" pos="913"/>
        <p:guide pos="7469"/>
        <p:guide orient="horz" pos="397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6B753-053D-5449-9810-F50E561B6C5D}" type="datetimeFigureOut">
              <a:rPr kumimoji="1" lang="ko-KR" altLang="en-US" smtClean="0"/>
              <a:t>2026. 9. 23.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88BCD-17F2-DB41-BDB0-79A8E18BD7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321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26b420ab460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26b420ab460_0_116:notes"/>
          <p:cNvSpPr txBox="1">
            <a:spLocks noGrp="1"/>
          </p:cNvSpPr>
          <p:nvPr>
            <p:ph type="body" idx="1"/>
          </p:nvPr>
        </p:nvSpPr>
        <p:spPr>
          <a:xfrm>
            <a:off x="407987" y="4415789"/>
            <a:ext cx="6194400" cy="41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5 - Graphic Footer - 3 Column" userDrawn="1">
  <p:cSld name="B5 - Graphic Footer - 3 Column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69"/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673"/>
          <a:stretch/>
        </p:blipFill>
        <p:spPr>
          <a:xfrm>
            <a:off x="10716123" y="5634948"/>
            <a:ext cx="1476000" cy="122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9"/>
          <p:cNvSpPr txBox="1">
            <a:spLocks noGrp="1"/>
          </p:cNvSpPr>
          <p:nvPr>
            <p:ph type="body" idx="1"/>
          </p:nvPr>
        </p:nvSpPr>
        <p:spPr>
          <a:xfrm>
            <a:off x="8031233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sp>
        <p:nvSpPr>
          <p:cNvPr id="685" name="Google Shape;685;p69"/>
          <p:cNvSpPr txBox="1">
            <a:spLocks noGrp="1"/>
          </p:cNvSpPr>
          <p:nvPr>
            <p:ph type="body" idx="2"/>
          </p:nvPr>
        </p:nvSpPr>
        <p:spPr>
          <a:xfrm>
            <a:off x="4258312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sp>
        <p:nvSpPr>
          <p:cNvPr id="686" name="Google Shape;686;p69"/>
          <p:cNvSpPr txBox="1">
            <a:spLocks noGrp="1"/>
          </p:cNvSpPr>
          <p:nvPr>
            <p:ph type="body" idx="3"/>
          </p:nvPr>
        </p:nvSpPr>
        <p:spPr>
          <a:xfrm>
            <a:off x="485391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pic>
        <p:nvPicPr>
          <p:cNvPr id="687" name="Google Shape;687;p69" descr="pasted-image.pdf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6078" y="580990"/>
            <a:ext cx="525274" cy="367664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69"/>
          <p:cNvSpPr txBox="1">
            <a:spLocks noGrp="1"/>
          </p:cNvSpPr>
          <p:nvPr>
            <p:ph type="subTitle" idx="5"/>
          </p:nvPr>
        </p:nvSpPr>
        <p:spPr>
          <a:xfrm>
            <a:off x="576231" y="1089004"/>
            <a:ext cx="10399508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16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  <a:lvl2pPr lvl="1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2pPr>
            <a:lvl3pPr lvl="2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3pPr>
            <a:lvl4pPr lvl="3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4pPr>
            <a:lvl5pPr lvl="4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5pPr>
            <a:lvl6pPr lvl="5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6pPr>
            <a:lvl7pPr lvl="6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7pPr>
            <a:lvl8pPr lvl="7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8pPr>
            <a:lvl9pPr lvl="8" rtl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9pPr>
          </a:lstStyle>
          <a:p>
            <a:endParaRPr dirty="0"/>
          </a:p>
        </p:txBody>
      </p:sp>
      <p:pic>
        <p:nvPicPr>
          <p:cNvPr id="690" name="Google Shape;690;p6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3324" y="6246884"/>
            <a:ext cx="223446" cy="223388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9"/>
          <p:cNvSpPr txBox="1">
            <a:spLocks noGrp="1"/>
          </p:cNvSpPr>
          <p:nvPr>
            <p:ph type="title"/>
          </p:nvPr>
        </p:nvSpPr>
        <p:spPr>
          <a:xfrm>
            <a:off x="576228" y="-6730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pic>
        <p:nvPicPr>
          <p:cNvPr id="2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E91A1019-1299-4438-347B-FF8B1966D380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266947" y="580990"/>
            <a:ext cx="939823" cy="2680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813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6 - Thank You">
  <p:cSld name="N6 - Thank You">
    <p:bg>
      <p:bgPr>
        <a:solidFill>
          <a:srgbClr val="CFE9FE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7"/>
          <p:cNvSpPr txBox="1"/>
          <p:nvPr/>
        </p:nvSpPr>
        <p:spPr>
          <a:xfrm>
            <a:off x="578607" y="2312975"/>
            <a:ext cx="5884532" cy="26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Avant Garde Demi SFDC"/>
              <a:buNone/>
            </a:pPr>
            <a:r>
              <a:rPr lang="en" sz="7500">
                <a:solidFill>
                  <a:schemeClr val="accent1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Avant Garde Demi SFDC"/>
                <a:sym typeface="Avant Garde Demi SFDC"/>
              </a:rPr>
              <a:t>Thank you</a:t>
            </a:r>
            <a:endParaRPr sz="7500">
              <a:solidFill>
                <a:schemeClr val="accent1"/>
              </a:solidFill>
              <a:latin typeface="Noto Sans KR" panose="020B0200000000000000" pitchFamily="34" charset="-128"/>
              <a:ea typeface="Noto Sans KR" panose="020B0200000000000000" pitchFamily="34" charset="-128"/>
              <a:cs typeface="Avant Garde Demi SFDC"/>
              <a:sym typeface="Avant Garde Demi SFDC"/>
            </a:endParaRPr>
          </a:p>
        </p:txBody>
      </p:sp>
      <p:sp>
        <p:nvSpPr>
          <p:cNvPr id="565" name="Google Shape;565;p57" title="alt=&quot;&quot;"/>
          <p:cNvSpPr/>
          <p:nvPr/>
        </p:nvSpPr>
        <p:spPr>
          <a:xfrm>
            <a:off x="5922178" y="4229412"/>
            <a:ext cx="414708" cy="262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grpSp>
        <p:nvGrpSpPr>
          <p:cNvPr id="566" name="Google Shape;566;p57"/>
          <p:cNvGrpSpPr/>
          <p:nvPr/>
        </p:nvGrpSpPr>
        <p:grpSpPr>
          <a:xfrm>
            <a:off x="-114" y="501624"/>
            <a:ext cx="12185826" cy="6352464"/>
            <a:chOff x="774562" y="3721525"/>
            <a:chExt cx="3851248" cy="2008176"/>
          </a:xfrm>
        </p:grpSpPr>
        <p:pic>
          <p:nvPicPr>
            <p:cNvPr id="567" name="Google Shape;567;p57" title="alt=&quot;&quot;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4562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p57" title="alt=&quot;&quot;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99887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69" name="Google Shape;569;p57" title="Group of Salesforce characters waving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2282" y="1734000"/>
            <a:ext cx="6140602" cy="449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7" title="Salesforce logo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0477" y="1275800"/>
            <a:ext cx="982440" cy="687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146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solidFill>
          <a:srgbClr val="CFE9FE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7" title="alt=&quot;&quot;"/>
          <p:cNvSpPr/>
          <p:nvPr/>
        </p:nvSpPr>
        <p:spPr>
          <a:xfrm>
            <a:off x="5922178" y="4229412"/>
            <a:ext cx="414708" cy="262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grpSp>
        <p:nvGrpSpPr>
          <p:cNvPr id="566" name="Google Shape;566;p57"/>
          <p:cNvGrpSpPr/>
          <p:nvPr/>
        </p:nvGrpSpPr>
        <p:grpSpPr>
          <a:xfrm>
            <a:off x="-114" y="501624"/>
            <a:ext cx="12185826" cy="6352464"/>
            <a:chOff x="774562" y="3721525"/>
            <a:chExt cx="3851248" cy="2008176"/>
          </a:xfrm>
        </p:grpSpPr>
        <p:pic>
          <p:nvPicPr>
            <p:cNvPr id="567" name="Google Shape;567;p57" title="alt=&quot;&quot;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4562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p57" title="alt=&quot;&quot;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99887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69" name="Google Shape;569;p57" title="Group of Salesforce characters waving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2282" y="1734000"/>
            <a:ext cx="6140602" cy="449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7" title="Salesforce logo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0477" y="1275800"/>
            <a:ext cx="982440" cy="687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1463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D610E7-1D45-81D2-80DD-D327467B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5A0FB5-44D1-4FC8-9211-B7C92EE2F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9A887E-13EC-4E06-A085-EF9FE7275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fld id="{CA99D3F4-A9E9-6647-9687-B3F9E161E921}" type="datetimeFigureOut">
              <a:rPr kumimoji="1" lang="ko-KR" altLang="en-US" smtClean="0"/>
              <a:pPr/>
              <a:t>2026. 9. 23.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68C298-1DD4-470F-F776-F5A88B321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4E1A3-80C9-4B20-FEA7-5F36E3FFF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fld id="{DC2E8705-8B15-1B46-BC9F-F7E0854FBA0C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6158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57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5000"/>
              </a:lnSpc>
            </a:pPr>
            <a:r>
              <a:rPr lang="ko-KR" altLang="en-US" sz="1600" b="1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Solta Medical Korea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lang="ko-KR" altLang="en-US" sz="2400" b="1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>현업 인터뷰 기반 요건정의</a:t>
            </a:r>
          </a:p>
          <a:p>
            <a:pPr algn="l">
              <a:lnSpc>
                <a:spcPct val="105000"/>
              </a:lnSpc>
            </a:pPr>
            <a:r>
              <a:rPr lang="ko-KR" altLang="en-US" sz="2400" b="1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3794760"/>
            <a:ext cx="1097279" cy="0"/>
          </a:xfrm>
          <a:prstGeom prst="line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131FE561-EC1F-C720-BCF7-C727FB1F13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52336" y="1383927"/>
            <a:ext cx="1447206" cy="41278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48640" y="39319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lang="ko-KR" altLang="en-US" sz="1400" b="0">
                <a:solidFill>
                  <a:srgbClr val="404040"/>
                </a:solidFill>
                <a:latin typeface="Noto Sans KR"/>
                <a:ea typeface="Noto Sans KR"/>
                <a:cs typeface="Noto Sans KR"/>
              </a:rPr>
              <a:t>2026.10</a:t>
            </a:r>
          </a:p>
          <a:p>
            <a:pPr algn="l">
              <a:lnSpc>
                <a:spcPct val="105000"/>
              </a:lnSpc>
            </a:pPr>
            <a:r>
              <a:rPr lang="ko-KR" altLang="en-US" sz="1200" b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MILVUS Co., Ltd.  CRM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131FE561-EC1F-C720-BCF7-C727FB1F13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2336" y="1383927"/>
            <a:ext cx="1447206" cy="412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>
                <a:latin typeface="Noto Sans KR"/>
              </a:rPr>
              <a:t>현업 인터뷰 기반 요건정의 — 문서 구성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360" y="1710000"/>
            <a:ext cx="576000" cy="890999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72000" bIns="7200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0360" y="1800000"/>
            <a:ext cx="9625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Noto Sans KR"/>
              </a:rPr>
              <a:t>마케팅팀 인터뷰 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1350360" y="2106000"/>
            <a:ext cx="962568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0360" y="2160000"/>
            <a:ext cx="962568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Noto Sans KR"/>
              </a:rPr>
              <a:t>HCP·소비자 마케팅 담당자 인터뷰 주요 발견 및 니즈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360" y="2781000"/>
            <a:ext cx="576000" cy="890999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72000" bIns="7200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0360" y="2871000"/>
            <a:ext cx="9625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Noto Sans KR"/>
              </a:rPr>
              <a:t>세일즈팀 인터뷰 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0360" y="3176999"/>
            <a:ext cx="962568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0360" y="3231000"/>
            <a:ext cx="962568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Noto Sans KR"/>
              </a:rPr>
              <a:t>국내 영업 담당자 인터뷰 주요 발견 및 니즈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360" y="3851999"/>
            <a:ext cx="576000" cy="890999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72000" bIns="7200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0360" y="3941999"/>
            <a:ext cx="9625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Noto Sans KR"/>
              </a:rPr>
              <a:t>프로젝트 요건 방향성 Summary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0360" y="4248000"/>
            <a:ext cx="962568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0360" y="4302000"/>
            <a:ext cx="962568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Noto Sans KR"/>
              </a:rPr>
              <a:t>인터뷰 기반 시나리오 선정 방향 및 우선순위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360" y="4923000"/>
            <a:ext cx="576000" cy="890999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72000" bIns="7200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0360" y="5013000"/>
            <a:ext cx="9625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Noto Sans KR"/>
              </a:rPr>
              <a:t>To-Be 아키텍처 (개요)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0360" y="5318999"/>
            <a:ext cx="962568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50360" y="5373000"/>
            <a:ext cx="962568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Noto Sans KR"/>
              </a:rPr>
              <a:t>Data Cloud 중심 데이터 흐름 및 캠페인 채널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>
                <a:latin typeface="Noto Sans KR"/>
              </a:rPr>
              <a:t>HCP 마케팅·콘텐츠 제작(RA/QA)  |  10.08 · 10.12 진행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마케팅팀 인터뷰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360" y="1620000"/>
            <a:ext cx="5073840" cy="27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86400" bIns="86400"/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  현황 (AS-IS)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360" y="2034000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Noto Sans KR"/>
              </a:rPr>
              <a:t>Pain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360" y="2257200"/>
            <a:ext cx="5001840" cy="14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360" y="2304000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행사 초청·리마인드 · 사후 설문 등 과정 수작업 진행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마케팅 발송에 대한 인게이지먼트 데이터 미연동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수신 동의 고객 약 300~400명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웹사이트 DB ↔ Data Cloud 미연동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노쇼율 평균 20%, 만족도 회수율 20~30% (수기 관리중)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360" y="3968999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Noto Sans KR"/>
              </a:rPr>
              <a:t>보유 데이터 &amp; 심의 현황 (RAQA)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360" y="4192199"/>
            <a:ext cx="5001840" cy="14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60" y="4238999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수신 동의: 웹사이트 DB (8/29 이후부터 수집, B2B/B2C 구분)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행사 등록: 별도 DB 관리 (SF 미연동)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[참고]▸ 콘텐츠 심의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이메일·카카오·문자 모두 심의 대상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심의 소요 3~4주 (행정 10일 + 에이전시)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유효기간 (추가 확인 필요) / 개인화 필드 재심의 불필요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2200" y="1620000"/>
            <a:ext cx="5073840" cy="27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86400" bIns="86400"/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  니즈 및 요건 (TO-BE)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200" y="2034000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7132"/>
                </a:solidFill>
                <a:latin typeface="Noto Sans KR"/>
              </a:rPr>
              <a:t>주요 니즈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38200" y="2257200"/>
            <a:ext cx="5001840" cy="14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74200" y="2304000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B2B 대상 캠페인 발송 자동화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  (예 : 행사 초청 → 리마인더 → 참석 확인 → 사후 설문)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세그먼트별 발송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  (잠재/신규/Active/업셀·크로스셀/이탈)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오픈율·클릭률 기반 넥스트 콘텐츠 연결 (CTA)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채널: 단문=카카오, 뉴스레터=이메일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8200" y="3968999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7132"/>
                </a:solidFill>
                <a:latin typeface="Noto Sans KR"/>
              </a:rPr>
              <a:t>확인 필요 (Open Items)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38200" y="4192199"/>
            <a:ext cx="5001840" cy="14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74200" y="4238999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웹사이트 DB → Data Cloud 연동 방식 확정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행사 등록 DB → 세일즈포스 연동 방식 결정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시나리오 콘텐츠 심의 일정 선반영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  (착수 즉시 에이전시 심의 요청 필요)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>
                <a:latin typeface="Noto Sans KR"/>
              </a:rPr>
              <a:t>국내 영업 담당자  |  10.12 진행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세일즈팀 인터뷰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360" y="1620000"/>
            <a:ext cx="5073840" cy="27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86400" bIns="86400"/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  현황 (AS-IS)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360" y="2034000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Noto Sans KR"/>
              </a:rPr>
              <a:t>Pain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360" y="2257200"/>
            <a:ext cx="5001840" cy="14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360" y="2304000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매출 데이터 SF 미연동 — 담당자·거래처별 추적 불가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소모품(팁) 매출: 총판 경유, SFDC 미입력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리드 상세 정보 엑셀 별도 관리 (SF에 숫자만)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APAC 공용 org — KR 세팅 불일치, 타국 데이터 혼재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360" y="3968999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Noto Sans KR"/>
              </a:rPr>
              <a:t>보유 데이터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360" y="4192199"/>
            <a:ext cx="5001840" cy="14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60" y="4238999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Account: 고객사 전체 입력됨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Opportunity: 장비 영업 단계 기록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  (초기 → 데모 → Closed Won/Lost)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Task: 계정별 데일리 콜 기록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소모품 매출: 총판 경로, SF 미반영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D365 일부 연동 (정확도 미확인)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2200" y="1620000"/>
            <a:ext cx="5073840" cy="27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86400" bIns="86400"/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  니즈 및 요건 (TO-BE)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200" y="2034000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7132"/>
                </a:solidFill>
                <a:latin typeface="Noto Sans KR"/>
              </a:rPr>
              <a:t>주요 니즈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38200" y="2257200"/>
            <a:ext cx="5001840" cy="14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74200" y="2304000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담당자별·거래처별 매출 대시보드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Opportunity 금액 연동 → 예상 매출 자동 집계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마케팅 메시지 선발송 후 영업 팔로업 연계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8200" y="3968999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7132"/>
                </a:solidFill>
                <a:latin typeface="Noto Sans KR"/>
              </a:rPr>
              <a:t>확인 필요 (Open Items)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38200" y="4192199"/>
            <a:ext cx="5001840" cy="14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74200" y="4238999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소모품(팁) 매출 → SF 연동 가능 여부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  (총판 경로 데이터 처리 방식 확인)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>
                <a:latin typeface="Noto Sans KR"/>
              </a:rPr>
              <a:t>팀별 핵심 요건 및 공통 선결 과제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인터뷰 요건정의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360" y="1620000"/>
            <a:ext cx="5073840" cy="27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86400" bIns="86400"/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  마케팅팀 핵심 요건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360" y="2034000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Noto Sans KR"/>
              </a:rPr>
              <a:t>자동화·커뮤니케이션 요건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360" y="2257200"/>
            <a:ext cx="5001840" cy="14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360" y="2304000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행사: 초청→리마인더→참석 확인→사후 설문 발송 자동화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  (KPI : 노쇼율 감소 / 참석자 만족도 향상 목표)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세그먼트별 발송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  잠재 / 신규 / Active / 업셀·크로스셀 / 이탈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오픈율·클릭률 기반 넥스트 콘텐츠 연결 (CTA)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마케팅 발송 채널: 단문=카카오 알림톡, 뉴스레터=이메일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360" y="3968999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Noto Sans KR"/>
              </a:rPr>
              <a:t>콘텐츠 심의 제약 (RAQA)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360" y="4192199"/>
            <a:ext cx="5001840" cy="14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60" y="4238999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이메일·카카오·문자 전부 심의 필요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심의 소요 3~4주 → 시나리오 착수 즉시 준비 필요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개인화 필드(고객명·병원명) 재심의 불필요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  → 템플릿 1회 심의로 개인화 발송 가능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2200" y="1620000"/>
            <a:ext cx="5073840" cy="27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86400" bIns="86400"/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  세일즈팀 핵심 요건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200" y="2034000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7132"/>
                </a:solidFill>
                <a:latin typeface="Noto Sans KR"/>
              </a:rPr>
              <a:t>대시보드·보고 요건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38200" y="2257200"/>
            <a:ext cx="5001840" cy="14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74200" y="2304000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담당자별·거래처별 매출 확인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Opportunity 금액 연동 → 예상 매출 자동 집계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MC 메시지 선발송 → 영업 팔로업 연계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8200" y="3968999"/>
            <a:ext cx="50018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7132"/>
                </a:solidFill>
                <a:latin typeface="Noto Sans KR"/>
              </a:rPr>
              <a:t>공통 선결 과제 (Open Items)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38200" y="4192199"/>
            <a:ext cx="5001840" cy="14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74200" y="4238999"/>
            <a:ext cx="4929840" cy="153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웹사이트 DB → Data Cloud 연동 방식 확정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행사 등록 DB → Salesforce 연동 방식 결정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수신 동의 모수 확보 (현 300~400명 → 목표 1,700명)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콘텐츠 심의 일정 고려한 마케팅 메시지 콘텐츠 제작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>
                <a:latin typeface="Noto Sans KR"/>
              </a:rPr>
              <a:t>Data Cloud 중심 데이터 통합 → MC Next 캠페인 → 채널 발송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To-Be 아키텍처 (개요)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360" y="1638000"/>
            <a:ext cx="2545920" cy="1728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43200" bIns="43200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[기존]</a:t>
            </a:r>
          </a:p>
        </p:txBody>
      </p:sp>
      <p:sp>
        <p:nvSpPr>
          <p:cNvPr id="8" name="Rectangle 7"/>
          <p:cNvSpPr/>
          <p:nvPr/>
        </p:nvSpPr>
        <p:spPr>
          <a:xfrm>
            <a:off x="3194280" y="1638000"/>
            <a:ext cx="2545920" cy="1728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43200" bIns="43200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[+ 신규 구성]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2200" y="1638000"/>
            <a:ext cx="2545920" cy="1728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43200" bIns="43200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[미확정·확인 필요]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30120" y="1638000"/>
            <a:ext cx="2545920" cy="1728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43200" bIns="43200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[범위 제외]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360" y="1854000"/>
            <a:ext cx="2232000" cy="3528000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88360" y="1854000"/>
            <a:ext cx="4896000" cy="3528000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4360" y="1854000"/>
            <a:ext cx="1296000" cy="3528000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60" y="1890000"/>
            <a:ext cx="208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2841"/>
                </a:solidFill>
                <a:latin typeface="Noto Sans KR"/>
              </a:rPr>
              <a:t>Solta Medical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360" y="2062800"/>
            <a:ext cx="2088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0360" y="1890000"/>
            <a:ext cx="4752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082"/>
                </a:solidFill>
                <a:latin typeface="Noto Sans KR"/>
              </a:rPr>
              <a:t>Salesforce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0360" y="2062800"/>
            <a:ext cx="4752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6360" y="1890000"/>
            <a:ext cx="1152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6B24"/>
                </a:solidFill>
                <a:latin typeface="Noto Sans KR"/>
              </a:rPr>
              <a:t>Milvus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6360" y="2062800"/>
            <a:ext cx="1152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4360" y="1890000"/>
            <a:ext cx="147168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Noto Sans KR"/>
              </a:rPr>
              <a:t>채널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4360" y="2062800"/>
            <a:ext cx="147168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4360" y="2113200"/>
            <a:ext cx="2016000" cy="630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7600" bIns="57600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영업 담당자
(기존)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4360" y="2923200"/>
            <a:ext cx="2016000" cy="63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7600" bIns="57600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채널톡
(미확정·확인 필요)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4360" y="3733200"/>
            <a:ext cx="2016000" cy="630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7600" bIns="57600"/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Web Site
(Thermage.co.kr)
(기존)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4360" y="4543200"/>
            <a:ext cx="2016000" cy="630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7600" bIns="57600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홈페이지 DB
(기존)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96360" y="2113200"/>
            <a:ext cx="1512000" cy="1440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7600" bIns="57600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Sales Cloud /
Service Cloud
(기존)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360" y="2923200"/>
            <a:ext cx="1512000" cy="126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7600" bIns="5760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Data Cloud
(+ 신규 구성)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4360" y="2113200"/>
            <a:ext cx="1512000" cy="225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7600" bIns="5760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Marketing Cloud
Next (Advanced)
(+ 신규 구성)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72360" y="2502000"/>
            <a:ext cx="1080000" cy="1763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7600" bIns="5760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miCRM
(+ 신규 구성)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4360" y="2113200"/>
            <a:ext cx="1471680" cy="64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7600" bIns="57600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Email
발송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4360" y="2959200"/>
            <a:ext cx="1471680" cy="648000"/>
          </a:xfrm>
          <a:prstGeom prst="rect">
            <a:avLst/>
          </a:prstGeom>
          <a:solidFill>
            <a:srgbClr val="F9E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7600" bIns="57600"/>
          <a:lstStyle/>
          <a:p>
            <a:pPr algn="ctr"/>
            <a:r>
              <a:rPr sz="1000" b="0">
                <a:solidFill>
                  <a:srgbClr val="1A1A2E"/>
                </a:solidFill>
                <a:latin typeface="Noto Sans KR"/>
              </a:rPr>
              <a:t>카카오
알림톡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4360" y="3805200"/>
            <a:ext cx="1471680" cy="64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7600" bIns="57600"/>
          <a:lstStyle/>
          <a:p>
            <a:pPr algn="ctr"/>
            <a:r>
              <a:rPr sz="1000" b="0">
                <a:solidFill>
                  <a:srgbClr val="1A1A2E"/>
                </a:solidFill>
                <a:latin typeface="Noto Sans KR"/>
              </a:rPr>
              <a:t>SMS
발송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7160" y="2359800"/>
            <a:ext cx="936000" cy="13680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l"/>
            <a:r>
              <a:rPr sz="800" b="0">
                <a:solidFill>
                  <a:srgbClr val="555577"/>
                </a:solidFill>
                <a:latin typeface="Noto Sans KR"/>
              </a:rPr>
              <a:t>→ 리드 생성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7160" y="3169800"/>
            <a:ext cx="936000" cy="13680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l"/>
            <a:r>
              <a:rPr sz="800" b="0">
                <a:solidFill>
                  <a:srgbClr val="E97132"/>
                </a:solidFill>
                <a:latin typeface="Noto Sans KR"/>
              </a:rPr>
              <a:t>⤳ 리드 생성 (미확정)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7160" y="3769200"/>
            <a:ext cx="936000" cy="13680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l"/>
            <a:r>
              <a:rPr sz="800" b="0">
                <a:solidFill>
                  <a:srgbClr val="555577"/>
                </a:solidFill>
                <a:latin typeface="Noto Sans KR"/>
              </a:rPr>
              <a:t>→ 리드 생성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7160" y="3949200"/>
            <a:ext cx="936000" cy="13680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l"/>
            <a:r>
              <a:rPr sz="800" b="0">
                <a:solidFill>
                  <a:srgbClr val="555577"/>
                </a:solidFill>
                <a:latin typeface="Noto Sans KR"/>
              </a:rPr>
              <a:t>→ 웹 행동 데이터 (SDK)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7160" y="4129200"/>
            <a:ext cx="936000" cy="13680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l"/>
            <a:r>
              <a:rPr sz="800" b="0">
                <a:solidFill>
                  <a:srgbClr val="555577"/>
                </a:solidFill>
                <a:latin typeface="Noto Sans KR"/>
              </a:rPr>
              <a:t>→ 수신 동의 적재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96360" y="3571200"/>
            <a:ext cx="1512000" cy="13680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l"/>
            <a:r>
              <a:rPr sz="800" b="0">
                <a:solidFill>
                  <a:srgbClr val="555577"/>
                </a:solidFill>
                <a:latin typeface="Noto Sans KR"/>
              </a:rPr>
              <a:t>↓ CRM 데이터 전달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28360" y="3269700"/>
            <a:ext cx="936000" cy="13680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l"/>
            <a:r>
              <a:rPr sz="800" b="0">
                <a:solidFill>
                  <a:srgbClr val="555577"/>
                </a:solidFill>
                <a:latin typeface="Noto Sans KR"/>
              </a:rPr>
              <a:t>→ 세그먼트 활성화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28360" y="3742200"/>
            <a:ext cx="936000" cy="13680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l"/>
            <a:r>
              <a:rPr sz="800" b="0">
                <a:solidFill>
                  <a:srgbClr val="555577"/>
                </a:solidFill>
                <a:latin typeface="Noto Sans KR"/>
              </a:rPr>
              <a:t>← Email 반응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12360" y="2365200"/>
            <a:ext cx="936000" cy="13680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l"/>
            <a:r>
              <a:rPr sz="800" b="0">
                <a:solidFill>
                  <a:srgbClr val="555577"/>
                </a:solidFill>
                <a:latin typeface="Noto Sans KR"/>
              </a:rPr>
              <a:t>→ Email 직접 발송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2360" y="3058200"/>
            <a:ext cx="936000" cy="13680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l"/>
            <a:r>
              <a:rPr sz="800" b="0">
                <a:solidFill>
                  <a:srgbClr val="555577"/>
                </a:solidFill>
                <a:latin typeface="Noto Sans KR"/>
              </a:rPr>
              <a:t>→ 발송 연동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10360" y="4302000"/>
            <a:ext cx="936000" cy="13680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l"/>
            <a:r>
              <a:rPr sz="800" b="0">
                <a:solidFill>
                  <a:srgbClr val="555577"/>
                </a:solidFill>
                <a:latin typeface="Noto Sans KR"/>
              </a:rPr>
              <a:t>← 발송 이력 전송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4360" y="2347200"/>
            <a:ext cx="16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D5DD"/>
                </a:solidFill>
                <a:latin typeface="Noto Sans KR"/>
              </a:rPr>
              <a:t>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4360" y="3193200"/>
            <a:ext cx="16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D5DD"/>
                </a:solidFill>
                <a:latin typeface="Noto Sans KR"/>
              </a:rPr>
              <a:t>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4360" y="4039200"/>
            <a:ext cx="16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D5DD"/>
                </a:solidFill>
                <a:latin typeface="Noto Sans KR"/>
              </a:rPr>
              <a:t>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360" y="5454000"/>
            <a:ext cx="10399680" cy="19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57600" bIns="57600"/>
          <a:lstStyle/>
          <a:p>
            <a:pPr algn="l"/>
            <a:r>
              <a:rPr sz="900" b="0">
                <a:solidFill>
                  <a:srgbClr val="FFFFFF"/>
                </a:solidFill>
                <a:latin typeface="Noto Sans KR"/>
              </a:rPr>
              <a:t>  [범위 제외]   D365 ↔ Sales Cloud / Service Cloud   |   D365 →(BYOD)→ Power BI   |   Power BI ··· Data Cloud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360" y="5688000"/>
            <a:ext cx="1039968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77"/>
                </a:solidFill>
                <a:latin typeface="Noto Sans KR"/>
              </a:rPr>
              <a:t>※ 실선: 연동 확정  |  점선(⤳): 미확정  |  범위 제외 시스템은 점선 표기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5818</TotalTime>
  <Words>1057</Words>
  <Application>Microsoft Macintosh PowerPoint</Application>
  <PresentationFormat>와이드스크린</PresentationFormat>
  <Paragraphs>196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맑은 고딕</vt:lpstr>
      <vt:lpstr>Avant Garde Demi SFDC</vt:lpstr>
      <vt:lpstr>Noto Sans KR</vt:lpstr>
      <vt:lpstr>Salesforce Sans</vt:lpstr>
      <vt:lpstr>Arial</vt:lpstr>
      <vt:lpstr>Poppins</vt:lpstr>
      <vt:lpstr>Poppins SemiBold</vt:lpstr>
      <vt:lpstr>Office 테마</vt:lpstr>
      <vt:lpstr>PowerPoint 프레젠테이션</vt:lpstr>
      <vt:lpstr>Contents</vt:lpstr>
      <vt:lpstr>프로젝트 개요</vt:lpstr>
      <vt:lpstr>프로젝트 범위</vt:lpstr>
      <vt:lpstr>프로젝트 추진 체계</vt:lpstr>
      <vt:lpstr>프로젝트 일정</vt:lpstr>
      <vt:lpstr>프로젝트 수행 조직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MILVUS MCI 관련 보유역량 및 Reference</dc:title>
  <dc:creator>KANG henry</dc:creator>
  <cp:lastModifiedBy>crm5 crm5</cp:lastModifiedBy>
  <cp:revision>240</cp:revision>
  <dcterms:created xsi:type="dcterms:W3CDTF">2024-03-13T12:32:44Z</dcterms:created>
  <dcterms:modified xsi:type="dcterms:W3CDTF">2026-09-23T03:49:35Z</dcterms:modified>
</cp:coreProperties>
</file>