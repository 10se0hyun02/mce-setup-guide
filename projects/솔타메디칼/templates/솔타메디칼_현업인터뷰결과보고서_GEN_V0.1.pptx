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8"/>
    <p:sldId id="258" r:id="rId9"/>
    <p:sldId id="259" r:id="rId7"/>
    <p:sldId id="260" r:id="rId6"/>
    <p:sldId id="261" r:id="rId5"/>
    <p:sldId id="262" r:id="rId4"/>
    <p:sldId id="26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1A6DCEB-908B-8A08-F3C3-9ECAACAEEB44}">
          <p14:sldIdLst>
            <p14:sldId id="256"/>
          </p14:sldIdLst>
        </p14:section>
        <p14:section name="Summary" id="{441A0803-1E12-55BC-9B89-5E9206798BE2}">
          <p14:sldIdLst>
            <p14:sldId id="257"/>
          </p14:sldIdLst>
        </p14:section>
        <p14:section name="인터뷰 개요" id="{F5BC1E38-5724-45A1-1371-76C8DA2AEED3}">
          <p14:sldIdLst>
            <p14:sldId id="258"/>
          </p14:sldIdLst>
        </p14:section>
        <p14:section name="인터뷰 결과" id="{97547A37-1D51-FB19-C977-1CAF40CE489C}">
          <p14:sldIdLst>
            <p14:sldId id="259"/>
            <p14:sldId id="260"/>
            <p14:sldId id="261"/>
          </p14:sldIdLst>
        </p14:section>
        <p14:section name="방향성" id="{8ED7684C-5495-BAEE-6514-A4432764AC60}">
          <p14:sldIdLst>
            <p14:sldId id="263"/>
            <p14:sldId id="265"/>
          </p14:sldIdLst>
        </p14:section>
        <p14:section name="다음 단계" id="{801F708C-025D-0BB3-03EA-43350D4922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3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500" dirty="0">
                <a:solidFill>
                  <a:schemeClr val="accent5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 latinLnBrk="0">
              <a:buNone/>
            </a:pPr>
            <a:r>
              <a:rPr lang="ko-KR" altLang="en-US" sz="1000" dirty="0">
                <a:solidFill>
                  <a:srgbClr val="5B6B82"/>
                </a:solidFill>
              </a:rPr>
              <a:t>솔타메디칼 코리아 · 현업 인터뷰 결과 보고 · 밀버스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현업 인터뷰 결과 보고 및</a:t>
            </a:r>
            <a:endParaRPr lang="ko-KR" altLang="en-US" sz="4000" dirty="0"/>
          </a:p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프로젝트 방향성</a:t>
            </a: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Solta Medical Korea · Salesforce Marketing Campaign Design</a:t>
            </a:r>
            <a:endParaRPr lang="ko-KR" altLang="en-US" sz="1800" dirty="0"/>
          </a:p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2026.10 · 밀버스 · V0.1 (초안)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프로젝트 방향성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재구매 성장을 위한 자동화 시나리오 3개를 설계합니다.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200" y="1692000"/>
            <a:ext cx="5439600" cy="21024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4400" y="19656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8400" y="1965600"/>
            <a:ext cx="420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600" y="2559600"/>
            <a:ext cx="4939200" cy="1141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장비 설치는 포화, 다음 성장 동력은 소모품(팁) 재구매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세그먼트별 메시지로 세일즈를 끌어올리는 CRM 마케팅이 최우선 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0400" y="1692000"/>
            <a:ext cx="5439600" cy="21024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7600" y="19656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1600" y="1965600"/>
            <a:ext cx="420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0800" y="2559600"/>
            <a:ext cx="4939200" cy="1141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고객 데이터가 홈페이지 DB · Salesforce · D365 · 엑셀에 흩어져 있고 Data Cloud와 미연동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마케팅 수신 동의 HCP 약 300~400명, 팁 판매는 대리점 엑셀로만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" y="3978000"/>
            <a:ext cx="5439600" cy="21024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400" y="42516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8400" y="4251600"/>
            <a:ext cx="420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600" y="4845600"/>
            <a:ext cx="4939200" cy="1141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B2B 자동화 시나리오 3개 설계 프로젝트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캠페인 내용은 솔타메디칼 코리아 내부 협의 후 전달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0400" y="3978000"/>
            <a:ext cx="5439600" cy="21024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7600" y="42516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1600" y="4251600"/>
            <a:ext cx="420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300" b="1" i="0">
                <a:solidFill>
                  <a:srgbClr val="1A1A2E"/>
                </a:solidFill>
                <a:latin typeface="Noto Sans KR"/>
              </a:rPr>
              <a:t>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0800" y="4845600"/>
            <a:ext cx="4939200" cy="1141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시나리오 3개 우선순위 결정 (10/17 제안)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콘텐츠 심의 3~4주 소요되므로, 콘텐츠 Assets 우선 전달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인터뷰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4개 부서를 2일에 걸쳐 인터뷰했고, 사전 배포한 질문지에 솔타가 답을 달아 진행했습니다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200" y="1738800"/>
            <a:ext cx="2556000" cy="54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</a:rPr>
              <a:t>인터뷰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2332800"/>
            <a:ext cx="2556000" cy="216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0E2841"/>
                </a:solidFill>
                <a:latin typeface="Noto Sans KR"/>
              </a:rPr>
              <a:t>10 /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" y="2592000"/>
            <a:ext cx="2340000" cy="32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RA/QA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200" y="2970000"/>
            <a:ext cx="2340000" cy="324000"/>
          </a:xfrm>
          <a:prstGeom prst="rect">
            <a:avLst/>
          </a:prstGeom>
          <a:solidFill>
            <a:srgbClr val="0D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7200" y="3348000"/>
            <a:ext cx="2556000" cy="216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0E2841"/>
                </a:solidFill>
                <a:latin typeface="Noto Sans KR"/>
              </a:rPr>
              <a:t>10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200" y="3607200"/>
            <a:ext cx="2340000" cy="324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마케팅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" y="3985200"/>
            <a:ext cx="2340000" cy="324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3" rIns="14173" tIns="14173" bIns="14173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세일즈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90400" y="1738800"/>
          <a:ext cx="83195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44"/>
                <a:gridCol w="1996703"/>
                <a:gridCol w="515815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일자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부서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주제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10/8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RA/QA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콘텐츠 심의 프로세스 · 사용 불가 표현 · 소요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10/8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고객 데이터 생성 이벤트 · 시스템별 보유 데이터 · 유입 경로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10/12 오전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마케팅 (HCP · 소비자)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고객 여정 · 채널 · 타겟 세그먼트 · 성과 지표 · 시나리오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10/12 오후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세일즈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Salesforce 입력 현황 · 리드 관리 · KPI 대시보드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90400" y="4553999"/>
            <a:ext cx="83196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※ 10/12 2부(소비자·정품 인증)는 녹음 없이 현장 메모로 정리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HCP 고객 여정과 접점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장비를 도입한 뒤에도 팁(소모품)을 계속 사야 유지되는 구조 — 반복 구매의 중심은 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200" y="1782000"/>
            <a:ext cx="1508400" cy="7307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문제 인식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2696400"/>
            <a:ext cx="1461600" cy="18288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학회 · 심포지엄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디지털·의료 매체 광고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브랜드 캠페인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9200" y="1782000"/>
            <a:ext cx="1508400" cy="7307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정보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9200" y="2696400"/>
            <a:ext cx="1461600" cy="18288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홈페이지 (HCP 로그인)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세미나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담당 영업사원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1200" y="1782000"/>
            <a:ext cx="1508400" cy="7307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평가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1200" y="2696400"/>
            <a:ext cx="1461600" cy="18288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영업사원 방문 상담·데모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임상 자료·교육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53200" y="1782000"/>
            <a:ext cx="1508400" cy="7307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도입·구매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53200" y="2696400"/>
            <a:ext cx="1461600" cy="18288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세일즈 계약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설치 · 초기 제품 교육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55200" y="1782000"/>
            <a:ext cx="1508400" cy="730799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정착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55200" y="2696400"/>
            <a:ext cx="1461600" cy="18288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뉴 유저 워크숍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TTT · 학술 세미나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7200" y="1782000"/>
            <a:ext cx="1508400" cy="730799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반복 구매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57200" y="2696400"/>
            <a:ext cx="1461600" cy="1828800"/>
          </a:xfrm>
          <a:prstGeom prst="rect">
            <a:avLst/>
          </a:prstGeom>
          <a:solidFill>
            <a:srgbClr val="FCE9E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팁 재구매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600→900샷 업셀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아이팁 크로스셀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59200" y="1782000"/>
            <a:ext cx="1508400" cy="73079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</a:rPr>
              <a:t>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59200" y="2696400"/>
            <a:ext cx="1461600" cy="1828800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MTL 포럼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50" b="0" i="0">
                <a:solidFill>
                  <a:srgbClr val="1A1A2E"/>
                </a:solidFill>
                <a:latin typeface="Noto Sans KR"/>
              </a:rPr>
              <a:t>KOL 관리 · 서티 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200" y="4845600"/>
            <a:ext cx="11062800" cy="1152000"/>
          </a:xfrm>
          <a:prstGeom prst="rect">
            <a:avLst/>
          </a:prstGeom>
          <a:solidFill>
            <a:srgbClr val="E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2519" rIns="42519" tIns="42519" bIns="4251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이탈 시점    도입 전 — 관심은 보였으나 상담·데모로 이어지지 않음   ·   도입 초기 — 사용법·교육 부족으로 팁 구매 저조   ·   기존 고객 — 3~6개월 미구매는 이탈 위험, 6개월 이상은 휴면 (카피캣 제품으로 이동 우려)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부서별 핵심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마케팅은 행사·교육 운영의 수작업, 세일즈는 매출 데이터의 엑셀 의존이 가장 큰 불편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200" y="1645200"/>
            <a:ext cx="5439600" cy="2196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5200" y="1753200"/>
            <a:ext cx="5223600" cy="360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마케팅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00" y="2185200"/>
            <a:ext cx="5151600" cy="154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행사·교육이 가장 반응 좋은 활동이지만 모객이 최대 과제 — 등록이 행사 하루 전에 몰림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디지털 채널은 카카오 채널이 메인, 고객 데이터와는 미연계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홍보는 최소 2개월 전부터 티저 → Save the Date → 초청장 → 리마인더 순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400" y="1645200"/>
            <a:ext cx="5439600" cy="2196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400" y="1753200"/>
            <a:ext cx="5223600" cy="36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세일즈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4400" y="2185200"/>
            <a:ext cx="5151600" cy="154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영업 약 20명이 Salesforce에 Task · Opportunity · Contact 입력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매출·소모품 매출은 Salesforce에 없어 엑셀로 따로 보고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APAC과 같은 org를 써서 KR 담당자·거래처 정렬이 불편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200" y="3978000"/>
            <a:ext cx="5439600" cy="2196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200" y="4086000"/>
            <a:ext cx="5223600" cy="360000"/>
          </a:xfrm>
          <a:prstGeom prst="rect">
            <a:avLst/>
          </a:prstGeom>
          <a:solidFill>
            <a:srgbClr val="0D6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00" y="4518000"/>
            <a:ext cx="5151600" cy="154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장비 출고 → Install Base 등록이 현재 유일한 자동 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홈페이지 DB에 B2B·B2C 리드·수신 동의가 구분 적재, Data Cloud와 미연동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오더는 D365, Salesforce 연동은 내년 예정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0400" y="3978000"/>
            <a:ext cx="5439600" cy="21960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400" y="4086000"/>
            <a:ext cx="5223600" cy="36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</a:rPr>
              <a:t>RA/QA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4400" y="4518000"/>
            <a:ext cx="5151600" cy="154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이메일·카카오·문자 발송물 모두 심의 대상 (문구 포함)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개인화 필드(고객명·병원명)는 바뀌어도 재심의 불필요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행정 약 12일, 에이전시 경유로 실제 3~4주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고객 데이터 AS-IS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시나리오에 쓸 데이터가 4곳 이상에 흩어져 있어, 시나리오별로 '있는 데이터'를 먼저 확인해야 합니다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7200" y="1620000"/>
          <a:ext cx="11062800" cy="33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840"/>
                <a:gridCol w="3318840"/>
                <a:gridCol w="1659420"/>
                <a:gridCol w="2765700"/>
              </a:tblGrid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데이터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현재 위치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관리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마케팅 활용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</a:tr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HCP 리드 · 마케팅 수신 동의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홈페이지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연동 필요</a:t>
                      </a:r>
                    </a:p>
                  </a:txBody>
                  <a:tcPr>
                    <a:solidFill>
                      <a:srgbClr val="E97132"/>
                    </a:solidFill>
                  </a:tcPr>
                </a:tc>
              </a:tr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Account · Contact · Opportunity · Task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Salesforce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영업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활용 가능</a:t>
                      </a:r>
                    </a:p>
                  </a:txBody>
                  <a:tcPr>
                    <a:solidFill>
                      <a:srgbClr val="196B24"/>
                    </a:solidFill>
                  </a:tcPr>
                </a:tc>
              </a:tr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장비 출고 (시리얼 · 품목)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Salesforce Install Base (자동)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본사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활용 가능</a:t>
                      </a:r>
                    </a:p>
                  </a:txBody>
                  <a:tcPr>
                    <a:solidFill>
                      <a:srgbClr val="196B24"/>
                    </a:solidFill>
                  </a:tcPr>
                </a:tc>
              </a:tr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오더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D365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연동 필요</a:t>
                      </a:r>
                    </a:p>
                  </a:txBody>
                  <a:tcPr>
                    <a:solidFill>
                      <a:srgbClr val="E97132"/>
                    </a:solidFill>
                  </a:tcPr>
                </a:tc>
              </a:tr>
              <a:tr h="47571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소모품(팁) 병원별 판매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대리점 일 단위 엑셀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영업 · 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데이터 없음</a:t>
                      </a:r>
                    </a:p>
                  </a:txBody>
                  <a:tcPr>
                    <a:solidFill>
                      <a:srgbClr val="D0D5DD"/>
                    </a:solidFill>
                  </a:tcPr>
                </a:tc>
              </a:tr>
              <a:tr h="47571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교육 이수 · 서티 · 행사 참석 · 설문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수기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Noto Sans KR"/>
                        </a:rPr>
                        <a:t>마케팅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KR"/>
                        </a:rPr>
                        <a:t>● 데이터 없음</a:t>
                      </a:r>
                    </a:p>
                  </a:txBody>
                  <a:tcPr>
                    <a:solidFill>
                      <a:srgbClr val="D0D5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7200" y="5040000"/>
            <a:ext cx="11062800" cy="21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※ 소비자 정품 인증 데이터도 홈페이지 DB에 있으나, 마케팅 의견에 따라 이번에는 B2B(HCP) 우선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To-Be 아키텍처 (개요)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흩어진 고객 데이터를 Data Cloud로 모아 세그먼트를 만들고, Marketing Cloud에서 채널별로 발송합니다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655999"/>
            <a:ext cx="2376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데이터 원천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7200" y="1908000"/>
            <a:ext cx="2376000" cy="28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800" y="1655999"/>
            <a:ext cx="21024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통합 · 세그먼트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0800" y="1908000"/>
            <a:ext cx="2102400" cy="28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0400" y="1655999"/>
            <a:ext cx="21024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캠페인 · 저니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0400" y="1908000"/>
            <a:ext cx="2102400" cy="28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3600" y="1655999"/>
            <a:ext cx="1461599" cy="27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3600" y="1908000"/>
            <a:ext cx="1461599" cy="288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7200" y="2012400"/>
            <a:ext cx="2376000" cy="73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홈페이지 DB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HCP 리드 · 수신 동의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7200" y="2880000"/>
            <a:ext cx="2376000" cy="73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Sales Cloud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Account · Contact · Install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7200" y="3747600"/>
            <a:ext cx="2376000" cy="730799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D365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오더 (SF 연동 내년 예정)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200" y="4618800"/>
            <a:ext cx="2376000" cy="730799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대리점 엑셀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팁 판매 (확보 방안 검토)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800" y="2358000"/>
            <a:ext cx="648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800" y="3240000"/>
            <a:ext cx="648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800" y="4104000"/>
            <a:ext cx="216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800" y="4968000"/>
            <a:ext cx="216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0800" y="2743200"/>
            <a:ext cx="2102400" cy="1281600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605" rIns="49605" tIns="49605" bIns="49605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Data Cloud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통합 프로필 · 세그먼트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6800" y="3348000"/>
            <a:ext cx="648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0400" y="2743200"/>
            <a:ext cx="2102400" cy="1281600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9605" rIns="49605" tIns="49605" bIns="49605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Marketing Cloud Next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시나리오(저니) 3개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0400" y="4618800"/>
            <a:ext cx="2102400" cy="730799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433" rIns="35433" tIns="35433" bIns="35433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Sales Cloud Task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영업 담당자 팔로업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3600" y="2012400"/>
            <a:ext cx="1461599" cy="687600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카카오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알림톡 · 친구톡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3600" y="2833200"/>
            <a:ext cx="1461599" cy="687600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SMS · LMS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3600" y="3657600"/>
            <a:ext cx="1461599" cy="687600"/>
          </a:xfrm>
          <a:prstGeom prst="rect">
            <a:avLst/>
          </a:prstGeom>
          <a:solidFill>
            <a:srgbClr val="E6F2F3"/>
          </a:solidFill>
          <a:ln w="6350">
            <a:solidFill>
              <a:srgbClr val="0D6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000" b="0" i="0">
                <a:solidFill>
                  <a:srgbClr val="1A1A2E"/>
                </a:solidFill>
                <a:latin typeface="Noto Sans KR"/>
              </a:rPr>
              <a:t>이메일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6399" y="2951999"/>
            <a:ext cx="648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68800" y="2833200"/>
            <a:ext cx="1141200" cy="68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" rIns="28346" tIns="28346" bIns="28346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100" b="1" i="0">
                <a:solidFill>
                  <a:srgbClr val="1A1A2E"/>
                </a:solidFill>
                <a:latin typeface="Noto Sans KR"/>
              </a:rPr>
              <a:t>HCP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200" y="2951999"/>
            <a:ext cx="288000" cy="136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0800" y="4161600"/>
            <a:ext cx="2376000" cy="2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발송 · 반응 데이터  →  Data Cloud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200" y="5716800"/>
            <a:ext cx="1440000" cy="251999"/>
          </a:xfrm>
          <a:prstGeom prst="rect">
            <a:avLst/>
          </a:prstGeom>
          <a:solidFill>
            <a:srgbClr val="E6F2F3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0D6E79"/>
                </a:solidFill>
                <a:latin typeface="Noto Sans KR"/>
              </a:rPr>
              <a:t>■ 신규 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95200" y="5716800"/>
            <a:ext cx="1440000" cy="251999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1A1A2E"/>
                </a:solidFill>
                <a:latin typeface="Noto Sans KR"/>
              </a:rPr>
              <a:t>■ 기존 시스템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43200" y="5716800"/>
            <a:ext cx="1440000" cy="251999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259" rIns="21259" tIns="21259" bIns="21259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900" b="0" i="0">
                <a:solidFill>
                  <a:srgbClr val="555577"/>
                </a:solidFill>
                <a:latin typeface="Noto Sans KR"/>
              </a:rPr>
              <a:t>■ 범위 외·미확정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200" y="5716800"/>
            <a:ext cx="6418799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00" b="0" i="1">
                <a:solidFill>
                  <a:srgbClr val="555577"/>
                </a:solidFill>
                <a:latin typeface="Noto Sans KR"/>
              </a:rPr>
              <a:t>상세: 아키텍처 다이어그램 v3  ·  Web SDK · Power BI 범위 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7200" y="320400"/>
            <a:ext cx="11062800" cy="68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000" b="1" i="0">
                <a:solidFill>
                  <a:srgbClr val="1A1A2E"/>
                </a:solidFill>
                <a:latin typeface="Noto Sans KR"/>
              </a:rPr>
              <a:t>추천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200" y="1004400"/>
            <a:ext cx="11062800" cy="4103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0" b="0" i="1">
                <a:solidFill>
                  <a:srgbClr val="555577"/>
                </a:solidFill>
                <a:latin typeface="Noto Sans KR"/>
              </a:rPr>
              <a:t>행사와 온보딩은 바로 설계 가능하고, 팁 리텐션은 데이터 확보 방안과 함께 결정이 필요합니다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200" y="1645200"/>
            <a:ext cx="3567600" cy="45252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600" y="18288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265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행사 모객 · 참석 관리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200" y="238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600" y="245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행사 D-60부터 사후 팔로업까지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200" y="3049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600" y="3103200"/>
            <a:ext cx="3200400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티저 → Save the Date → 초청장 (등록 CTA)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미등록자 리마인더 2회, 등록자 D-1 참석 리마인더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참석자 설문 → 다음 프로그램 / 불참자 자료 요약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200" y="535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600" y="542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노쇼율 · 설문 회수율 · 등록률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8400" y="1645200"/>
            <a:ext cx="3567600" cy="45252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8800" y="1828800"/>
            <a:ext cx="45720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2800" y="1828800"/>
            <a:ext cx="265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신규 장비 도입 90일 온보딩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6400" y="238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8800" y="245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Install Base 신규 장비 등록 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6400" y="3049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8800" y="3103200"/>
            <a:ext cx="3200400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환영 · 담당 영업사원 안내 → 사용 가이드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뉴 유저 워크숍 초대 (A와 연결)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D+90 팁 미구매 시 영업 담당자 Task 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6400" y="535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8800" y="542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90일 내 첫 팁 재구매율 · 워크숍 참석률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000" y="1645200"/>
            <a:ext cx="3567600" cy="4525200"/>
          </a:xfrm>
          <a:prstGeom prst="rect">
            <a:avLst/>
          </a:prstGeom>
          <a:solidFill>
            <a:srgbClr val="F4F6F8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6400" y="1828800"/>
            <a:ext cx="457200" cy="45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4999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0400" y="1828800"/>
            <a:ext cx="265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Noto Sans KR"/>
              </a:rPr>
              <a:t>팁 리텐션 · 윈백 (후보)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4000" y="238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6400" y="245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156082"/>
                </a:solidFill>
                <a:latin typeface="Noto Sans KR"/>
              </a:rPr>
              <a:t>트리거  3~6개월 미구매 / 6개월 이상 휴면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4000" y="3049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6400" y="3103200"/>
            <a:ext cx="3200400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카피캣 대응으로 우선순위 높음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병원별 팁 구매 데이터가 Salesforce에 없음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lnSpc>
                <a:spcPct val="145000"/>
              </a:lnSpc>
            </a:pPr>
            <a:r>
              <a:rPr sz="1050" b="0">
                <a:solidFill>
                  <a:srgbClr val="1A1A2E"/>
                </a:solidFill>
                <a:latin typeface="Noto Sans KR"/>
              </a:rPr>
              <a:t>• 대리점 엑셀 정기 적재 가능 여부 확인 필요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4000" y="5353200"/>
            <a:ext cx="3351600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6400" y="5425200"/>
            <a:ext cx="3153600" cy="54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00" b="1" i="0">
                <a:solidFill>
                  <a:srgbClr val="0E2841"/>
                </a:solidFill>
                <a:latin typeface="Noto Sans KR"/>
              </a:rPr>
              <a:t>KPI  재구매율 · 휴면 전환율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ta Interview">
  <a:themeElements>
    <a:clrScheme name="Solta Interview">
      <a:dk1>
        <a:srgbClr val="1F2937"/>
      </a:dk1>
      <a:lt1>
        <a:srgbClr val="FFFFFF"/>
      </a:lt1>
      <a:dk2>
        <a:srgbClr val="1B2A4A"/>
      </a:dk2>
      <a:lt2>
        <a:srgbClr val="F3F5F8"/>
      </a:lt2>
      <a:accent1>
        <a:srgbClr val="0E7C86"/>
      </a:accent1>
      <a:accent2>
        <a:srgbClr val="E4572E"/>
      </a:accent2>
      <a:accent3>
        <a:srgbClr val="8FA3BF"/>
      </a:accent3>
      <a:accent4>
        <a:srgbClr val="F2B134"/>
      </a:accent4>
      <a:accent5>
        <a:srgbClr val="5B6B82"/>
      </a:accent5>
      <a:accent6>
        <a:srgbClr val="C9D6E3"/>
      </a:accent6>
      <a:hlink>
        <a:srgbClr val="0E7C86"/>
      </a:hlink>
      <a:folHlink>
        <a:srgbClr val="5B6B82"/>
      </a:folHlink>
    </a:clrScheme>
    <a:fontScheme name="Solta Interview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946</Words>
  <Application>Microsoft Office PowerPoint</Application>
  <PresentationFormat>와이드스크린</PresentationFormat>
  <Paragraphs>174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Solta Interview</vt:lpstr>
      <vt:lpstr>현업 인터뷰 결과 보고 및 프로젝트 방향성</vt:lpstr>
      <vt:lpstr>프로젝트 방향성 Summary</vt:lpstr>
      <vt:lpstr>인터뷰 개요</vt:lpstr>
      <vt:lpstr>HCP 고객 여정과 접점</vt:lpstr>
      <vt:lpstr>부서별 핵심 발견</vt:lpstr>
      <vt:lpstr>고객 데이터 AS-IS</vt:lpstr>
      <vt:lpstr>To-Be 아키텍처 (개요)</vt:lpstr>
      <vt:lpstr>추천 시나리오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솔타메디칼 코리아 현업 인터뷰 결과 보고</dc:title>
  <dc:subject>PptxGenJS Presentation</dc:subject>
  <dc:creator>밀버스</dc:creator>
  <cp:lastModifiedBy>crm6 crm6</cp:lastModifiedBy>
  <cp:revision>2</cp:revision>
  <dcterms:created xsi:type="dcterms:W3CDTF">2026-10-13T05:07:08Z</dcterms:created>
  <dcterms:modified xsi:type="dcterms:W3CDTF">2026-10-15T06:46:40Z</dcterms:modified>
</cp:coreProperties>
</file>